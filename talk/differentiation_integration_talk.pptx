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6"/>
    <p:sldId id="259" r:id="rId5"/>
    <p:sldId id="260" r:id="rId4"/>
    <p:sldId id="261" r:id="rId3"/>
    <p:sldId id="262" r:id="rId2"/>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TIMING. Full deck: 34 content slides plus title, four section dividers and closing, about 46 min. The October 2026 additions are slides marked [NEW] in their notes (about 12 min).</a:t>
            </a:r>
          </a:p>
          <a:p/>
          <a:p>
            <a:r>
              <a:t>30-minute path: drop the original optional slides (Savitzky-Golay, tuning-rule table, uncertainty band, validation checklist), the tuning-curve figure, the self-tuning cost figure, the integration figure, and the new optional slides (defaults that failed silently, where delay reconstruction helps). Keep the four delay-reconstruction core slides and the causal-filter slide.</a:t>
            </a:r>
          </a:p>
          <a:p/>
          <a:p>
            <a:r>
              <a:t>Open on the two problems; do not spend time on the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Open by asking who in the room has done each of these. Frame the talk: this is not a survey of filters, it is one idea — that both tasks are the same inverse problem — plus the practical consequences. Everything shown is measured on a benchmark with exact ground truth, so every error quoted is a true error, not a comparison between two estimates.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the conceptual spine of the talk — spend time here. The key move is recognising that differentiating and integrating are not opposites to be treated with different toolkits; they are the same compact operator inverted in two directions. Emphasise the last line: when someone asks 'which filter should I use', the honest reformulation is 'what do you believe about your signal?'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Left panel is the theory in one picture: differentiation multiplies by ω, integration divides by it, and both diverge. Right panel makes it concrete. The gold curve is the true acceleration spectrum — it rolls off. The red curve is what you get from differentiating a 1% noisy position twice: it RISES with frequency. Where they separate, around 30 Hz, everything to the right is amplified noise. Point out that the only information about the third and fourth modes is already buried.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Two failure modes, deliberately shown side by side because they look nothing alike. Differentiation fails by adding high-frequency noise you can see. Integration fails by adding a low-frequency drift that looks smooth and plausible — which is far more dangerous, because a drifting displacement record can survive review. Note the asymmetry: the differentiated signal is obviously wrong; the integrated one is quietly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table is the map for the rest of the talk. Walk down it once. Stress that these are not seven unrelated tricks: they are seven answers to one question. The two most people already know are the first and third rows. Rows 4–7 are the ones that repay attention. Say explicitly: if you cannot state which row you believe, you are not choosing a method, you are accepting a default. [UPDATED] The delay-embedding row is no longer a pointer to elsewhere: section 3 implements it and it wins on quasi-periodic records.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min] Section divider: one family per prior.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Most people in a vibrations group already use this. Give it full credit: in the interior it genuinely wins. The point of the next slide is that 'in the interior' is doing a lot of work in that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is the single most practically important slide for anyone doing free-decay testing. The FFT must make the signal periodic, so it splices the end of the record to the beginning — and a decay has a large amplitude at the start and a small one at the end. The estimate rings to bridge that discontinuity. Say the consequence out loud: in free-decay work the information you want — the high-amplitude, strongly nonlinear cycles — is exactly at the start of the record, in the region the method corrupts. Whittaker and the state-space smoother are flat across the whole record; that is why they are the defaults later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 drop this slide first if running long]</a:t>
            </a:r>
          </a:p>
          <a:p>
            <a:r>
              <a:t>[~1 min] Worth including because it is the most widely used method in experimental practice and it is not a bad one. The honest summary: fine for velocity, mediocre for acceleration. Mention the implementation detail — MATLAB and scipy pad differently at the ends, which is a real reproducibility trap when moving code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is the recommendation for most of the audience's work. Emphasise the tuning rule — the response is 1/(1 + λω^2p), so λ = (2πfc)^−2p converts a cutoff in hertz into the penalty weight. That single fact removes most of the folklore around 'choosing the smoothing parameter'. Note that Tikhonov integration is the same equation read right to left.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U-shape is the bias–variance trade-off made visible: too much smoothing on the left, too much noise on the right. Two things to point out. First, the minima are sharp — a factor of three error in the cutoff costs an order of magnitude in the acceleration estimate. Second, and this is the uncomfortable part, these curves were computed WITH knowledge of the true answer. On a real record you cannot draw them. That is the argument for the method on the dashed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 drop this slide first if running long]</a:t>
            </a:r>
          </a:p>
          <a:p>
            <a:r>
              <a:t>[~1 min] Practical slide — tell the audience to photograph it. The message is that 'tune lambda by cross-validation' is usually unnecessary: for the quadratic-penalty family the map from a physically meaningful cutoff to the penalty weight is exact. Start the cutoff at two to three times the highest mode of interest and move it only if the residual shows structure.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Be balanced here. TV is fashionable and it is often applied where it does not belong. The honest position: it wins decisively at a corner and loses decisively on smooth data, and both results are correct because they reflect the prior. For this audience the relevant application is vibro-impact and friction-damped systems.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left panel shows the mechanism: the quadratic penalties round the corner because a large second difference is expensive under L2; L1 lets one jump through. The right panel quantifies it — a 14% reduction against the best quadratic method. Be honest that this is a real but modest margin, and say why it matters anyway: if you are measuring restitution coefficients, the impact velocity IS the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slide is here because it generalises far beyond total variation. The specific lesson: whenever you report a result from an iterative method, the convergence status is part of the result. The general lesson: a silent solver is worse than a noisy one — scipy's cg returning an unconverged answer without complaint is how this went unnoticed through several rounds. If the audience takes one methodological point from the talk,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[OPTIONAL] [~1 min] Two more instances of the solver lesson, both found by cross-checking the MATLAB port against Python. The GCV case matters because the earlier version of this talk blamed GCV itself; the corrected statement is that scipy's selection failed on this record while the exact score works.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is the recommendation to end on. Explain the equivalence chain briefly: an integrated-Wiener state-space model IS a smoothing spline IS a Gaussian process with a particular kernel — but the recursive form is linear time instead of cubic. The self-tuning is the practical selling point: the marginal likelihood of the data under the model is a function of q alone, so you maximise it and you are done. No held-out set, no L-curve, no eyeballing.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An honest accounting, and the shape is favourable. On very clean data the self-tuned smoother pays up to 3.7x — but there the absolute errors are a fraction of a percent and the choice does not matter. At 5% noise, where tuning actually decides the answer, it reaches parity. Practical note: raise the state dimension from 4 to 5 for clean records if you want acceleration — it roughly halves the low-noise penalty. Remember the comparison is against an oracle you do not have on real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 drop this slide first if running long]</a:t>
            </a:r>
          </a:p>
          <a:p>
            <a:r>
              <a:t>[~1 min] Short slide but an important one. Every other method returns a curve; this one returns a distribution. The practical rule: if the feature you are about to interpret is narrower than the band, it is not there. Mention that the band widens automatically over gaps and at the record ends, which is exactly the behaviour you want and exactly what the FFT does not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The causal filter is the forward half of the smoother we already have, so it costs nothing to add. It uses only past samples, so it can run in a control loop. Fit q once on a calibration record for genuine online use. Levant keeps one advantage: finite-time exactness under a known bound.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[~0.2 min] Section divider: the delay-embedding prior, now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This is singular spectrum analysis used as a differentiator. Broomhead and King showed that for short windows the principal axes look like Legendre polynomials, so the method reduces to a local polynomial fit; with long windows the axes become data-adaptive band-pass filters. The guard matters: at long windows one noise direction at 637 Hz passed the threshold and cost 90% in acceleration until the guard removed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Left: the decay occupies a few pairs of directions per harmonic; everything below the dashed threshold is noise. The orange crosses passed the threshold but sit outside the signal band, so the guard drops them. Right: the delay estimate's error is a third of the best-tuned quadratic penalty's.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At 1% noise: 0.32% velocity and 0.94% acceleration, against 0.52% and 1.44% for the spectral method with a perfect cutoff. The reason is the prior, not cleverness: a lightly damped decay really is low-rank in delay coordinates. The next two slides say where that stops being true.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Be clear about the scope: the win comes from a prior that lightly damped structures satisfy. On the vibro-impact record it is no better than the quadratic penalties, and total variation still wins there.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[~1.5 min] We compared the two bases. Smooth orthogonal decomposition ranks by smoothness and ignores energy; with long windows there are noise directions smoother than the signal, and they win (left, purple). Used inside the SVD signal subspace instead, SOD reorders that subspace by frequency, which is exactly what drift removal needs: 0.51% displacement error against 0.72% with SVD ordering.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[OPTIONAL] [~1 min] The honest map. Joint processing of the three chain sensors helps the weaker channels and slightly hurts the strongest one, so it is a small extra gain, not a second win. On this narrowband record the oracle spectral integrator is still best for velocity; with a mode near the drift band that ranking changes.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min] Section divider: the reverse direction and the two-sensor case.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conceptual point: this is not a numerical difficulty, it is a genuine identifiability gap. No algorithm can recover what the sensor did not measure. What distinguishes good practice from bad is whether the assumption is stated. A detrend-and-filter pipeline makes exactly the same assumption as the Tikhonov solve, but hides it in a filter design step. Encourage the audience to report their high-pass corner in papers the way they report a sampling rate.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Quick slide. The two regularised curves are indistinguishable from truth at this scale — 0.9% and 1.7% rms. The grey curve is on a separate axis because it is 64 times larger. Point at the grey curve and note that it is smooth and monotone: it looks like a physical drift, not like an error, which is what makes it dangerous.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strongest practical result in the talk. Fusion beats either channel alone on all three kinematics, and the reason is structural, not numerical: displacement observes the low frequencies where the accelerometer has nothing, and acceleration observes the high frequencies where the displacement sensor is noise-limited. Critically, fusing removes the high-pass corner entirely — the displacement channel makes the two integration constants identifiable, so there is no longer an arbitrary choice to defend. Note the sampling rates differ by 10x and the smoother does not care.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min] Section divider: what to do on Monday.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summary slide — leave it up while you talk. Read down the 'knobs' column: that is the column that determines how reproducible somebody else's result will be. Read down 'error bars': only one method gives you any. Invite questions here if you are running to time; the remaining slides are practical advice. [UPDATED] Two new zero-knob rows: delay reconstruction (dimension from the Gavish-Donoho threshold) and the causal Kalman filter, which displaces Levant as the online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takeaway slide. Read it as a sequence of questions rather than a ranking. The third line is the one most often violated in practice — people process displacement and acceleration separately, get two different answers, and then argue about which to trust. Fusing them is not an advanced technique; it is one function call. [UPDATED] Two changes: the delay line, and the online line now points to the causal Kalman filter, which halves Levant's error on the benchmark.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 drop this slide first if running long]</a:t>
            </a:r>
          </a:p>
          <a:p>
            <a:r>
              <a:t>[~1 min] Close the methods content here. The last bullet is a plea: these choices are as consequential as the sampling rate and are almost never reported. If a result depends on the cutoff, that dependence belongs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Close on the third bullet — it is the reframing that makes the rest follow. Then offer the code. Total elapsed should be about 30 minutes with a little room for questions during the comparison table.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Hand off the code. Offer to run any of these on somebody's record after the talk. [UPDATED] The MATLAB port is now complete (it previously lacked the spline, GP, Levant and trapezoid methods) and the delay-reconstruction references are added.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min] Primary sources. The last four support the delay-reconstruction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min] Leave this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LD Title">
    <p:bg>
      <p:bgPr>
        <a:solidFill>
          <a:srgbClr val="132433"/>
        </a:solidFill>
      </p:bgPr>
    </p:bg>
    <p:spTree>
      <p:nvGrpSpPr>
        <p:cNvPr id="1" name=""/>
        <p:cNvGrpSpPr/>
        <p:nvPr/>
      </p:nvGrpSpPr>
      <p:grpSpPr>
        <a:xfrm>
          <a:off x="0" y="0"/>
          <a:ext cx="0" cy="0"/>
          <a:chOff x="0" y="0"/>
          <a:chExt cx="0" cy="0"/>
        </a:xfrm>
      </p:grpSpPr>
      <p:pic>
        <p:nvPicPr>
          <p:cNvPr id="2" name="Image 0" descr="img/nld-lockup-horizontal-on-navy.png">    </p:cNvPr>
          <p:cNvPicPr>
            <a:picLocks noChangeAspect="1"/>
          </p:cNvPicPr>
          <p:nvPr/>
        </p:nvPicPr>
        <p:blipFill>
          <a:blip r:embed="rId1"/>
          <a:stretch>
            <a:fillRect/>
          </a:stretch>
        </p:blipFill>
        <p:spPr>
          <a:xfrm>
            <a:off x="609905" y="609905"/>
            <a:ext cx="2556470" cy="758952"/>
          </a:xfrm>
          <a:prstGeom prst="rect">
            <a:avLst/>
          </a:prstGeom>
        </p:spPr>
      </p:pic>
      <p:pic>
        <p:nvPicPr>
          <p:cNvPr id="3" name="Image 1" descr="img/nld-mark-hero-on-navy.png">    </p:cNvPr>
          <p:cNvPicPr>
            <a:picLocks noChangeAspect="1"/>
          </p:cNvPicPr>
          <p:nvPr/>
        </p:nvPicPr>
        <p:blipFill>
          <a:blip r:embed="rId2"/>
          <a:stretch>
            <a:fillRect/>
          </a:stretch>
        </p:blipFill>
        <p:spPr>
          <a:xfrm>
            <a:off x="7086600" y="1143000"/>
            <a:ext cx="4023360" cy="4023360"/>
          </a:xfrm>
          <a:prstGeom prst="rect">
            <a:avLst/>
          </a:prstGeom>
        </p:spPr>
      </p:pic>
      <p:sp>
        <p:nvSpPr>
          <p:cNvPr id="4" name="Shape 0"/>
          <p:cNvSpPr/>
          <p:nvPr/>
        </p:nvSpPr>
        <p:spPr>
          <a:xfrm>
            <a:off x="609905" y="3246120"/>
            <a:ext cx="612648" cy="25603"/>
          </a:xfrm>
          <a:prstGeom prst="rect">
            <a:avLst/>
          </a:prstGeom>
          <a:solidFill>
            <a:srgbClr val="B4622A"/>
          </a:solidFill>
          <a:ln/>
        </p:spPr>
      </p:sp>
      <p:sp>
        <p:nvSpPr>
          <p:cNvPr id="5" name="Text 1"/>
          <p:cNvSpPr/>
          <p:nvPr>
            <p:ph idx="103" type="title" hasCustomPrompt="1"/>
          </p:nvPr>
        </p:nvSpPr>
        <p:spPr>
          <a:xfrm>
            <a:off x="609905" y="3429000"/>
            <a:ext cx="6400800" cy="1828800"/>
          </a:xfrm>
          <a:prstGeom prst="rect">
            <a:avLst/>
          </a:prstGeom>
          <a:noFill/>
          <a:ln/>
        </p:spPr>
        <p:txBody>
          <a:bodyPr wrap="square" rtlCol="0"/>
          <a:lstStyle>
            <a:lvl1pPr algn="l" indent="0" marL="0">
              <a:buNone/>
              <a:defRPr lang="en-US" sz="4000" b="1" dirty="0">
                <a:solidFill>
                  <a:srgbClr val="F7F6F2"/>
                </a:solidFill>
              </a:defRPr>
            </a:lvl1pPr>
          </a:lstStyle>
          <a:p>
            <a:pPr algn="l" indent="0" marL="0">
              <a:buNone/>
            </a:pPr>
            <a:r>
              <a:rPr lang="en-US" sz="4000" b="1" dirty="0">
                <a:solidFill>
                  <a:srgbClr val="F7F6F2"/>
                </a:solidFill>
              </a:rPr>
              <a:t>Presentation title</a:t>
            </a:r>
            <a:endParaRPr lang="en-US" sz="4000" dirty="0"/>
          </a:p>
        </p:txBody>
      </p:sp>
      <p:sp>
        <p:nvSpPr>
          <p:cNvPr id="6" name="Text 1"/>
          <p:cNvSpPr/>
          <p:nvPr>
            <p:ph idx="104" type="body" hasCustomPrompt="1"/>
          </p:nvPr>
        </p:nvSpPr>
        <p:spPr>
          <a:xfrm>
            <a:off x="609905" y="5440680"/>
            <a:ext cx="6400800" cy="548640"/>
          </a:xfrm>
          <a:prstGeom prst="rect">
            <a:avLst/>
          </a:prstGeom>
          <a:noFill/>
          <a:ln/>
        </p:spPr>
        <p:txBody>
          <a:bodyPr wrap="square" rtlCol="0"/>
          <a:lstStyle>
            <a:lvl1pPr indent="0" marL="0">
              <a:buNone/>
              <a:defRPr lang="en-US" sz="1900" dirty="0">
                <a:solidFill>
                  <a:srgbClr val="A9B6BF"/>
                </a:solidFill>
              </a:defRPr>
            </a:lvl1pPr>
          </a:lstStyle>
          <a:p>
            <a:pPr indent="0" marL="0">
              <a:buNone/>
            </a:pPr>
            <a:r>
              <a:rPr lang="en-US" sz="1900" dirty="0">
                <a:solidFill>
                  <a:srgbClr val="A9B6BF"/>
                </a:solidFill>
              </a:rPr>
              <a:t>Presenter · Venue · Date</a:t>
            </a:r>
            <a:endParaRPr lang="en-US" sz="1900" dirty="0"/>
          </a:p>
        </p:txBody>
      </p:sp>
      <p:sp>
        <p:nvSpPr>
          <p:cNvPr id="7" name="Text 1"/>
          <p:cNvSpPr/>
          <p:nvPr/>
        </p:nvSpPr>
        <p:spPr>
          <a:xfrm>
            <a:off x="609905" y="6263640"/>
            <a:ext cx="6400800" cy="274320"/>
          </a:xfrm>
          <a:prstGeom prst="rect">
            <a:avLst/>
          </a:prstGeom>
          <a:noFill/>
          <a:ln/>
        </p:spPr>
        <p:txBody>
          <a:bodyPr wrap="square" lIns="0" tIns="0" rIns="0" bIns="0" rtlCol="0" anchor="ctr"/>
          <a:lstStyle/>
          <a:p>
            <a:pPr indent="0" marL="0">
              <a:buNone/>
            </a:pPr>
            <a:r>
              <a:rPr lang="en-US" sz="1300" dirty="0">
                <a:solidFill>
                  <a:srgbClr val="D98A52"/>
                </a:solidFill>
              </a:rPr>
              <a:t>When amplitude changes the story</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LD Section">
    <p:bg>
      <p:bgPr>
        <a:solidFill>
          <a:srgbClr val="132433"/>
        </a:solidFill>
      </p:bgPr>
    </p:bg>
    <p:spTree>
      <p:nvGrpSpPr>
        <p:cNvPr id="1" name=""/>
        <p:cNvGrpSpPr/>
        <p:nvPr/>
      </p:nvGrpSpPr>
      <p:grpSpPr>
        <a:xfrm>
          <a:off x="0" y="0"/>
          <a:ext cx="0" cy="0"/>
          <a:chOff x="0" y="0"/>
          <a:chExt cx="0" cy="0"/>
        </a:xfrm>
      </p:grpSpPr>
      <p:pic>
        <p:nvPicPr>
          <p:cNvPr id="2" name="Image 0" descr="img/nld-mark-hero-on-navy.png">    </p:cNvPr>
          <p:cNvPicPr>
            <a:picLocks noChangeAspect="1"/>
          </p:cNvPicPr>
          <p:nvPr/>
        </p:nvPicPr>
        <p:blipFill>
          <a:blip r:embed="rId1"/>
          <a:stretch>
            <a:fillRect/>
          </a:stretch>
        </p:blipFill>
        <p:spPr>
          <a:xfrm>
            <a:off x="7498080" y="1234440"/>
            <a:ext cx="3566160" cy="3566160"/>
          </a:xfrm>
          <a:prstGeom prst="rect">
            <a:avLst/>
          </a:prstGeom>
        </p:spPr>
      </p:pic>
      <p:sp>
        <p:nvSpPr>
          <p:cNvPr id="3" name="Text 0"/>
          <p:cNvSpPr/>
          <p:nvPr>
            <p:ph idx="101" type="body" hasCustomPrompt="1"/>
          </p:nvPr>
        </p:nvSpPr>
        <p:spPr>
          <a:xfrm>
            <a:off x="609905" y="1828800"/>
            <a:ext cx="2743200" cy="1097280"/>
          </a:xfrm>
          <a:prstGeom prst="rect">
            <a:avLst/>
          </a:prstGeom>
          <a:noFill/>
          <a:ln/>
        </p:spPr>
        <p:txBody>
          <a:bodyPr wrap="square" rtlCol="0"/>
          <a:lstStyle>
            <a:lvl1pPr algn="l" indent="0" marL="0">
              <a:buNone/>
              <a:defRPr lang="en-US" sz="8000" b="1" dirty="0">
                <a:solidFill>
                  <a:srgbClr val="D98A52"/>
                </a:solidFill>
              </a:defRPr>
            </a:lvl1pPr>
          </a:lstStyle>
          <a:p>
            <a:pPr algn="l" indent="0" marL="0">
              <a:buNone/>
            </a:pPr>
            <a:r>
              <a:rPr lang="en-US" sz="8000" b="1" dirty="0">
                <a:solidFill>
                  <a:srgbClr val="D98A52"/>
                </a:solidFill>
              </a:rPr>
              <a:t>01</a:t>
            </a:r>
            <a:endParaRPr lang="en-US" sz="8000" dirty="0"/>
          </a:p>
        </p:txBody>
      </p:sp>
      <p:sp>
        <p:nvSpPr>
          <p:cNvPr id="4" name="Text 0"/>
          <p:cNvSpPr/>
          <p:nvPr>
            <p:ph idx="102" type="title" hasCustomPrompt="1"/>
          </p:nvPr>
        </p:nvSpPr>
        <p:spPr>
          <a:xfrm>
            <a:off x="609905" y="3063240"/>
            <a:ext cx="6492240" cy="1463040"/>
          </a:xfrm>
          <a:prstGeom prst="rect">
            <a:avLst/>
          </a:prstGeom>
          <a:noFill/>
          <a:ln/>
        </p:spPr>
        <p:txBody>
          <a:bodyPr wrap="square" rtlCol="0"/>
          <a:lstStyle>
            <a:lvl1pPr algn="l" indent="0" marL="0">
              <a:buNone/>
              <a:defRPr lang="en-US" sz="4400" b="1" dirty="0">
                <a:solidFill>
                  <a:srgbClr val="F7F6F2"/>
                </a:solidFill>
              </a:defRPr>
            </a:lvl1pPr>
          </a:lstStyle>
          <a:p>
            <a:pPr algn="l" indent="0" marL="0">
              <a:buNone/>
            </a:pPr>
            <a:r>
              <a:rPr lang="en-US" sz="4400" b="1" dirty="0">
                <a:solidFill>
                  <a:srgbClr val="F7F6F2"/>
                </a:solidFill>
              </a:rPr>
              <a:t>Section title</a:t>
            </a:r>
            <a:endParaRPr lang="en-US" sz="4400" dirty="0"/>
          </a:p>
        </p:txBody>
      </p:sp>
      <p:sp>
        <p:nvSpPr>
          <p:cNvPr id="5" name="Text 0"/>
          <p:cNvSpPr/>
          <p:nvPr/>
        </p:nvSpPr>
        <p:spPr>
          <a:xfrm>
            <a:off x="609905" y="6336792"/>
            <a:ext cx="5486400" cy="274320"/>
          </a:xfrm>
          <a:prstGeom prst="rect">
            <a:avLst/>
          </a:prstGeom>
          <a:noFill/>
          <a:ln/>
        </p:spPr>
        <p:txBody>
          <a:bodyPr wrap="square" lIns="0" tIns="0" rIns="0" bIns="0" rtlCol="0" anchor="ctr"/>
          <a:lstStyle/>
          <a:p>
            <a:pPr indent="0" marL="0">
              <a:buNone/>
            </a:pPr>
            <a:r>
              <a:rPr lang="en-US" sz="1100" dirty="0">
                <a:solidFill>
                  <a:srgbClr val="A9B6BF"/>
                </a:solidFill>
              </a:rPr>
              <a:t>Nonlinear Dynamics Laboratory</a:t>
            </a:r>
            <a:endParaRPr lang="en-US" sz="1100" dirty="0"/>
          </a:p>
        </p:txBody>
      </p:sp>
      <p:pic>
        <p:nvPicPr>
          <p:cNvPr id="6" name="Image 1" descr="img/nld-lockup-compact-on-navy.png">    </p:cNvPr>
          <p:cNvPicPr>
            <a:picLocks noChangeAspect="1"/>
          </p:cNvPicPr>
          <p:nvPr/>
        </p:nvPicPr>
        <p:blipFill>
          <a:blip r:embed="rId2"/>
          <a:stretch>
            <a:fillRect/>
          </a:stretch>
        </p:blipFill>
        <p:spPr>
          <a:xfrm>
            <a:off x="10655515" y="6295644"/>
            <a:ext cx="926275" cy="356616"/>
          </a:xfrm>
          <a:prstGeom prst="rect">
            <a:avLst/>
          </a:prstGeom>
        </p:spPr>
      </p:pic>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LD Content">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09905" y="653796"/>
            <a:ext cx="155448" cy="25603"/>
          </a:xfrm>
          <a:prstGeom prst="rect">
            <a:avLst/>
          </a:prstGeom>
          <a:solidFill>
            <a:srgbClr val="B4622A"/>
          </a:solidFill>
          <a:ln/>
        </p:spPr>
      </p:sp>
      <p:sp>
        <p:nvSpPr>
          <p:cNvPr id="3" name="Text 1"/>
          <p:cNvSpPr/>
          <p:nvPr>
            <p:ph idx="101" type="body" hasCustomPrompt="1"/>
          </p:nvPr>
        </p:nvSpPr>
        <p:spPr>
          <a:xfrm>
            <a:off x="829361" y="530352"/>
            <a:ext cx="5486400" cy="274320"/>
          </a:xfrm>
          <a:prstGeom prst="rect">
            <a:avLst/>
          </a:prstGeom>
          <a:noFill/>
          <a:ln/>
        </p:spPr>
        <p:txBody>
          <a:bodyPr wrap="square" rtlCol="0"/>
          <a:lstStyle>
            <a:lvl1pPr indent="0" marL="0">
              <a:buNone/>
              <a:defRPr lang="en-US" sz="1200" spc="150" kern="0" dirty="0">
                <a:solidFill>
                  <a:srgbClr val="5B6168"/>
                </a:solidFill>
              </a:defRPr>
            </a:lvl1pPr>
          </a:lstStyle>
          <a:p>
            <a:pPr indent="0" marL="0">
              <a:buNone/>
            </a:pPr>
            <a:r>
              <a:rPr lang="en-US" sz="1200" spc="150" kern="0" dirty="0">
                <a:solidFill>
                  <a:srgbClr val="5B6168"/>
                </a:solidFill>
              </a:rPr>
              <a:t>SECTION LABEL</a:t>
            </a:r>
            <a:endParaRPr lang="en-US" sz="1200" dirty="0"/>
          </a:p>
        </p:txBody>
      </p:sp>
      <p:sp>
        <p:nvSpPr>
          <p:cNvPr id="4" name="Text 1"/>
          <p:cNvSpPr/>
          <p:nvPr>
            <p:ph idx="102" type="title" hasCustomPrompt="1"/>
          </p:nvPr>
        </p:nvSpPr>
        <p:spPr>
          <a:xfrm>
            <a:off x="609905" y="841248"/>
            <a:ext cx="10971886" cy="1005840"/>
          </a:xfrm>
          <a:prstGeom prst="rect">
            <a:avLst/>
          </a:prstGeom>
          <a:noFill/>
          <a:ln/>
        </p:spPr>
        <p:txBody>
          <a:bodyPr wrap="square" rtlCol="0"/>
          <a:lstStyle>
            <a:lvl1pPr algn="l" indent="0" marL="0">
              <a:buNone/>
              <a:defRPr lang="en-US" sz="3000" b="1" dirty="0">
                <a:solidFill>
                  <a:srgbClr val="132433"/>
                </a:solidFill>
              </a:defRPr>
            </a:lvl1pPr>
          </a:lstStyle>
          <a:p>
            <a:pPr algn="l" indent="0" marL="0">
              <a:buNone/>
            </a:pPr>
            <a:r>
              <a:rPr lang="en-US" sz="3000" b="1" dirty="0">
                <a:solidFill>
                  <a:srgbClr val="132433"/>
                </a:solidFill>
              </a:rPr>
              <a:t>Headline states the claim</a:t>
            </a:r>
            <a:endParaRPr lang="en-US" sz="3000" dirty="0"/>
          </a:p>
        </p:txBody>
      </p:sp>
      <p:sp>
        <p:nvSpPr>
          <p:cNvPr id="5" name="Text 1"/>
          <p:cNvSpPr/>
          <p:nvPr>
            <p:ph idx="103" type="body" hasCustomPrompt="1"/>
          </p:nvPr>
        </p:nvSpPr>
        <p:spPr>
          <a:xfrm>
            <a:off x="609905" y="2103120"/>
            <a:ext cx="10241280" cy="3931920"/>
          </a:xfrm>
          <a:prstGeom prst="rect">
            <a:avLst/>
          </a:prstGeom>
          <a:noFill/>
          <a:ln/>
        </p:spPr>
        <p:txBody>
          <a:bodyPr wrap="square" rtlCol="0"/>
          <a:lstStyle>
            <a:lvl1pPr indent="0" marL="0">
              <a:spcAft>
                <a:spcPts val="1000"/>
              </a:spcAft>
              <a:buNone/>
              <a:defRPr lang="en-US" sz="1900" dirty="0">
                <a:solidFill>
                  <a:srgbClr val="132433"/>
                </a:solidFill>
              </a:defRPr>
            </a:lvl1pPr>
          </a:lstStyle>
          <a:p>
            <a:pPr indent="0" marL="0">
              <a:spcAft>
                <a:spcPts val="1000"/>
              </a:spcAft>
              <a:buNone/>
            </a:pPr>
            <a:r>
              <a:rPr lang="en-US" sz="1900" dirty="0">
                <a:solidFill>
                  <a:srgbClr val="132433"/>
                </a:solidFill>
              </a:rPr>
              <a:t>Point one</a:t>
            </a:r>
            <a:endParaRPr lang="en-US" sz="1900" dirty="0"/>
          </a:p>
        </p:txBody>
      </p:sp>
      <p:sp>
        <p:nvSpPr>
          <p:cNvPr id="6" name="Text 1"/>
          <p:cNvSpPr/>
          <p:nvPr/>
        </p:nvSpPr>
        <p:spPr>
          <a:xfrm>
            <a:off x="609905" y="6336792"/>
            <a:ext cx="5486400" cy="274320"/>
          </a:xfrm>
          <a:prstGeom prst="rect">
            <a:avLst/>
          </a:prstGeom>
          <a:noFill/>
          <a:ln/>
        </p:spPr>
        <p:txBody>
          <a:bodyPr wrap="square" lIns="0" tIns="0" rIns="0" bIns="0" rtlCol="0" anchor="ctr"/>
          <a:lstStyle/>
          <a:p>
            <a:pPr indent="0" marL="0">
              <a:buNone/>
            </a:pPr>
            <a:r>
              <a:rPr lang="en-US" sz="1100" dirty="0">
                <a:solidFill>
                  <a:srgbClr val="5B6168"/>
                </a:solidFill>
              </a:rPr>
              <a:t>Nonlinear Dynamics Laboratory</a:t>
            </a:r>
            <a:endParaRPr lang="en-US" sz="1100" dirty="0"/>
          </a:p>
        </p:txBody>
      </p:sp>
      <p:pic>
        <p:nvPicPr>
          <p:cNvPr id="7" name="Image 0" descr="img/nld-lockup-compact.png">    </p:cNvPr>
          <p:cNvPicPr>
            <a:picLocks noChangeAspect="1"/>
          </p:cNvPicPr>
          <p:nvPr/>
        </p:nvPicPr>
        <p:blipFill>
          <a:blip r:embed="rId1"/>
          <a:stretch>
            <a:fillRect/>
          </a:stretch>
        </p:blipFill>
        <p:spPr>
          <a:xfrm>
            <a:off x="10655515" y="6295644"/>
            <a:ext cx="926275" cy="356616"/>
          </a:xfrm>
          <a:prstGeom prst="rect">
            <a:avLst/>
          </a:prstGeom>
        </p:spPr>
      </p:pic>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LD Title Only">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09905" y="653796"/>
            <a:ext cx="155448" cy="25603"/>
          </a:xfrm>
          <a:prstGeom prst="rect">
            <a:avLst/>
          </a:prstGeom>
          <a:solidFill>
            <a:srgbClr val="B4622A"/>
          </a:solidFill>
          <a:ln/>
        </p:spPr>
      </p:sp>
      <p:sp>
        <p:nvSpPr>
          <p:cNvPr id="3" name="Text 1"/>
          <p:cNvSpPr/>
          <p:nvPr>
            <p:ph idx="101" type="body" hasCustomPrompt="1"/>
          </p:nvPr>
        </p:nvSpPr>
        <p:spPr>
          <a:xfrm>
            <a:off x="829361" y="530352"/>
            <a:ext cx="5486400" cy="274320"/>
          </a:xfrm>
          <a:prstGeom prst="rect">
            <a:avLst/>
          </a:prstGeom>
          <a:noFill/>
          <a:ln/>
        </p:spPr>
        <p:txBody>
          <a:bodyPr wrap="square" rtlCol="0"/>
          <a:lstStyle>
            <a:lvl1pPr indent="0" marL="0">
              <a:buNone/>
              <a:defRPr lang="en-US" sz="1200" spc="150" kern="0" dirty="0">
                <a:solidFill>
                  <a:srgbClr val="5B6168"/>
                </a:solidFill>
              </a:defRPr>
            </a:lvl1pPr>
          </a:lstStyle>
          <a:p>
            <a:pPr indent="0" marL="0">
              <a:buNone/>
            </a:pPr>
            <a:r>
              <a:rPr lang="en-US" sz="1200" spc="150" kern="0" dirty="0">
                <a:solidFill>
                  <a:srgbClr val="5B6168"/>
                </a:solidFill>
              </a:rPr>
              <a:t>SECTION LABEL</a:t>
            </a:r>
            <a:endParaRPr lang="en-US" sz="1200" dirty="0"/>
          </a:p>
        </p:txBody>
      </p:sp>
      <p:sp>
        <p:nvSpPr>
          <p:cNvPr id="4" name="Text 1"/>
          <p:cNvSpPr/>
          <p:nvPr>
            <p:ph idx="102" type="title" hasCustomPrompt="1"/>
          </p:nvPr>
        </p:nvSpPr>
        <p:spPr>
          <a:xfrm>
            <a:off x="609905" y="841248"/>
            <a:ext cx="10971886" cy="1005840"/>
          </a:xfrm>
          <a:prstGeom prst="rect">
            <a:avLst/>
          </a:prstGeom>
          <a:noFill/>
          <a:ln/>
        </p:spPr>
        <p:txBody>
          <a:bodyPr wrap="square" rtlCol="0"/>
          <a:lstStyle>
            <a:lvl1pPr algn="l" indent="0" marL="0">
              <a:buNone/>
              <a:defRPr lang="en-US" sz="3000" b="1" dirty="0">
                <a:solidFill>
                  <a:srgbClr val="132433"/>
                </a:solidFill>
              </a:defRPr>
            </a:lvl1pPr>
          </a:lstStyle>
          <a:p>
            <a:pPr algn="l" indent="0" marL="0">
              <a:buNone/>
            </a:pPr>
            <a:r>
              <a:rPr lang="en-US" sz="3000" b="1" dirty="0">
                <a:solidFill>
                  <a:srgbClr val="132433"/>
                </a:solidFill>
              </a:rPr>
              <a:t>Headline states the claim</a:t>
            </a:r>
            <a:endParaRPr lang="en-US" sz="3000" dirty="0"/>
          </a:p>
        </p:txBody>
      </p:sp>
      <p:sp>
        <p:nvSpPr>
          <p:cNvPr id="5" name="Text 1"/>
          <p:cNvSpPr/>
          <p:nvPr/>
        </p:nvSpPr>
        <p:spPr>
          <a:xfrm>
            <a:off x="609905" y="6336792"/>
            <a:ext cx="5486400" cy="274320"/>
          </a:xfrm>
          <a:prstGeom prst="rect">
            <a:avLst/>
          </a:prstGeom>
          <a:noFill/>
          <a:ln/>
        </p:spPr>
        <p:txBody>
          <a:bodyPr wrap="square" lIns="0" tIns="0" rIns="0" bIns="0" rtlCol="0" anchor="ctr"/>
          <a:lstStyle/>
          <a:p>
            <a:pPr indent="0" marL="0">
              <a:buNone/>
            </a:pPr>
            <a:r>
              <a:rPr lang="en-US" sz="1100" dirty="0">
                <a:solidFill>
                  <a:srgbClr val="5B6168"/>
                </a:solidFill>
              </a:rPr>
              <a:t>Nonlinear Dynamics Laboratory</a:t>
            </a:r>
            <a:endParaRPr lang="en-US" sz="1100" dirty="0"/>
          </a:p>
        </p:txBody>
      </p:sp>
      <p:pic>
        <p:nvPicPr>
          <p:cNvPr id="6" name="Image 0" descr="img/nld-lockup-compact.png">    </p:cNvPr>
          <p:cNvPicPr>
            <a:picLocks noChangeAspect="1"/>
          </p:cNvPicPr>
          <p:nvPr/>
        </p:nvPicPr>
        <p:blipFill>
          <a:blip r:embed="rId1"/>
          <a:stretch>
            <a:fillRect/>
          </a:stretch>
        </p:blipFill>
        <p:spPr>
          <a:xfrm>
            <a:off x="10655515" y="6295644"/>
            <a:ext cx="926275" cy="356616"/>
          </a:xfrm>
          <a:prstGeom prst="rect">
            <a:avLst/>
          </a:prstGeom>
        </p:spPr>
      </p:pic>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LD Figure">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09905" y="653796"/>
            <a:ext cx="155448" cy="25603"/>
          </a:xfrm>
          <a:prstGeom prst="rect">
            <a:avLst/>
          </a:prstGeom>
          <a:solidFill>
            <a:srgbClr val="B4622A"/>
          </a:solidFill>
          <a:ln/>
        </p:spPr>
      </p:sp>
      <p:sp>
        <p:nvSpPr>
          <p:cNvPr id="3" name="Text 1"/>
          <p:cNvSpPr/>
          <p:nvPr>
            <p:ph idx="101" type="body" hasCustomPrompt="1"/>
          </p:nvPr>
        </p:nvSpPr>
        <p:spPr>
          <a:xfrm>
            <a:off x="829361" y="530352"/>
            <a:ext cx="5486400" cy="274320"/>
          </a:xfrm>
          <a:prstGeom prst="rect">
            <a:avLst/>
          </a:prstGeom>
          <a:noFill/>
          <a:ln/>
        </p:spPr>
        <p:txBody>
          <a:bodyPr wrap="square" rtlCol="0"/>
          <a:lstStyle>
            <a:lvl1pPr indent="0" marL="0">
              <a:buNone/>
              <a:defRPr lang="en-US" sz="1200" spc="150" kern="0" dirty="0">
                <a:solidFill>
                  <a:srgbClr val="5B6168"/>
                </a:solidFill>
              </a:defRPr>
            </a:lvl1pPr>
          </a:lstStyle>
          <a:p>
            <a:pPr indent="0" marL="0">
              <a:buNone/>
            </a:pPr>
            <a:r>
              <a:rPr lang="en-US" sz="1200" spc="150" kern="0" dirty="0">
                <a:solidFill>
                  <a:srgbClr val="5B6168"/>
                </a:solidFill>
              </a:rPr>
              <a:t>SECTION LABEL</a:t>
            </a:r>
            <a:endParaRPr lang="en-US" sz="1200" dirty="0"/>
          </a:p>
        </p:txBody>
      </p:sp>
      <p:sp>
        <p:nvSpPr>
          <p:cNvPr id="4" name="Text 1"/>
          <p:cNvSpPr/>
          <p:nvPr>
            <p:ph idx="102" type="title" hasCustomPrompt="1"/>
          </p:nvPr>
        </p:nvSpPr>
        <p:spPr>
          <a:xfrm>
            <a:off x="609905" y="841248"/>
            <a:ext cx="10971886" cy="1005840"/>
          </a:xfrm>
          <a:prstGeom prst="rect">
            <a:avLst/>
          </a:prstGeom>
          <a:noFill/>
          <a:ln/>
        </p:spPr>
        <p:txBody>
          <a:bodyPr wrap="square" rtlCol="0"/>
          <a:lstStyle>
            <a:lvl1pPr algn="l" indent="0" marL="0">
              <a:buNone/>
              <a:defRPr lang="en-US" sz="3000" b="1" dirty="0">
                <a:solidFill>
                  <a:srgbClr val="132433"/>
                </a:solidFill>
              </a:defRPr>
            </a:lvl1pPr>
          </a:lstStyle>
          <a:p>
            <a:pPr algn="l" indent="0" marL="0">
              <a:buNone/>
            </a:pPr>
            <a:r>
              <a:rPr lang="en-US" sz="3000" b="1" dirty="0">
                <a:solidFill>
                  <a:srgbClr val="132433"/>
                </a:solidFill>
              </a:rPr>
              <a:t>Headline states the claim</a:t>
            </a:r>
            <a:endParaRPr lang="en-US" sz="3000" dirty="0"/>
          </a:p>
        </p:txBody>
      </p:sp>
      <p:sp>
        <p:nvSpPr>
          <p:cNvPr id="5" name="Shape 1"/>
          <p:cNvSpPr/>
          <p:nvPr/>
        </p:nvSpPr>
        <p:spPr>
          <a:xfrm>
            <a:off x="609905" y="2011680"/>
            <a:ext cx="7040880" cy="4114800"/>
          </a:xfrm>
          <a:prstGeom prst="rect">
            <a:avLst/>
          </a:prstGeom>
          <a:solidFill>
            <a:srgbClr val="FFFFFF"/>
          </a:solidFill>
          <a:ln w="9525">
            <a:solidFill>
              <a:srgbClr val="DCD9D2"/>
            </a:solidFill>
            <a:prstDash val="solid"/>
          </a:ln>
        </p:spPr>
      </p:sp>
      <p:sp>
        <p:nvSpPr>
          <p:cNvPr id="6" name="Text 2"/>
          <p:cNvSpPr/>
          <p:nvPr>
            <p:ph idx="104" hasCustomPrompt="1"/>
          </p:nvPr>
        </p:nvSpPr>
        <p:spPr>
          <a:xfrm>
            <a:off x="701345" y="2103120"/>
            <a:ext cx="6858000" cy="3931920"/>
          </a:xfrm>
          <a:prstGeom prst="rect">
            <a:avLst/>
          </a:prstGeom>
          <a:noFill/>
          <a:ln/>
        </p:spPr>
        <p:txBody>
          <a:bodyPr wrap="square" rtlCol="0"/>
          <a:lstStyle>
            <a:lvl1pPr indent="0" marL="0">
              <a:buNone/>
              <a:defRPr lang="en-US" dirty="0">
                <a:solidFill>
                  <a:srgbClr val="5B6168"/>
                </a:solidFill>
              </a:defRPr>
            </a:lvl1pPr>
          </a:lstStyle>
          <a:p>
            <a:pPr indent="0" marL="0">
              <a:buNone/>
            </a:pPr>
            <a:r>
              <a:rPr lang="en-US" dirty="0">
                <a:solidFill>
                  <a:srgbClr val="5B6168"/>
                </a:solidFill>
              </a:rPr>
              <a:t>Insert figure (vector PDF or 300 dpi PNG, white background)</a:t>
            </a:r>
            <a:endParaRPr lang="en-US" dirty="0"/>
          </a:p>
        </p:txBody>
      </p:sp>
      <p:sp>
        <p:nvSpPr>
          <p:cNvPr id="7" name="Text 2"/>
          <p:cNvSpPr/>
          <p:nvPr>
            <p:ph idx="105" type="body" hasCustomPrompt="1"/>
          </p:nvPr>
        </p:nvSpPr>
        <p:spPr>
          <a:xfrm>
            <a:off x="8092440" y="2011680"/>
            <a:ext cx="3474720" cy="4114800"/>
          </a:xfrm>
          <a:prstGeom prst="rect">
            <a:avLst/>
          </a:prstGeom>
          <a:noFill/>
          <a:ln/>
        </p:spPr>
        <p:txBody>
          <a:bodyPr wrap="square" rtlCol="0"/>
          <a:lstStyle>
            <a:lvl1pPr indent="0" marL="0">
              <a:buNone/>
              <a:defRPr lang="en-US" sz="1700" dirty="0">
                <a:solidFill>
                  <a:srgbClr val="5B6168"/>
                </a:solidFill>
              </a:defRPr>
            </a:lvl1pPr>
          </a:lstStyle>
          <a:p>
            <a:pPr indent="0" marL="0">
              <a:buNone/>
            </a:pPr>
            <a:r>
              <a:rPr lang="en-US" sz="1700" dirty="0">
                <a:solidFill>
                  <a:srgbClr val="5B6168"/>
                </a:solidFill>
              </a:rPr>
              <a:t>One or two sentences on how to read the figure.</a:t>
            </a:r>
            <a:endParaRPr lang="en-US" sz="1700" dirty="0"/>
          </a:p>
        </p:txBody>
      </p:sp>
      <p:sp>
        <p:nvSpPr>
          <p:cNvPr id="8" name="Text 2"/>
          <p:cNvSpPr/>
          <p:nvPr/>
        </p:nvSpPr>
        <p:spPr>
          <a:xfrm>
            <a:off x="609905" y="6336792"/>
            <a:ext cx="5486400" cy="274320"/>
          </a:xfrm>
          <a:prstGeom prst="rect">
            <a:avLst/>
          </a:prstGeom>
          <a:noFill/>
          <a:ln/>
        </p:spPr>
        <p:txBody>
          <a:bodyPr wrap="square" lIns="0" tIns="0" rIns="0" bIns="0" rtlCol="0" anchor="ctr"/>
          <a:lstStyle/>
          <a:p>
            <a:pPr indent="0" marL="0">
              <a:buNone/>
            </a:pPr>
            <a:r>
              <a:rPr lang="en-US" sz="1100" dirty="0">
                <a:solidFill>
                  <a:srgbClr val="5B6168"/>
                </a:solidFill>
              </a:rPr>
              <a:t>Nonlinear Dynamics Laboratory</a:t>
            </a:r>
            <a:endParaRPr lang="en-US" sz="1100" dirty="0"/>
          </a:p>
        </p:txBody>
      </p:sp>
      <p:pic>
        <p:nvPicPr>
          <p:cNvPr id="9" name="Image 0" descr="img/nld-lockup-compact.png">    </p:cNvPr>
          <p:cNvPicPr>
            <a:picLocks noChangeAspect="1"/>
          </p:cNvPicPr>
          <p:nvPr/>
        </p:nvPicPr>
        <p:blipFill>
          <a:blip r:embed="rId1"/>
          <a:stretch>
            <a:fillRect/>
          </a:stretch>
        </p:blipFill>
        <p:spPr>
          <a:xfrm>
            <a:off x="10655515" y="6295644"/>
            <a:ext cx="926275" cy="356616"/>
          </a:xfrm>
          <a:prstGeom prst="rect">
            <a:avLst/>
          </a:prstGeom>
        </p:spPr>
      </p:pic>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NLD Two Column">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09905" y="653796"/>
            <a:ext cx="155448" cy="25603"/>
          </a:xfrm>
          <a:prstGeom prst="rect">
            <a:avLst/>
          </a:prstGeom>
          <a:solidFill>
            <a:srgbClr val="B4622A"/>
          </a:solidFill>
          <a:ln/>
        </p:spPr>
      </p:sp>
      <p:sp>
        <p:nvSpPr>
          <p:cNvPr id="3" name="Text 1"/>
          <p:cNvSpPr/>
          <p:nvPr>
            <p:ph idx="101" type="body" hasCustomPrompt="1"/>
          </p:nvPr>
        </p:nvSpPr>
        <p:spPr>
          <a:xfrm>
            <a:off x="829361" y="530352"/>
            <a:ext cx="5486400" cy="274320"/>
          </a:xfrm>
          <a:prstGeom prst="rect">
            <a:avLst/>
          </a:prstGeom>
          <a:noFill/>
          <a:ln/>
        </p:spPr>
        <p:txBody>
          <a:bodyPr wrap="square" rtlCol="0"/>
          <a:lstStyle>
            <a:lvl1pPr indent="0" marL="0">
              <a:buNone/>
              <a:defRPr lang="en-US" sz="1200" spc="150" kern="0" dirty="0">
                <a:solidFill>
                  <a:srgbClr val="5B6168"/>
                </a:solidFill>
              </a:defRPr>
            </a:lvl1pPr>
          </a:lstStyle>
          <a:p>
            <a:pPr indent="0" marL="0">
              <a:buNone/>
            </a:pPr>
            <a:r>
              <a:rPr lang="en-US" sz="1200" spc="150" kern="0" dirty="0">
                <a:solidFill>
                  <a:srgbClr val="5B6168"/>
                </a:solidFill>
              </a:rPr>
              <a:t>SECTION LABEL</a:t>
            </a:r>
            <a:endParaRPr lang="en-US" sz="1200" dirty="0"/>
          </a:p>
        </p:txBody>
      </p:sp>
      <p:sp>
        <p:nvSpPr>
          <p:cNvPr id="4" name="Text 1"/>
          <p:cNvSpPr/>
          <p:nvPr>
            <p:ph idx="102" type="title" hasCustomPrompt="1"/>
          </p:nvPr>
        </p:nvSpPr>
        <p:spPr>
          <a:xfrm>
            <a:off x="609905" y="841248"/>
            <a:ext cx="10971886" cy="1005840"/>
          </a:xfrm>
          <a:prstGeom prst="rect">
            <a:avLst/>
          </a:prstGeom>
          <a:noFill/>
          <a:ln/>
        </p:spPr>
        <p:txBody>
          <a:bodyPr wrap="square" rtlCol="0"/>
          <a:lstStyle>
            <a:lvl1pPr algn="l" indent="0" marL="0">
              <a:buNone/>
              <a:defRPr lang="en-US" sz="3000" b="1" dirty="0">
                <a:solidFill>
                  <a:srgbClr val="132433"/>
                </a:solidFill>
              </a:defRPr>
            </a:lvl1pPr>
          </a:lstStyle>
          <a:p>
            <a:pPr algn="l" indent="0" marL="0">
              <a:buNone/>
            </a:pPr>
            <a:r>
              <a:rPr lang="en-US" sz="3000" b="1" dirty="0">
                <a:solidFill>
                  <a:srgbClr val="132433"/>
                </a:solidFill>
              </a:rPr>
              <a:t>Headline states the claim</a:t>
            </a:r>
            <a:endParaRPr lang="en-US" sz="3000" dirty="0"/>
          </a:p>
        </p:txBody>
      </p:sp>
      <p:sp>
        <p:nvSpPr>
          <p:cNvPr id="5" name="Text 1"/>
          <p:cNvSpPr/>
          <p:nvPr>
            <p:ph idx="103" type="body" hasCustomPrompt="1"/>
          </p:nvPr>
        </p:nvSpPr>
        <p:spPr>
          <a:xfrm>
            <a:off x="609905" y="2103120"/>
            <a:ext cx="5257800" cy="3931920"/>
          </a:xfrm>
          <a:prstGeom prst="rect">
            <a:avLst/>
          </a:prstGeom>
          <a:noFill/>
          <a:ln/>
        </p:spPr>
        <p:txBody>
          <a:bodyPr wrap="square" rtlCol="0"/>
          <a:lstStyle>
            <a:lvl1pPr indent="0" marL="0">
              <a:spcAft>
                <a:spcPts val="1000"/>
              </a:spcAft>
              <a:buNone/>
              <a:defRPr lang="en-US" sz="1900" dirty="0">
                <a:solidFill>
                  <a:srgbClr val="132433"/>
                </a:solidFill>
              </a:defRPr>
            </a:lvl1pPr>
          </a:lstStyle>
          <a:p>
            <a:pPr indent="0" marL="0">
              <a:spcAft>
                <a:spcPts val="1000"/>
              </a:spcAft>
              <a:buNone/>
            </a:pPr>
            <a:r>
              <a:rPr lang="en-US" sz="1900" dirty="0">
                <a:solidFill>
                  <a:srgbClr val="132433"/>
                </a:solidFill>
              </a:rPr>
              <a:t>Left column</a:t>
            </a:r>
            <a:endParaRPr lang="en-US" sz="1900" dirty="0"/>
          </a:p>
        </p:txBody>
      </p:sp>
      <p:sp>
        <p:nvSpPr>
          <p:cNvPr id="6" name="Text 1"/>
          <p:cNvSpPr/>
          <p:nvPr>
            <p:ph idx="104" type="body" hasCustomPrompt="1"/>
          </p:nvPr>
        </p:nvSpPr>
        <p:spPr>
          <a:xfrm>
            <a:off x="6324905" y="2103120"/>
            <a:ext cx="5257800" cy="3931920"/>
          </a:xfrm>
          <a:prstGeom prst="rect">
            <a:avLst/>
          </a:prstGeom>
          <a:noFill/>
          <a:ln/>
        </p:spPr>
        <p:txBody>
          <a:bodyPr wrap="square" rtlCol="0"/>
          <a:lstStyle>
            <a:lvl1pPr indent="0" marL="0">
              <a:spcAft>
                <a:spcPts val="1000"/>
              </a:spcAft>
              <a:buNone/>
              <a:defRPr lang="en-US" sz="1900" dirty="0">
                <a:solidFill>
                  <a:srgbClr val="132433"/>
                </a:solidFill>
              </a:defRPr>
            </a:lvl1pPr>
          </a:lstStyle>
          <a:p>
            <a:pPr indent="0" marL="0">
              <a:spcAft>
                <a:spcPts val="1000"/>
              </a:spcAft>
              <a:buNone/>
            </a:pPr>
            <a:r>
              <a:rPr lang="en-US" sz="1900" dirty="0">
                <a:solidFill>
                  <a:srgbClr val="132433"/>
                </a:solidFill>
              </a:rPr>
              <a:t>Right column</a:t>
            </a:r>
            <a:endParaRPr lang="en-US" sz="1900" dirty="0"/>
          </a:p>
        </p:txBody>
      </p:sp>
      <p:sp>
        <p:nvSpPr>
          <p:cNvPr id="7" name="Text 1"/>
          <p:cNvSpPr/>
          <p:nvPr/>
        </p:nvSpPr>
        <p:spPr>
          <a:xfrm>
            <a:off x="609905" y="6336792"/>
            <a:ext cx="5486400" cy="274320"/>
          </a:xfrm>
          <a:prstGeom prst="rect">
            <a:avLst/>
          </a:prstGeom>
          <a:noFill/>
          <a:ln/>
        </p:spPr>
        <p:txBody>
          <a:bodyPr wrap="square" lIns="0" tIns="0" rIns="0" bIns="0" rtlCol="0" anchor="ctr"/>
          <a:lstStyle/>
          <a:p>
            <a:pPr indent="0" marL="0">
              <a:buNone/>
            </a:pPr>
            <a:r>
              <a:rPr lang="en-US" sz="1100" dirty="0">
                <a:solidFill>
                  <a:srgbClr val="5B6168"/>
                </a:solidFill>
              </a:rPr>
              <a:t>Nonlinear Dynamics Laboratory</a:t>
            </a:r>
            <a:endParaRPr lang="en-US" sz="1100" dirty="0"/>
          </a:p>
        </p:txBody>
      </p:sp>
      <p:pic>
        <p:nvPicPr>
          <p:cNvPr id="8" name="Image 0" descr="img/nld-lockup-compact.png">    </p:cNvPr>
          <p:cNvPicPr>
            <a:picLocks noChangeAspect="1"/>
          </p:cNvPicPr>
          <p:nvPr/>
        </p:nvPicPr>
        <p:blipFill>
          <a:blip r:embed="rId1"/>
          <a:stretch>
            <a:fillRect/>
          </a:stretch>
        </p:blipFill>
        <p:spPr>
          <a:xfrm>
            <a:off x="10655515" y="6295644"/>
            <a:ext cx="926275" cy="356616"/>
          </a:xfrm>
          <a:prstGeom prst="rect">
            <a:avLst/>
          </a:prstGeom>
        </p:spPr>
      </p:pic>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LD Closing">
    <p:bg>
      <p:bgPr>
        <a:solidFill>
          <a:srgbClr val="132433"/>
        </a:solidFill>
      </p:bgPr>
    </p:bg>
    <p:spTree>
      <p:nvGrpSpPr>
        <p:cNvPr id="1" name=""/>
        <p:cNvGrpSpPr/>
        <p:nvPr/>
      </p:nvGrpSpPr>
      <p:grpSpPr>
        <a:xfrm>
          <a:off x="0" y="0"/>
          <a:ext cx="0" cy="0"/>
          <a:chOff x="0" y="0"/>
          <a:chExt cx="0" cy="0"/>
        </a:xfrm>
      </p:grpSpPr>
      <p:pic>
        <p:nvPicPr>
          <p:cNvPr id="2" name="Image 0" descr="img/nld-lockup-stacked-on-navy.png">    </p:cNvPr>
          <p:cNvPicPr>
            <a:picLocks noChangeAspect="1"/>
          </p:cNvPicPr>
          <p:nvPr/>
        </p:nvPicPr>
        <p:blipFill>
          <a:blip r:embed="rId1"/>
          <a:stretch>
            <a:fillRect/>
          </a:stretch>
        </p:blipFill>
        <p:spPr>
          <a:xfrm>
            <a:off x="5015108" y="640080"/>
            <a:ext cx="2161480" cy="2103120"/>
          </a:xfrm>
          <a:prstGeom prst="rect">
            <a:avLst/>
          </a:prstGeom>
        </p:spPr>
      </p:pic>
      <p:sp>
        <p:nvSpPr>
          <p:cNvPr id="3" name="Shape 0"/>
          <p:cNvSpPr/>
          <p:nvPr/>
        </p:nvSpPr>
        <p:spPr>
          <a:xfrm>
            <a:off x="5789524" y="3063240"/>
            <a:ext cx="612648" cy="25603"/>
          </a:xfrm>
          <a:prstGeom prst="rect">
            <a:avLst/>
          </a:prstGeom>
          <a:solidFill>
            <a:srgbClr val="B4622A"/>
          </a:solidFill>
          <a:ln/>
        </p:spPr>
      </p:sp>
      <p:sp>
        <p:nvSpPr>
          <p:cNvPr id="4" name="Text 1"/>
          <p:cNvSpPr/>
          <p:nvPr/>
        </p:nvSpPr>
        <p:spPr>
          <a:xfrm>
            <a:off x="1527048" y="3246120"/>
            <a:ext cx="9144000" cy="548640"/>
          </a:xfrm>
          <a:prstGeom prst="rect">
            <a:avLst/>
          </a:prstGeom>
          <a:noFill/>
          <a:ln/>
        </p:spPr>
        <p:txBody>
          <a:bodyPr wrap="square" lIns="0" tIns="0" rIns="0" bIns="0" rtlCol="0" anchor="t"/>
          <a:lstStyle/>
          <a:p>
            <a:pPr algn="ctr" indent="0" marL="0">
              <a:buNone/>
            </a:pPr>
            <a:r>
              <a:rPr lang="en-US" sz="3000" b="1" dirty="0">
                <a:solidFill>
                  <a:srgbClr val="F7F6F2"/>
                </a:solidFill>
              </a:rPr>
              <a:t>When amplitude changes the story</a:t>
            </a:r>
            <a:endParaRPr lang="en-US" sz="3000" dirty="0"/>
          </a:p>
        </p:txBody>
      </p:sp>
      <p:sp>
        <p:nvSpPr>
          <p:cNvPr id="5" name="Text 2"/>
          <p:cNvSpPr/>
          <p:nvPr/>
        </p:nvSpPr>
        <p:spPr>
          <a:xfrm>
            <a:off x="1527048" y="3840480"/>
            <a:ext cx="9144000" cy="411480"/>
          </a:xfrm>
          <a:prstGeom prst="rect">
            <a:avLst/>
          </a:prstGeom>
          <a:noFill/>
          <a:ln/>
        </p:spPr>
        <p:txBody>
          <a:bodyPr wrap="square" lIns="0" tIns="0" rIns="0" bIns="0" rtlCol="0" anchor="t"/>
          <a:lstStyle/>
          <a:p>
            <a:pPr algn="ctr" indent="0" marL="0">
              <a:buNone/>
            </a:pPr>
            <a:r>
              <a:rPr lang="en-US" sz="1800" dirty="0">
                <a:solidFill>
                  <a:srgbClr val="A9B6BF"/>
                </a:solidFill>
              </a:rPr>
              <a:t>In nonlinear structures, amplitude changes frequency, mode shape and stability.</a:t>
            </a:r>
            <a:endParaRPr lang="en-US" sz="1800" dirty="0"/>
          </a:p>
        </p:txBody>
      </p:sp>
      <p:sp>
        <p:nvSpPr>
          <p:cNvPr id="6" name="Text 3"/>
          <p:cNvSpPr/>
          <p:nvPr>
            <p:ph idx="104" type="body" hasCustomPrompt="1"/>
          </p:nvPr>
        </p:nvSpPr>
        <p:spPr>
          <a:xfrm>
            <a:off x="2441448" y="4800600"/>
            <a:ext cx="7315200" cy="1005840"/>
          </a:xfrm>
          <a:prstGeom prst="rect">
            <a:avLst/>
          </a:prstGeom>
          <a:noFill/>
          <a:ln/>
        </p:spPr>
        <p:txBody>
          <a:bodyPr wrap="square" rtlCol="0"/>
          <a:lstStyle>
            <a:lvl1pPr algn="ctr" indent="0" marL="0">
              <a:buNone/>
              <a:defRPr lang="en-US" sz="1700" dirty="0">
                <a:solidFill>
                  <a:srgbClr val="A9B6BF"/>
                </a:solidFill>
              </a:defRPr>
            </a:lvl1pPr>
          </a:lstStyle>
          <a:p>
            <a:pPr algn="ctr" indent="0" marL="0">
              <a:buNone/>
            </a:pPr>
            <a:r>
              <a:rPr lang="en-US" sz="1700" dirty="0">
                <a:solidFill>
                  <a:srgbClr val="A9B6BF"/>
                </a:solidFill>
              </a:rPr>
              <a:t>web.uri.edu/nld · chelidze@uri.edu</a:t>
            </a: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a:lstStyle/>
          <a:p>
            <a:r>
              <a:t>Differentiating and integrating measured motion</a:t>
            </a:r>
          </a:p>
        </p:txBody>
      </p:sp>
      <p:sp>
        <p:nvSpPr>
          <p:cNvPr id="3" name="Text Placeholder 2"/>
          <p:cNvSpPr>
            <a:spLocks noGrp="1"/>
          </p:cNvSpPr>
          <p:nvPr>
            <p:ph type="body" idx="104"/>
          </p:nvPr>
        </p:nvSpPr>
        <p:spPr/>
        <p:txBody>
          <a:bodyPr/>
          <a:lstStyle/>
          <a:p>
            <a:r>
              <a:rPr sz="1500"/>
              <a:t>Model-free kinematics from one sensor or two</a:t>
            </a:r>
          </a:p>
          <a:p>
            <a:r>
              <a:rPr sz="1500"/>
              <a:t>Nonlinear Dynamics Laboratory  ·  University of Rhode Island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PROBLEM</a:t>
            </a:r>
          </a:p>
        </p:txBody>
      </p:sp>
      <p:sp>
        <p:nvSpPr>
          <p:cNvPr id="3" name="Title 2"/>
          <p:cNvSpPr>
            <a:spLocks noGrp="1"/>
          </p:cNvSpPr>
          <p:nvPr>
            <p:ph type="title" idx="102"/>
          </p:nvPr>
        </p:nvSpPr>
        <p:spPr/>
        <p:txBody>
          <a:bodyPr/>
          <a:lstStyle/>
          <a:p>
            <a:r>
              <a:t>Two problems every vibration lab has</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700" b="0" i="1">
                <a:solidFill>
                  <a:srgbClr val="5B6168"/>
                </a:solidFill>
              </a:rPr>
              <a:t>The setting: one sensor type, and you need the other kinematic quantities</a:t>
            </a:r>
          </a:p>
          <a:p>
            <a:pPr marL="342900" indent="-285750">
              <a:spcAft>
                <a:spcPts val="800"/>
              </a:spcAft>
              <a:buClr>
                <a:srgbClr val="B4622A"/>
              </a:buClr>
              <a:buSzPct val="100000"/>
              <a:buChar char="•"/>
            </a:pPr>
            <a:r>
              <a:rPr sz="1800" b="0" i="0">
                <a:solidFill>
                  <a:srgbClr val="132433"/>
                </a:solidFill>
              </a:rPr>
              <a:t>You measured displacement (laser vibrometer, DIC, encoder) and you need velocity and acceleration.</a:t>
            </a:r>
          </a:p>
          <a:p>
            <a:pPr marL="685800" indent="-285750">
              <a:spcBef>
                <a:spcPts val="0"/>
              </a:spcBef>
              <a:spcAft>
                <a:spcPts val="600"/>
              </a:spcAft>
              <a:buClr>
                <a:srgbClr val="5B6168"/>
              </a:buClr>
              <a:buSzPct val="100000"/>
              <a:buChar char="–"/>
            </a:pPr>
            <a:r>
              <a:rPr sz="1500" b="0" i="0">
                <a:solidFill>
                  <a:srgbClr val="5B6168"/>
                </a:solidFill>
              </a:rPr>
              <a:t>Restoring-force surfaces, NNM energy balance, damping identification, model updating.</a:t>
            </a:r>
          </a:p>
          <a:p>
            <a:pPr marL="342900" indent="-285750">
              <a:spcAft>
                <a:spcPts val="800"/>
              </a:spcAft>
              <a:buClr>
                <a:srgbClr val="B4622A"/>
              </a:buClr>
              <a:buSzPct val="100000"/>
              <a:buChar char="•"/>
            </a:pPr>
            <a:r>
              <a:rPr sz="1800" b="0" i="0">
                <a:solidFill>
                  <a:srgbClr val="132433"/>
                </a:solidFill>
              </a:rPr>
              <a:t>You measured acceleration (the cheap, rugged, ubiquitous sensor) and you need velocity and displacement.</a:t>
            </a:r>
          </a:p>
          <a:p>
            <a:pPr marL="685800" indent="-285750">
              <a:spcBef>
                <a:spcPts val="0"/>
              </a:spcBef>
              <a:spcAft>
                <a:spcPts val="600"/>
              </a:spcAft>
              <a:buClr>
                <a:srgbClr val="5B6168"/>
              </a:buClr>
              <a:buSzPct val="100000"/>
              <a:buChar char="–"/>
            </a:pPr>
            <a:r>
              <a:rPr sz="1500" b="0" i="0">
                <a:solidFill>
                  <a:srgbClr val="5B6168"/>
                </a:solidFill>
              </a:rPr>
              <a:t>Mode shapes in physical units, drift-free response, base-excitation compensation, fatigue cycles.</a:t>
            </a:r>
          </a:p>
          <a:p>
            <a:pPr marL="342900" indent="-285750">
              <a:spcAft>
                <a:spcPts val="800"/>
              </a:spcAft>
              <a:buClr>
                <a:srgbClr val="B4622A"/>
              </a:buClr>
              <a:buSzPct val="100000"/>
              <a:buChar char="•"/>
            </a:pPr>
            <a:r>
              <a:rPr sz="1800" b="0" i="0">
                <a:solidFill>
                  <a:srgbClr val="132433"/>
                </a:solidFill>
              </a:rPr>
              <a:t>Both are routine requests. Both are harder than they look.</a:t>
            </a:r>
          </a:p>
          <a:p>
            <a:pPr marL="342900" indent="-285750">
              <a:spcAft>
                <a:spcPts val="800"/>
              </a:spcAft>
              <a:buClr>
                <a:srgbClr val="B4622A"/>
              </a:buClr>
              <a:buSzPct val="100000"/>
              <a:buChar char="•"/>
            </a:pPr>
            <a:r>
              <a:rPr sz="1800" b="0" i="0">
                <a:solidFill>
                  <a:srgbClr val="132433"/>
                </a:solidFill>
              </a:rPr>
              <a:t>The naive answers — finite differences one way, cumulative trapezoid the other — fail, and fail differently.</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PROBLEM</a:t>
            </a:r>
          </a:p>
        </p:txBody>
      </p:sp>
      <p:sp>
        <p:nvSpPr>
          <p:cNvPr id="3" name="Title 2"/>
          <p:cNvSpPr>
            <a:spLocks noGrp="1"/>
          </p:cNvSpPr>
          <p:nvPr>
            <p:ph type="title" idx="102"/>
          </p:nvPr>
        </p:nvSpPr>
        <p:spPr/>
        <p:txBody>
          <a:bodyPr/>
          <a:lstStyle/>
          <a:p>
            <a:r>
              <a:t>They are the same problem, run in opposite directions</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500" b="0" i="1">
                <a:solidFill>
                  <a:srgbClr val="5B6168"/>
                </a:solidFill>
              </a:rPr>
              <a:t>One framing that organises the whole landscape</a:t>
            </a:r>
          </a:p>
          <a:p>
            <a:pPr marL="342900" indent="-285750">
              <a:spcAft>
                <a:spcPts val="800"/>
              </a:spcAft>
              <a:buClr>
                <a:srgbClr val="B4622A"/>
              </a:buClr>
              <a:buSzPct val="100000"/>
              <a:buChar char="•"/>
            </a:pPr>
            <a:r>
              <a:rPr sz="1600" b="0" i="0">
                <a:solidFill>
                  <a:srgbClr val="132433"/>
                </a:solidFill>
              </a:rPr>
              <a:t>Write the measurement as  y = A u + e,  with A the integration operator.</a:t>
            </a:r>
          </a:p>
          <a:p>
            <a:pPr marL="685800" indent="-285750">
              <a:spcBef>
                <a:spcPts val="0"/>
              </a:spcBef>
              <a:spcAft>
                <a:spcPts val="600"/>
              </a:spcAft>
              <a:buClr>
                <a:srgbClr val="5B6168"/>
              </a:buClr>
              <a:buSzPct val="100000"/>
              <a:buChar char="–"/>
            </a:pPr>
            <a:r>
              <a:rPr sz="1300" b="0" i="0">
                <a:solidFill>
                  <a:srgbClr val="5B6168"/>
                </a:solidFill>
              </a:rPr>
              <a:t>Differentiation: u is the derivative you want, A integrates it back to what you measured.</a:t>
            </a:r>
          </a:p>
          <a:p>
            <a:pPr marL="685800" indent="-285750">
              <a:spcBef>
                <a:spcPts val="0"/>
              </a:spcBef>
              <a:spcAft>
                <a:spcPts val="600"/>
              </a:spcAft>
              <a:buClr>
                <a:srgbClr val="5B6168"/>
              </a:buClr>
              <a:buSzPct val="100000"/>
              <a:buChar char="–"/>
            </a:pPr>
            <a:r>
              <a:rPr sz="1300" b="0" i="0">
                <a:solidFill>
                  <a:srgbClr val="5B6168"/>
                </a:solidFill>
              </a:rPr>
              <a:t>Integration: u is the displacement, A integrates the acceleration twice.</a:t>
            </a:r>
          </a:p>
          <a:p>
            <a:pPr marL="342900" indent="-285750">
              <a:spcAft>
                <a:spcPts val="800"/>
              </a:spcAft>
              <a:buClr>
                <a:srgbClr val="B4622A"/>
              </a:buClr>
              <a:buSzPct val="100000"/>
              <a:buChar char="•"/>
            </a:pPr>
            <a:r>
              <a:rPr sz="1600" b="0" i="0">
                <a:solidFill>
                  <a:srgbClr val="132433"/>
                </a:solidFill>
              </a:rPr>
              <a:t>A is compact. Its inverse is unbounded. This is the definition of an ill-posed inverse problem.</a:t>
            </a:r>
          </a:p>
          <a:p>
            <a:pPr marL="342900" indent="-285750">
              <a:spcAft>
                <a:spcPts val="800"/>
              </a:spcAft>
              <a:buClr>
                <a:srgbClr val="B4622A"/>
              </a:buClr>
              <a:buSzPct val="100000"/>
              <a:buChar char="•"/>
            </a:pPr>
            <a:r>
              <a:rPr sz="1600" b="0" i="0">
                <a:solidFill>
                  <a:srgbClr val="132433"/>
                </a:solidFill>
              </a:rPr>
              <a:t>Noise is amplified without limit — by ω per derivative going up, by 1/ω per integration going down.</a:t>
            </a:r>
          </a:p>
          <a:p>
            <a:pPr marL="342900" indent="-285750">
              <a:spcAft>
                <a:spcPts val="800"/>
              </a:spcAft>
              <a:buClr>
                <a:srgbClr val="B4622A"/>
              </a:buClr>
              <a:buSzPct val="100000"/>
              <a:buChar char="•"/>
            </a:pPr>
            <a:r>
              <a:rPr sz="1600" b="0" i="0">
                <a:solidFill>
                  <a:srgbClr val="132433"/>
                </a:solidFill>
              </a:rPr>
              <a:t>No amount of cleverness removes this. It is a property of the operator, not of your algorithm.</a:t>
            </a:r>
          </a:p>
          <a:p>
            <a:pPr marL="342900" indent="-285750">
              <a:spcAft>
                <a:spcPts val="800"/>
              </a:spcAft>
              <a:buClr>
                <a:srgbClr val="B4622A"/>
              </a:buClr>
              <a:buSzPct val="100000"/>
              <a:buChar char="•"/>
            </a:pPr>
            <a:r>
              <a:rPr sz="1600" b="0" i="0">
                <a:solidFill>
                  <a:srgbClr val="132433"/>
                </a:solidFill>
              </a:rPr>
              <a:t>Every usable method therefore adds a regularity prior. That is the only thing that distinguishes them.</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PROBLEM</a:t>
            </a:r>
          </a:p>
        </p:txBody>
      </p:sp>
      <p:sp>
        <p:nvSpPr>
          <p:cNvPr id="3" name="Title 2"/>
          <p:cNvSpPr>
            <a:spLocks noGrp="1"/>
          </p:cNvSpPr>
          <p:nvPr>
            <p:ph type="title" idx="102"/>
          </p:nvPr>
        </p:nvSpPr>
        <p:spPr/>
        <p:txBody>
          <a:bodyPr/>
          <a:lstStyle/>
          <a:p>
            <a:r>
              <a:t>Why it is ill-posed</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Left: the amplification factor is unbounded at both ends. Right: the same effect on a real record — a 1% noise floor on position dominates the acceleration estimate above about 30 Hz.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PROBLEM</a:t>
            </a:r>
          </a:p>
        </p:txBody>
      </p:sp>
      <p:sp>
        <p:nvSpPr>
          <p:cNvPr id="3" name="Title 2"/>
          <p:cNvSpPr>
            <a:spLocks noGrp="1"/>
          </p:cNvSpPr>
          <p:nvPr>
            <p:ph type="title" idx="102"/>
          </p:nvPr>
        </p:nvSpPr>
        <p:spPr/>
        <p:txBody>
          <a:bodyPr/>
          <a:lstStyle/>
          <a:p>
            <a:r>
              <a:t>What happens if you ignore it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Left: second central difference of a 1% noisy position — 209% rms error. Right: plain cumulative trapezoid of an accelerometer with a 0.5% offset — 64x off scale in 3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PROBLEM</a:t>
            </a:r>
          </a:p>
        </p:txBody>
      </p:sp>
      <p:sp>
        <p:nvSpPr>
          <p:cNvPr id="3" name="Title 2"/>
          <p:cNvSpPr>
            <a:spLocks noGrp="1"/>
          </p:cNvSpPr>
          <p:nvPr>
            <p:ph type="title" idx="102"/>
          </p:nvPr>
        </p:nvSpPr>
        <p:spPr/>
        <p:txBody>
          <a:bodyPr/>
          <a:lstStyle/>
          <a:p>
            <a:r>
              <a:t>The only cure: state a prior</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sp>
        <p:nvSpPr>
          <p:cNvPr id="26" name="TextBox 25"/>
          <p:cNvSpPr txBox="1"/>
          <p:nvPr/>
        </p:nvSpPr>
        <p:spPr>
          <a:xfrm>
            <a:off x="612648" y="1901952"/>
            <a:ext cx="10972800" cy="365760"/>
          </a:xfrm>
          <a:prstGeom prst="rect">
            <a:avLst/>
          </a:prstGeom>
          <a:noFill/>
        </p:spPr>
        <p:txBody>
          <a:bodyPr wrap="square" lIns="0" rIns="0" tIns="0" bIns="0">
            <a:spAutoFit/>
          </a:bodyPr>
          <a:lstStyle/>
          <a:p>
            <a:r>
              <a:rPr sz="1500" b="0" i="1">
                <a:solidFill>
                  <a:srgbClr val="5B6168"/>
                </a:solidFill>
              </a:rPr>
              <a:t>Methods differ only in which regularity prior they impose — pick the row you actually believe</a:t>
            </a:r>
          </a:p>
        </p:txBody>
      </p:sp>
      <p:graphicFrame>
        <p:nvGraphicFramePr>
          <p:cNvPr id="27" name="Table 26"/>
          <p:cNvGraphicFramePr>
            <a:graphicFrameLocks noGrp="1"/>
          </p:cNvGraphicFramePr>
          <p:nvPr/>
        </p:nvGraphicFramePr>
        <p:xfrm>
          <a:off x="612648" y="2377440"/>
          <a:ext cx="10972799" cy="2926080"/>
        </p:xfrm>
        <a:graphic>
          <a:graphicData uri="http://schemas.openxmlformats.org/drawingml/2006/table">
            <a:tbl>
              <a:tblPr firstRow="0" bandRow="0">
                <a:tableStyleId>{5940675A-B579-460E-94D1-54222C63F5DA}</a:tableStyleId>
              </a:tblPr>
              <a:tblGrid>
                <a:gridCol w="5869172"/>
                <a:gridCol w="5103627"/>
              </a:tblGrid>
              <a:tr h="365760">
                <a:tc>
                  <a:txBody>
                    <a:bodyPr/>
                    <a:lstStyle/>
                    <a:p>
                      <a:r>
                        <a:rPr sz="1300" b="1" i="0">
                          <a:solidFill>
                            <a:srgbClr val="F7F6F2"/>
                          </a:solidFill>
                        </a:rPr>
                        <a:t>What you are willing to assume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300" b="1" i="0">
                          <a:solidFill>
                            <a:srgbClr val="F7F6F2"/>
                          </a:solidFill>
                        </a:rPr>
                        <a:t>The method it gives you</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r>
              <a:tr h="365760">
                <a:tc>
                  <a:txBody>
                    <a:bodyPr/>
                    <a:lstStyle/>
                    <a:p>
                      <a:r>
                        <a:rPr sz="1400" b="1" i="0">
                          <a:solidFill>
                            <a:srgbClr val="132433"/>
                          </a:solidFill>
                        </a:rPr>
                        <a:t>The signal is bandlimited and periodic</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Spectral / FFT differentiation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It is locally a low-order polynomial</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Savitzky–Golay, Lanczos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400" b="1" i="0">
                          <a:solidFill>
                            <a:srgbClr val="132433"/>
                          </a:solidFill>
                        </a:rPr>
                        <a:t>It lies in a low-rank delay-embedding subspace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Delay SVD (SSA) / SOD — now in the toolbox</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Its p-th derivative is small in L2</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Whittaker–Henderson, Tikhonov, smoothing spline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400" b="1" i="0">
                          <a:solidFill>
                            <a:srgbClr val="132433"/>
                          </a:solidFill>
                        </a:rPr>
                        <a:t>Its derivative is piecewise constant (L1)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Total variation (Chartrand)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It is an integrated Wiener process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Kalman / RTS smoother  ≡  Gaussian process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400" b="1" i="0">
                          <a:solidFill>
                            <a:srgbClr val="132433"/>
                          </a:solidFill>
                        </a:rPr>
                        <a:t>Its third derivative is bounded by a known constant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Levant sliding-mode (causal, online)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01</a:t>
            </a:r>
          </a:p>
        </p:txBody>
      </p:sp>
      <p:sp>
        <p:nvSpPr>
          <p:cNvPr id="3" name="Title 2"/>
          <p:cNvSpPr>
            <a:spLocks noGrp="1"/>
          </p:cNvSpPr>
          <p:nvPr>
            <p:ph type="title" idx="102"/>
          </p:nvPr>
        </p:nvSpPr>
        <p:spPr/>
        <p:txBody>
          <a:bodyPr/>
          <a:lstStyle/>
          <a:p>
            <a:r>
              <a:t>Differentiation methods</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1003</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Spectral (FFT) differentiation</a:t>
            </a:r>
          </a:p>
        </p:txBody>
      </p:sp>
      <p:sp>
        <p:nvSpPr>
          <p:cNvPr id="4" name="Text Placeholder 3"/>
          <p:cNvSpPr>
            <a:spLocks noGrp="1"/>
          </p:cNvSpPr>
          <p:nvPr>
            <p:ph type="body" idx="103"/>
          </p:nvPr>
        </p:nvSpPr>
        <p:spPr>
          <a:xfrm>
            <a:off x="612648" y="2606040"/>
            <a:ext cx="5257800" cy="274320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500" b="0" i="0">
                <a:solidFill>
                  <a:srgbClr val="132433"/>
                </a:solidFill>
              </a:rPr>
              <a:t>Exact for a bandlimited periodic signal — no discretisation error at all</a:t>
            </a:r>
          </a:p>
          <a:p>
            <a:pPr marL="342900" indent="-285750">
              <a:spcAft>
                <a:spcPts val="600"/>
              </a:spcAft>
              <a:buClr>
                <a:srgbClr val="B4622A"/>
              </a:buClr>
              <a:buSzPct val="100000"/>
              <a:buChar char="•"/>
            </a:pPr>
            <a:r>
              <a:rPr sz="1500" b="0" i="0">
                <a:solidFill>
                  <a:srgbClr val="132433"/>
                </a:solidFill>
              </a:rPr>
              <a:t>Most accurate of any method in the interior of a long record (0.54% velocity error here)</a:t>
            </a:r>
          </a:p>
          <a:p>
            <a:pPr marL="342900" indent="-285750">
              <a:spcAft>
                <a:spcPts val="600"/>
              </a:spcAft>
              <a:buClr>
                <a:srgbClr val="B4622A"/>
              </a:buClr>
              <a:buSzPct val="100000"/>
              <a:buChar char="•"/>
            </a:pPr>
            <a:r>
              <a:rPr sz="1500" b="0" i="0">
                <a:solidFill>
                  <a:srgbClr val="132433"/>
                </a:solidFill>
              </a:rPr>
              <a:t>Trivial to implement, O(N log N), and the cutoff has an obvious physical meaning</a:t>
            </a:r>
          </a:p>
          <a:p>
            <a:pPr marL="342900" indent="-285750">
              <a:spcAft>
                <a:spcPts val="600"/>
              </a:spcAft>
              <a:buClr>
                <a:srgbClr val="B4622A"/>
              </a:buClr>
              <a:buSzPct val="100000"/>
              <a:buChar char="•"/>
            </a:pPr>
            <a:r>
              <a:rPr sz="1500" b="0" i="0">
                <a:solidFill>
                  <a:srgbClr val="132433"/>
                </a:solidFill>
              </a:rPr>
              <a:t>The natural choice when you already work in the frequency domain</a:t>
            </a:r>
          </a:p>
        </p:txBody>
      </p:sp>
      <p:sp>
        <p:nvSpPr>
          <p:cNvPr id="5" name="Text Placeholder 4"/>
          <p:cNvSpPr>
            <a:spLocks noGrp="1"/>
          </p:cNvSpPr>
          <p:nvPr>
            <p:ph type="body" idx="104"/>
          </p:nvPr>
        </p:nvSpPr>
        <p:spPr>
          <a:xfrm>
            <a:off x="6327648" y="2606040"/>
            <a:ext cx="5257800" cy="274320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500" b="0" i="0">
                <a:solidFill>
                  <a:srgbClr val="132433"/>
                </a:solidFill>
              </a:rPr>
              <a:t>Enforces periodicity — catastrophic at the record ends (next slide)</a:t>
            </a:r>
          </a:p>
          <a:p>
            <a:pPr marL="342900" indent="-285750">
              <a:spcAft>
                <a:spcPts val="600"/>
              </a:spcAft>
              <a:buClr>
                <a:srgbClr val="B4622A"/>
              </a:buClr>
              <a:buSzPct val="100000"/>
              <a:buChar char="•"/>
            </a:pPr>
            <a:r>
              <a:rPr sz="1500" b="0" i="0">
                <a:solidFill>
                  <a:srgbClr val="132433"/>
                </a:solidFill>
              </a:rPr>
              <a:t>Needs uniform sampling and a gap-free record</a:t>
            </a:r>
          </a:p>
          <a:p>
            <a:pPr marL="342900" indent="-285750">
              <a:spcAft>
                <a:spcPts val="600"/>
              </a:spcAft>
              <a:buClr>
                <a:srgbClr val="B4622A"/>
              </a:buClr>
              <a:buSzPct val="100000"/>
              <a:buChar char="•"/>
            </a:pPr>
            <a:r>
              <a:rPr sz="1500" b="0" i="0">
                <a:solidFill>
                  <a:srgbClr val="132433"/>
                </a:solidFill>
              </a:rPr>
              <a:t>Cutoff must be chosen; too high amplifies noise, too low removes signal</a:t>
            </a:r>
          </a:p>
          <a:p>
            <a:pPr marL="342900" indent="-285750">
              <a:spcAft>
                <a:spcPts val="600"/>
              </a:spcAft>
              <a:buClr>
                <a:srgbClr val="B4622A"/>
              </a:buClr>
              <a:buSzPct val="100000"/>
              <a:buChar char="•"/>
            </a:pPr>
            <a:r>
              <a:rPr sz="1500" b="0" i="0">
                <a:solidFill>
                  <a:srgbClr val="132433"/>
                </a:solidFill>
              </a:rPr>
              <a:t>Leakage if the record is not an integer number of periods (taper, then divide it out)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Multiply the spectrum by (iω)ⁿ, roll off above a cutoff, transform back.</a:t>
            </a:r>
          </a:p>
        </p:txBody>
      </p:sp>
      <p:sp>
        <p:nvSpPr>
          <p:cNvPr id="27" name="Rectangle 26"/>
          <p:cNvSpPr/>
          <p:nvPr/>
        </p:nvSpPr>
        <p:spPr>
          <a:xfrm>
            <a:off x="612648" y="5440680"/>
            <a:ext cx="10972800" cy="713232"/>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The record is long, uniformly sampled, and you only care about the middle of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The FFT caveat that costs people real results</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Velocity over the last 0.2 s of a 3 s free decay. Interior error 0.54%; over the full record, 8.4% — a 15x degradation.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Savitzky–Golay</a:t>
            </a:r>
          </a:p>
        </p:txBody>
      </p:sp>
      <p:sp>
        <p:nvSpPr>
          <p:cNvPr id="4" name="Text Placeholder 3"/>
          <p:cNvSpPr>
            <a:spLocks noGrp="1"/>
          </p:cNvSpPr>
          <p:nvPr>
            <p:ph type="body" idx="103"/>
          </p:nvPr>
        </p:nvSpPr>
        <p:spPr>
          <a:xfrm>
            <a:off x="612648" y="2606040"/>
            <a:ext cx="5257800" cy="274320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500" b="0" i="0">
                <a:solidFill>
                  <a:srgbClr val="132433"/>
                </a:solidFill>
              </a:rPr>
              <a:t>Simple, fast, and available in every toolbox</a:t>
            </a:r>
          </a:p>
          <a:p>
            <a:pPr marL="342900" indent="-285750">
              <a:spcAft>
                <a:spcPts val="600"/>
              </a:spcAft>
              <a:buClr>
                <a:srgbClr val="B4622A"/>
              </a:buClr>
              <a:buSzPct val="100000"/>
              <a:buChar char="•"/>
            </a:pPr>
            <a:r>
              <a:rPr sz="1500" b="0" i="0">
                <a:solidFill>
                  <a:srgbClr val="132433"/>
                </a:solidFill>
              </a:rPr>
              <a:t>No periodicity assumption — much better behaved at the ends than the FFT</a:t>
            </a:r>
          </a:p>
          <a:p>
            <a:pPr marL="342900" indent="-285750">
              <a:spcAft>
                <a:spcPts val="600"/>
              </a:spcAft>
              <a:buClr>
                <a:srgbClr val="B4622A"/>
              </a:buClr>
              <a:buSzPct val="100000"/>
              <a:buChar char="•"/>
            </a:pPr>
            <a:r>
              <a:rPr sz="1500" b="0" i="0">
                <a:solidFill>
                  <a:srgbClr val="132433"/>
                </a:solidFill>
              </a:rPr>
              <a:t>Preserves peak heights and widths better than a plain moving average</a:t>
            </a:r>
          </a:p>
          <a:p>
            <a:pPr marL="342900" indent="-285750">
              <a:spcAft>
                <a:spcPts val="600"/>
              </a:spcAft>
              <a:buClr>
                <a:srgbClr val="B4622A"/>
              </a:buClr>
              <a:buSzPct val="100000"/>
              <a:buChar char="•"/>
            </a:pPr>
            <a:r>
              <a:rPr sz="1500" b="0" i="0">
                <a:solidFill>
                  <a:srgbClr val="132433"/>
                </a:solidFill>
              </a:rPr>
              <a:t>Window length maps to a cutoff via Schafer's rule, so it can be set from physics</a:t>
            </a:r>
          </a:p>
        </p:txBody>
      </p:sp>
      <p:sp>
        <p:nvSpPr>
          <p:cNvPr id="5" name="Text Placeholder 4"/>
          <p:cNvSpPr>
            <a:spLocks noGrp="1"/>
          </p:cNvSpPr>
          <p:nvPr>
            <p:ph type="body" idx="104"/>
          </p:nvPr>
        </p:nvSpPr>
        <p:spPr>
          <a:xfrm>
            <a:off x="6327648" y="2606040"/>
            <a:ext cx="5257800" cy="274320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500" b="0" i="0">
                <a:solidFill>
                  <a:srgbClr val="132433"/>
                </a:solidFill>
              </a:rPr>
              <a:t>Two knobs (window, polynomial order) that interact</a:t>
            </a:r>
          </a:p>
          <a:p>
            <a:pPr marL="342900" indent="-285750">
              <a:spcAft>
                <a:spcPts val="600"/>
              </a:spcAft>
              <a:buClr>
                <a:srgbClr val="B4622A"/>
              </a:buClr>
              <a:buSzPct val="100000"/>
              <a:buChar char="•"/>
            </a:pPr>
            <a:r>
              <a:rPr sz="1500" b="0" i="0">
                <a:solidFill>
                  <a:srgbClr val="132433"/>
                </a:solidFill>
              </a:rPr>
              <a:t>Implicitly assumes the signal is polynomial over the window — poor for lightly damped resonance</a:t>
            </a:r>
          </a:p>
          <a:p>
            <a:pPr marL="342900" indent="-285750">
              <a:spcAft>
                <a:spcPts val="600"/>
              </a:spcAft>
              <a:buClr>
                <a:srgbClr val="B4622A"/>
              </a:buClr>
              <a:buSzPct val="100000"/>
              <a:buChar char="•"/>
            </a:pPr>
            <a:r>
              <a:rPr sz="1500" b="0" i="0">
                <a:solidFill>
                  <a:srgbClr val="132433"/>
                </a:solidFill>
              </a:rPr>
              <a:t>Noticeably worse than an L2 penalty for second derivatives (2.4% vs 0.9% here)</a:t>
            </a:r>
          </a:p>
          <a:p>
            <a:pPr marL="342900" indent="-285750">
              <a:spcAft>
                <a:spcPts val="600"/>
              </a:spcAft>
              <a:buClr>
                <a:srgbClr val="B4622A"/>
              </a:buClr>
              <a:buSzPct val="100000"/>
              <a:buChar char="•"/>
            </a:pPr>
            <a:r>
              <a:rPr sz="1500" b="0" i="0">
                <a:solidFill>
                  <a:srgbClr val="132433"/>
                </a:solidFill>
              </a:rPr>
              <a:t>Edge behaviour depends on the padding convention, which differs between implementations</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Fit a low-order polynomial in a sliding window; differentiate the polynomial analytically.</a:t>
            </a:r>
          </a:p>
        </p:txBody>
      </p:sp>
      <p:sp>
        <p:nvSpPr>
          <p:cNvPr id="27" name="Rectangle 26"/>
          <p:cNvSpPr/>
          <p:nvPr/>
        </p:nvSpPr>
        <p:spPr>
          <a:xfrm>
            <a:off x="612648" y="5440680"/>
            <a:ext cx="10972800" cy="713232"/>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You want something defensible in ten lines with no linear solve, and first derivatives are enough.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Whittaker–Henderson and Tikhonov</a:t>
            </a:r>
          </a:p>
        </p:txBody>
      </p:sp>
      <p:sp>
        <p:nvSpPr>
          <p:cNvPr id="4" name="Text Placeholder 3"/>
          <p:cNvSpPr>
            <a:spLocks noGrp="1"/>
          </p:cNvSpPr>
          <p:nvPr>
            <p:ph type="body" idx="103"/>
          </p:nvPr>
        </p:nvSpPr>
        <p:spPr>
          <a:xfrm>
            <a:off x="612648" y="2606040"/>
            <a:ext cx="5257800" cy="274320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500" b="0" i="0">
                <a:solidFill>
                  <a:srgbClr val="132433"/>
                </a:solidFill>
              </a:rPr>
              <a:t>One sparse banded solve — O(N), no iteration, no convergence to check</a:t>
            </a:r>
          </a:p>
          <a:p>
            <a:pPr marL="342900" indent="-285750">
              <a:spcAft>
                <a:spcPts val="600"/>
              </a:spcAft>
              <a:buClr>
                <a:srgbClr val="B4622A"/>
              </a:buClr>
              <a:buSzPct val="100000"/>
              <a:buChar char="•"/>
            </a:pPr>
            <a:r>
              <a:rPr sz="1500" b="0" i="0">
                <a:solidFill>
                  <a:srgbClr val="132433"/>
                </a:solidFill>
              </a:rPr>
              <a:t>Flat accuracy across the whole record, ends included</a:t>
            </a:r>
          </a:p>
          <a:p>
            <a:pPr marL="342900" indent="-285750">
              <a:spcAft>
                <a:spcPts val="600"/>
              </a:spcAft>
              <a:buClr>
                <a:srgbClr val="B4622A"/>
              </a:buClr>
              <a:buSzPct val="100000"/>
              <a:buChar char="•"/>
            </a:pPr>
            <a:r>
              <a:rPr sz="1500" b="0" i="0">
                <a:solidFill>
                  <a:srgbClr val="132433"/>
                </a:solidFill>
              </a:rPr>
              <a:t>λ has a closed-form map to a cutoff frequency, so no blind parameter sweep</a:t>
            </a:r>
          </a:p>
          <a:p>
            <a:pPr marL="342900" indent="-285750">
              <a:spcAft>
                <a:spcPts val="600"/>
              </a:spcAft>
              <a:buClr>
                <a:srgbClr val="B4622A"/>
              </a:buClr>
              <a:buSzPct val="100000"/>
              <a:buChar char="•"/>
            </a:pPr>
            <a:r>
              <a:rPr sz="1500" b="0" i="0">
                <a:solidFill>
                  <a:srgbClr val="132433"/>
                </a:solidFill>
              </a:rPr>
              <a:t>Same machinery runs the integration direction (Tikhonov) — one implementation, both tasks</a:t>
            </a:r>
          </a:p>
        </p:txBody>
      </p:sp>
      <p:sp>
        <p:nvSpPr>
          <p:cNvPr id="5" name="Text Placeholder 4"/>
          <p:cNvSpPr>
            <a:spLocks noGrp="1"/>
          </p:cNvSpPr>
          <p:nvPr>
            <p:ph type="body" idx="104"/>
          </p:nvPr>
        </p:nvSpPr>
        <p:spPr>
          <a:xfrm>
            <a:off x="6327648" y="2606040"/>
            <a:ext cx="5257800" cy="274320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500" b="0" i="0">
                <a:solidFill>
                  <a:srgbClr val="132433"/>
                </a:solidFill>
              </a:rPr>
              <a:t>Still one knob, and the optimum is sharp for second derivatives</a:t>
            </a:r>
          </a:p>
          <a:p>
            <a:pPr marL="342900" indent="-285750">
              <a:spcAft>
                <a:spcPts val="600"/>
              </a:spcAft>
              <a:buClr>
                <a:srgbClr val="B4622A"/>
              </a:buClr>
              <a:buSzPct val="100000"/>
              <a:buChar char="•"/>
            </a:pPr>
            <a:r>
              <a:rPr sz="1500" b="0" i="0">
                <a:solidFill>
                  <a:srgbClr val="132433"/>
                </a:solidFill>
              </a:rPr>
              <a:t>Quadratic penalty rounds off genuine corners — wrong prior for impacting systems</a:t>
            </a:r>
          </a:p>
          <a:p>
            <a:pPr marL="342900" indent="-285750">
              <a:spcAft>
                <a:spcPts val="600"/>
              </a:spcAft>
              <a:buClr>
                <a:srgbClr val="B4622A"/>
              </a:buClr>
              <a:buSzPct val="100000"/>
              <a:buChar char="•"/>
            </a:pPr>
            <a:r>
              <a:rPr sz="1500" b="0" i="0">
                <a:solidFill>
                  <a:srgbClr val="132433"/>
                </a:solidFill>
              </a:rPr>
              <a:t>The normal matrix is badly scaled; use a sparse direct solver, not an iterative one</a:t>
            </a:r>
          </a:p>
          <a:p>
            <a:pPr marL="342900" indent="-285750">
              <a:spcAft>
                <a:spcPts val="600"/>
              </a:spcAft>
              <a:buClr>
                <a:srgbClr val="B4622A"/>
              </a:buClr>
              <a:buSzPct val="100000"/>
              <a:buChar char="•"/>
            </a:pPr>
            <a:r>
              <a:rPr sz="1500" b="0" i="0">
                <a:solidFill>
                  <a:srgbClr val="132433"/>
                </a:solidFill>
              </a:rPr>
              <a:t>No uncertainty estimate comes out of it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Penalise the p-th derivative in L2: min ‖s − x‖² + λ‖Dᵖs‖². One banded solve.</a:t>
            </a:r>
          </a:p>
        </p:txBody>
      </p:sp>
      <p:sp>
        <p:nvSpPr>
          <p:cNvPr id="27" name="Rectangle 26"/>
          <p:cNvSpPr/>
          <p:nvPr/>
        </p:nvSpPr>
        <p:spPr>
          <a:xfrm>
            <a:off x="612648" y="5440680"/>
            <a:ext cx="10972800" cy="713232"/>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This is the sensible default for smooth vibration data. Start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Every method has an optimum you have to find</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Error against exact ground truth as the cutoff is swept, 1% position noise. The dashed line is the self-tuned state-space smoother, which has no knob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Setting the knob from physics, not from a sweep</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sp>
        <p:nvSpPr>
          <p:cNvPr id="26" name="TextBox 25"/>
          <p:cNvSpPr txBox="1"/>
          <p:nvPr/>
        </p:nvSpPr>
        <p:spPr>
          <a:xfrm>
            <a:off x="612648" y="1901952"/>
            <a:ext cx="10972800" cy="365760"/>
          </a:xfrm>
          <a:prstGeom prst="rect">
            <a:avLst/>
          </a:prstGeom>
          <a:noFill/>
        </p:spPr>
        <p:txBody>
          <a:bodyPr wrap="square" lIns="0" rIns="0" tIns="0" bIns="0">
            <a:spAutoFit/>
          </a:bodyPr>
          <a:lstStyle/>
          <a:p>
            <a:r>
              <a:rPr sz="1500" b="0" i="1">
                <a:solidFill>
                  <a:srgbClr val="5B6168"/>
                </a:solidFill>
              </a:rPr>
              <a:t>Every L2 method has a closed-form map from a corner frequency in Hz to its penalty weight</a:t>
            </a:r>
          </a:p>
        </p:txBody>
      </p:sp>
      <p:graphicFrame>
        <p:nvGraphicFramePr>
          <p:cNvPr id="27" name="Table 26"/>
          <p:cNvGraphicFramePr>
            <a:graphicFrameLocks noGrp="1"/>
          </p:cNvGraphicFramePr>
          <p:nvPr/>
        </p:nvGraphicFramePr>
        <p:xfrm>
          <a:off x="612648" y="2377440"/>
          <a:ext cx="10972798" cy="2560320"/>
        </p:xfrm>
        <a:graphic>
          <a:graphicData uri="http://schemas.openxmlformats.org/drawingml/2006/table">
            <a:tbl>
              <a:tblPr firstRow="0" bandRow="0">
                <a:tableStyleId>{5940675A-B579-460E-94D1-54222C63F5DA}</a:tableStyleId>
              </a:tblPr>
              <a:tblGrid>
                <a:gridCol w="3444948"/>
                <a:gridCol w="1403497"/>
                <a:gridCol w="2934586"/>
                <a:gridCol w="3189767"/>
              </a:tblGrid>
              <a:tr h="365760">
                <a:tc>
                  <a:txBody>
                    <a:bodyPr/>
                    <a:lstStyle/>
                    <a:p>
                      <a:r>
                        <a:rPr sz="1300" b="1" i="0">
                          <a:solidFill>
                            <a:srgbClr val="F7F6F2"/>
                          </a:solidFill>
                        </a:rPr>
                        <a:t>Method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300" b="1" i="0">
                          <a:solidFill>
                            <a:srgbClr val="F7F6F2"/>
                          </a:solidFill>
                        </a:rPr>
                        <a:t>Parameter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300" b="1" i="0">
                          <a:solidFill>
                            <a:srgbClr val="F7F6F2"/>
                          </a:solidFill>
                        </a:rPr>
                        <a:t>Rule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300" b="1" i="0">
                          <a:solidFill>
                            <a:srgbClr val="F7F6F2"/>
                          </a:solidFill>
                        </a:rPr>
                        <a:t>Set it from</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r>
              <a:tr h="365760">
                <a:tc>
                  <a:txBody>
                    <a:bodyPr/>
                    <a:lstStyle/>
                    <a:p>
                      <a:r>
                        <a:rPr sz="1400" b="1" i="0">
                          <a:solidFill>
                            <a:srgbClr val="132433"/>
                          </a:solidFill>
                        </a:rPr>
                        <a:t>Whittaker–Henderson (order p)</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λ</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λ = (2π fᶜ)⁻²ᵖ</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Highest mode you care about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Tikhonov integration (order 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λ</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λ = (2π fᶜ)²ⁿ</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Lowest frequency you trust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400" b="1" i="0">
                          <a:solidFill>
                            <a:srgbClr val="132433"/>
                          </a:solidFill>
                        </a:rPr>
                        <a:t>Savitzky–Golay</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window 2M+1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fᶜΔt ≈ (k+1)/(3.2M − 4.6)</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Schafer's −3 dB rule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Spectral</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cutoff</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direct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Where the PSD meets the noise floor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400" b="1" i="0">
                          <a:solidFill>
                            <a:srgbClr val="132433"/>
                          </a:solidFill>
                        </a:rPr>
                        <a:t>Total variation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α</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no closed form</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400" b="0" i="0">
                          <a:solidFill>
                            <a:srgbClr val="132433"/>
                          </a:solidFill>
                        </a:rPr>
                        <a:t>Sweep; scale-sensitive, normalise first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400" b="1" i="0">
                          <a:solidFill>
                            <a:srgbClr val="132433"/>
                          </a:solidFill>
                        </a:rPr>
                        <a:t>State-space smoother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q</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fitted automatically</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400" b="0" i="0">
                          <a:solidFill>
                            <a:srgbClr val="132433"/>
                          </a:solidFill>
                        </a:rPr>
                        <a:t>Marginal likelihood — nothing to set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Total variation (L1)</a:t>
            </a:r>
          </a:p>
        </p:txBody>
      </p:sp>
      <p:sp>
        <p:nvSpPr>
          <p:cNvPr id="4" name="Text Placeholder 3"/>
          <p:cNvSpPr>
            <a:spLocks noGrp="1"/>
          </p:cNvSpPr>
          <p:nvPr>
            <p:ph type="body" idx="103"/>
          </p:nvPr>
        </p:nvSpPr>
        <p:spPr>
          <a:xfrm>
            <a:off x="612648" y="2606040"/>
            <a:ext cx="5257800" cy="274320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500" b="0" i="0">
                <a:solidFill>
                  <a:srgbClr val="132433"/>
                </a:solidFill>
              </a:rPr>
              <a:t>The only family that preserves a genuine discontinuity in the derivative</a:t>
            </a:r>
          </a:p>
          <a:p>
            <a:pPr marL="342900" indent="-285750">
              <a:spcAft>
                <a:spcPts val="600"/>
              </a:spcAft>
              <a:buClr>
                <a:srgbClr val="B4622A"/>
              </a:buClr>
              <a:buSzPct val="100000"/>
              <a:buChar char="•"/>
            </a:pPr>
            <a:r>
              <a:rPr sz="1500" b="0" i="0">
                <a:solidFill>
                  <a:srgbClr val="132433"/>
                </a:solidFill>
              </a:rPr>
              <a:t>Best method tested at an impact: 16.9% vs 21–25% for every quadratic penalty</a:t>
            </a:r>
          </a:p>
          <a:p>
            <a:pPr marL="342900" indent="-285750">
              <a:spcAft>
                <a:spcPts val="600"/>
              </a:spcAft>
              <a:buClr>
                <a:srgbClr val="B4622A"/>
              </a:buClr>
              <a:buSzPct val="100000"/>
              <a:buChar char="•"/>
            </a:pPr>
            <a:r>
              <a:rPr sz="1500" b="0" i="0">
                <a:solidFill>
                  <a:srgbClr val="132433"/>
                </a:solidFill>
              </a:rPr>
              <a:t>Physically the right prior for impacts, stick–slip, backlash, dry friction reversal</a:t>
            </a:r>
          </a:p>
          <a:p>
            <a:pPr marL="342900" indent="-285750">
              <a:spcAft>
                <a:spcPts val="600"/>
              </a:spcAft>
              <a:buClr>
                <a:srgbClr val="B4622A"/>
              </a:buClr>
              <a:buSzPct val="100000"/>
              <a:buChar char="•"/>
            </a:pPr>
            <a:r>
              <a:rPr sz="1500" b="0" i="0">
                <a:solidFill>
                  <a:srgbClr val="132433"/>
                </a:solidFill>
              </a:rPr>
              <a:t>Recovers a piecewise-constant derivative exactly in the noise-free limit</a:t>
            </a:r>
          </a:p>
        </p:txBody>
      </p:sp>
      <p:sp>
        <p:nvSpPr>
          <p:cNvPr id="5" name="Text Placeholder 4"/>
          <p:cNvSpPr>
            <a:spLocks noGrp="1"/>
          </p:cNvSpPr>
          <p:nvPr>
            <p:ph type="body" idx="104"/>
          </p:nvPr>
        </p:nvSpPr>
        <p:spPr>
          <a:xfrm>
            <a:off x="6327648" y="2606040"/>
            <a:ext cx="5257800" cy="274320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500" b="0" i="0">
                <a:solidFill>
                  <a:srgbClr val="132433"/>
                </a:solidFill>
              </a:rPr>
              <a:t>Several times worse than an L2 penalty on smooth signals — 5.1% vs 0.5% here</a:t>
            </a:r>
          </a:p>
          <a:p>
            <a:pPr marL="342900" indent="-285750">
              <a:spcAft>
                <a:spcPts val="600"/>
              </a:spcAft>
              <a:buClr>
                <a:srgbClr val="B4622A"/>
              </a:buClr>
              <a:buSzPct val="100000"/>
              <a:buChar char="•"/>
            </a:pPr>
            <a:r>
              <a:rPr sz="1500" b="0" i="0">
                <a:solidFill>
                  <a:srgbClr val="132433"/>
                </a:solidFill>
              </a:rPr>
              <a:t>Iterative, no closed form, and the objective is non-smooth</a:t>
            </a:r>
          </a:p>
          <a:p>
            <a:pPr marL="342900" indent="-285750">
              <a:spcAft>
                <a:spcPts val="600"/>
              </a:spcAft>
              <a:buClr>
                <a:srgbClr val="B4622A"/>
              </a:buClr>
              <a:buSzPct val="100000"/>
              <a:buChar char="•"/>
            </a:pPr>
            <a:r>
              <a:rPr sz="1500" b="0" i="0">
                <a:solidFill>
                  <a:srgbClr val="132433"/>
                </a:solidFill>
              </a:rPr>
              <a:t>α is tied to absolute signal scale — normalise before, rescale after</a:t>
            </a:r>
          </a:p>
          <a:p>
            <a:pPr marL="342900" indent="-285750">
              <a:spcAft>
                <a:spcPts val="600"/>
              </a:spcAft>
              <a:buClr>
                <a:srgbClr val="B4622A"/>
              </a:buClr>
              <a:buSzPct val="100000"/>
              <a:buChar char="•"/>
            </a:pPr>
            <a:r>
              <a:rPr sz="1500" b="0" i="0">
                <a:solidFill>
                  <a:srgbClr val="132433"/>
                </a:solidFill>
              </a:rPr>
              <a:t>The naive solver silently fails to converge (next slide)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Penalise ‖Du‖₁ instead of ‖Du‖₂. The L1 norm does not punish a single large jump.</a:t>
            </a:r>
          </a:p>
        </p:txBody>
      </p:sp>
      <p:sp>
        <p:nvSpPr>
          <p:cNvPr id="27" name="Rectangle 26"/>
          <p:cNvSpPr/>
          <p:nvPr/>
        </p:nvSpPr>
        <p:spPr>
          <a:xfrm>
            <a:off x="612648" y="5440680"/>
            <a:ext cx="10972800" cy="713232"/>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Your derivative genuinely jumps. Otherwise do not — it is the wrong prior for smooth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Where the L1 penalty earns its place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Vibro-impact oscillator, restitution 0.85. Left: one impact, velocity jumps. Right: velocity error within ±4 ms of contact, best setting per method.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A cautionary tale: the solver was the result</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500" b="0" i="1">
                <a:solidFill>
                  <a:srgbClr val="5B6168"/>
                </a:solidFill>
              </a:rPr>
              <a:t>Reported numbers for an iterative method are claims about the solver as much as the estimator</a:t>
            </a:r>
          </a:p>
          <a:p>
            <a:pPr marL="342900" indent="-285750">
              <a:spcAft>
                <a:spcPts val="800"/>
              </a:spcAft>
              <a:buClr>
                <a:srgbClr val="B4622A"/>
              </a:buClr>
              <a:buSzPct val="100000"/>
              <a:buChar char="•"/>
            </a:pPr>
            <a:r>
              <a:rPr sz="1600" b="0" i="0">
                <a:solidFill>
                  <a:srgbClr val="132433"/>
                </a:solidFill>
              </a:rPr>
              <a:t>Chartrand's formulation has a dense, severely ill-conditioned Hessian AᵀA + αL.</a:t>
            </a:r>
          </a:p>
          <a:p>
            <a:pPr marL="342900" indent="-285750">
              <a:spcAft>
                <a:spcPts val="800"/>
              </a:spcAft>
              <a:buClr>
                <a:srgbClr val="B4622A"/>
              </a:buClr>
              <a:buSzPct val="100000"/>
              <a:buChar char="•"/>
            </a:pPr>
            <a:r>
              <a:rPr sz="1600" b="0" i="0">
                <a:solidFill>
                  <a:srgbClr val="132433"/>
                </a:solidFill>
              </a:rPr>
              <a:t>Conjugate gradients stalls at any iteration cap. IRLS on the smoothed L1 stalls too — measured rate 0.997 per iteration.</a:t>
            </a:r>
          </a:p>
          <a:p>
            <a:pPr marL="342900" indent="-285750">
              <a:spcAft>
                <a:spcPts val="800"/>
              </a:spcAft>
              <a:buClr>
                <a:srgbClr val="B4622A"/>
              </a:buClr>
              <a:buSzPct val="100000"/>
              <a:buChar char="•"/>
            </a:pPr>
            <a:r>
              <a:rPr sz="1600" b="0" i="0">
                <a:solidFill>
                  <a:srgbClr val="132433"/>
                </a:solidFill>
              </a:rPr>
              <a:t>The unconverged iterate acts as extra smoothing and silently changes the answer.</a:t>
            </a:r>
          </a:p>
          <a:p>
            <a:pPr marL="685800" indent="-285750">
              <a:spcBef>
                <a:spcPts val="0"/>
              </a:spcBef>
              <a:spcAft>
                <a:spcPts val="600"/>
              </a:spcAft>
              <a:buClr>
                <a:srgbClr val="5B6168"/>
              </a:buClr>
              <a:buSzPct val="100000"/>
              <a:buChar char="–"/>
            </a:pPr>
            <a:r>
              <a:rPr sz="1300" b="0" i="0">
                <a:solidFill>
                  <a:srgbClr val="5B6168"/>
                </a:solidFill>
              </a:rPr>
              <a:t>MATLAB's pcg warns. scipy's cg returns the same unconverged vector with no warning at all.</a:t>
            </a:r>
          </a:p>
          <a:p>
            <a:pPr marL="342900" indent="-285750">
              <a:spcAft>
                <a:spcPts val="800"/>
              </a:spcAft>
              <a:buClr>
                <a:srgbClr val="B4622A"/>
              </a:buClr>
              <a:buSzPct val="100000"/>
              <a:buChar char="•"/>
            </a:pPr>
            <a:r>
              <a:rPr sz="1600" b="0" i="0">
                <a:solidFill>
                  <a:srgbClr val="132433"/>
                </a:solidFill>
              </a:rPr>
              <a:t>Three successive solvers moved the same benchmark:</a:t>
            </a:r>
          </a:p>
          <a:p>
            <a:pPr marL="685800" indent="-285750">
              <a:spcBef>
                <a:spcPts val="0"/>
              </a:spcBef>
              <a:spcAft>
                <a:spcPts val="600"/>
              </a:spcAft>
              <a:buClr>
                <a:srgbClr val="5B6168"/>
              </a:buClr>
              <a:buSzPct val="100000"/>
              <a:buChar char="–"/>
            </a:pPr>
            <a:r>
              <a:rPr sz="1300" b="0" i="0">
                <a:solidFill>
                  <a:srgbClr val="5B6168"/>
                </a:solidFill>
              </a:rPr>
              <a:t>smooth signal  3.77%  →  4.93%  →  5.07%      near impacts  17.9%  →  16.6%  →  19.2%</a:t>
            </a:r>
          </a:p>
          <a:p>
            <a:pPr marL="342900" indent="-285750">
              <a:spcAft>
                <a:spcPts val="800"/>
              </a:spcAft>
              <a:buClr>
                <a:srgbClr val="B4622A"/>
              </a:buClr>
              <a:buSzPct val="100000"/>
              <a:buChar char="•"/>
            </a:pPr>
            <a:r>
              <a:rPr sz="1600" b="0" i="0">
                <a:solidFill>
                  <a:srgbClr val="132433"/>
                </a:solidFill>
              </a:rPr>
              <a:t>Under-convergence had been flattering the method in both directions. Only the last pair is the true minimiser.</a:t>
            </a:r>
          </a:p>
          <a:p>
            <a:pPr marL="342900" indent="-285750">
              <a:spcAft>
                <a:spcPts val="800"/>
              </a:spcAft>
              <a:buClr>
                <a:srgbClr val="B4622A"/>
              </a:buClr>
              <a:buSzPct val="100000"/>
              <a:buChar char="•"/>
            </a:pPr>
            <a:r>
              <a:rPr sz="1600" b="0" i="0">
                <a:solidFill>
                  <a:srgbClr val="132433"/>
                </a:solidFill>
              </a:rPr>
              <a:t>Fix: substitute w = Au to get L1 trend filtering — the ADMM system is pentadiagonal and constant, so it factors once.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Two defaults that failed without a warning</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700" b="0" i="1">
                <a:solidFill>
                  <a:srgbClr val="5B6168"/>
                </a:solidFill>
              </a:rPr>
              <a:t>Found while porting to MATLAB; both are fixed in both languages</a:t>
            </a:r>
          </a:p>
          <a:p>
            <a:pPr marL="342900" indent="-285750">
              <a:spcAft>
                <a:spcPts val="800"/>
              </a:spcAft>
              <a:buClr>
                <a:srgbClr val="B4622A"/>
              </a:buClr>
              <a:buSzPct val="100000"/>
              <a:buChar char="•"/>
            </a:pPr>
            <a:r>
              <a:rPr sz="1800" b="0" i="0">
                <a:solidFill>
                  <a:srgbClr val="132433"/>
                </a:solidFill>
              </a:rPr>
              <a:t>scipy's make_smoothing_spline picks λ by GCV. On the 6000-point decay it returned a flat fit: 100% error.</a:t>
            </a:r>
          </a:p>
          <a:p>
            <a:pPr marL="685800" indent="-285750">
              <a:spcBef>
                <a:spcPts val="0"/>
              </a:spcBef>
              <a:spcAft>
                <a:spcPts val="600"/>
              </a:spcAft>
              <a:buClr>
                <a:srgbClr val="5B6168"/>
              </a:buClr>
              <a:buSzPct val="100000"/>
              <a:buChar char="–"/>
            </a:pPr>
            <a:r>
              <a:rPr sz="1500" b="0" i="0">
                <a:solidFill>
                  <a:srgbClr val="5B6168"/>
                </a:solidFill>
              </a:rPr>
              <a:t>The exact GCV score, with an O(N) trace, has a clear minimum: 1.18% velocity error. The failure was the implementation, not GCV.</a:t>
            </a:r>
          </a:p>
          <a:p>
            <a:pPr marL="342900" indent="-285750">
              <a:spcAft>
                <a:spcPts val="800"/>
              </a:spcAft>
              <a:buClr>
                <a:srgbClr val="B4622A"/>
              </a:buClr>
              <a:buSzPct val="100000"/>
              <a:buChar char="•"/>
            </a:pPr>
            <a:r>
              <a:rPr sz="1800" b="0" i="0">
                <a:solidFill>
                  <a:srgbClr val="132433"/>
                </a:solidFill>
              </a:rPr>
              <a:t>Levant's default bound L used the (n+1)-th derivative. The three-state form needs the third derivative bound for both outputs.</a:t>
            </a:r>
          </a:p>
          <a:p>
            <a:pPr marL="685800" indent="-285750">
              <a:spcBef>
                <a:spcPts val="0"/>
              </a:spcBef>
              <a:spcAft>
                <a:spcPts val="600"/>
              </a:spcAft>
              <a:buClr>
                <a:srgbClr val="5B6168"/>
              </a:buClr>
              <a:buSzPct val="100000"/>
              <a:buChar char="–"/>
            </a:pPr>
            <a:r>
              <a:rPr sz="1500" b="0" i="0">
                <a:solidFill>
                  <a:srgbClr val="5B6168"/>
                </a:solidFill>
              </a:rPr>
              <a:t>L was about 100× too small: 119% error. With max|jerk| from the state-space smoother: 7.7%, at the swept optimum.</a:t>
            </a:r>
          </a:p>
          <a:p>
            <a:pPr marL="342900" indent="-285750">
              <a:spcAft>
                <a:spcPts val="800"/>
              </a:spcAft>
              <a:buClr>
                <a:srgbClr val="B4622A"/>
              </a:buClr>
              <a:buSzPct val="100000"/>
              <a:buChar char="•"/>
            </a:pPr>
            <a:r>
              <a:rPr sz="1800" b="0" i="0">
                <a:solidFill>
                  <a:srgbClr val="132433"/>
                </a:solidFill>
              </a:rPr>
              <a:t>Neither raised an error. Each returned a plausible-looking array.</a:t>
            </a:r>
          </a:p>
          <a:p>
            <a:pPr marL="342900" indent="-285750">
              <a:spcAft>
                <a:spcPts val="800"/>
              </a:spcAft>
              <a:buClr>
                <a:srgbClr val="B4622A"/>
              </a:buClr>
              <a:buSzPct val="100000"/>
              <a:buChar char="•"/>
            </a:pPr>
            <a:r>
              <a:rPr sz="1800" b="0" i="0">
                <a:solidFill>
                  <a:srgbClr val="132433"/>
                </a:solidFill>
              </a:rPr>
              <a:t>Same lesson as the solver slide: check a default against a case where you know the answer.</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State-space: the Kalman / RTS kinematic smoother</a:t>
            </a:r>
          </a:p>
        </p:txBody>
      </p:sp>
      <p:sp>
        <p:nvSpPr>
          <p:cNvPr id="4" name="Text Placeholder 3"/>
          <p:cNvSpPr>
            <a:spLocks noGrp="1"/>
          </p:cNvSpPr>
          <p:nvPr>
            <p:ph type="body" idx="103"/>
          </p:nvPr>
        </p:nvSpPr>
        <p:spPr>
          <a:xfrm>
            <a:off x="612648" y="2514600"/>
            <a:ext cx="5257800" cy="292608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300" b="0" i="0">
                <a:solidFill>
                  <a:srgbClr val="132433"/>
                </a:solidFill>
              </a:rPr>
              <a:t>Self-tuning — the single parameter q is fitted by marginal likelihood, no sweep</a:t>
            </a:r>
          </a:p>
          <a:p>
            <a:pPr marL="342900" indent="-285750">
              <a:spcAft>
                <a:spcPts val="600"/>
              </a:spcAft>
              <a:buClr>
                <a:srgbClr val="B4622A"/>
              </a:buClr>
              <a:buSzPct val="100000"/>
              <a:buChar char="•"/>
            </a:pPr>
            <a:r>
              <a:rPr sz="1300" b="0" i="0">
                <a:solidFill>
                  <a:srgbClr val="132433"/>
                </a:solidFill>
              </a:rPr>
              <a:t>Handles gaps, non-uniform sampling and multirate channels natively (NaN = missing)</a:t>
            </a:r>
          </a:p>
          <a:p>
            <a:pPr marL="342900" indent="-285750">
              <a:spcAft>
                <a:spcPts val="600"/>
              </a:spcAft>
              <a:buClr>
                <a:srgbClr val="B4622A"/>
              </a:buClr>
              <a:buSzPct val="100000"/>
              <a:buChar char="•"/>
            </a:pPr>
            <a:r>
              <a:rPr sz="1300" b="0" i="0">
                <a:solidFill>
                  <a:srgbClr val="132433"/>
                </a:solidFill>
              </a:rPr>
              <a:t>Returns a posterior standard deviation — error bars, not just an estimate</a:t>
            </a:r>
          </a:p>
          <a:p>
            <a:pPr marL="342900" indent="-285750">
              <a:spcAft>
                <a:spcPts val="600"/>
              </a:spcAft>
              <a:buClr>
                <a:srgbClr val="B4622A"/>
              </a:buClr>
              <a:buSzPct val="100000"/>
              <a:buChar char="•"/>
            </a:pPr>
            <a:r>
              <a:rPr sz="1300" b="0" i="0">
                <a:solidFill>
                  <a:srgbClr val="132433"/>
                </a:solidFill>
              </a:rPr>
              <a:t>Does differentiation, integration AND sensor fusion with one implementation</a:t>
            </a:r>
          </a:p>
          <a:p>
            <a:pPr marL="342900" indent="-285750">
              <a:spcAft>
                <a:spcPts val="600"/>
              </a:spcAft>
              <a:buClr>
                <a:srgbClr val="B4622A"/>
              </a:buClr>
              <a:buSzPct val="100000"/>
              <a:buChar char="•"/>
            </a:pPr>
            <a:r>
              <a:rPr sz="1300" b="0" i="0">
                <a:solidFill>
                  <a:srgbClr val="132433"/>
                </a:solidFill>
              </a:rPr>
              <a:t>O(N), and equivalent to a Gaussian process without the O(N³)</a:t>
            </a:r>
          </a:p>
        </p:txBody>
      </p:sp>
      <p:sp>
        <p:nvSpPr>
          <p:cNvPr id="5" name="Text Placeholder 4"/>
          <p:cNvSpPr>
            <a:spLocks noGrp="1"/>
          </p:cNvSpPr>
          <p:nvPr>
            <p:ph type="body" idx="104"/>
          </p:nvPr>
        </p:nvSpPr>
        <p:spPr>
          <a:xfrm>
            <a:off x="6327648" y="2514600"/>
            <a:ext cx="5257800" cy="292608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300" b="0" i="0">
                <a:solidFill>
                  <a:srgbClr val="132433"/>
                </a:solidFill>
              </a:rPr>
              <a:t>Costs something against a perfectly tuned method on very clean data (up to 3.7x)</a:t>
            </a:r>
          </a:p>
          <a:p>
            <a:pPr marL="342900" indent="-285750">
              <a:spcAft>
                <a:spcPts val="600"/>
              </a:spcAft>
              <a:buClr>
                <a:srgbClr val="B4622A"/>
              </a:buClr>
              <a:buSzPct val="100000"/>
              <a:buChar char="•"/>
            </a:pPr>
            <a:r>
              <a:rPr sz="1300" b="0" i="0">
                <a:solidFill>
                  <a:srgbClr val="132433"/>
                </a:solidFill>
              </a:rPr>
              <a:t>The prior is smoothness — it rounds corners just as the L2 penalties do</a:t>
            </a:r>
          </a:p>
          <a:p>
            <a:pPr marL="342900" indent="-285750">
              <a:spcAft>
                <a:spcPts val="600"/>
              </a:spcAft>
              <a:buClr>
                <a:srgbClr val="B4622A"/>
              </a:buClr>
              <a:buSzPct val="100000"/>
              <a:buChar char="•"/>
            </a:pPr>
            <a:r>
              <a:rPr sz="1300" b="0" i="0">
                <a:solidFill>
                  <a:srgbClr val="132433"/>
                </a:solidFill>
              </a:rPr>
              <a:t>More code than a banded solve; the likelihood optimisation needs a sane bracket</a:t>
            </a:r>
          </a:p>
          <a:p>
            <a:pPr marL="342900" indent="-285750">
              <a:spcAft>
                <a:spcPts val="600"/>
              </a:spcAft>
              <a:buClr>
                <a:srgbClr val="B4622A"/>
              </a:buClr>
              <a:buSzPct val="100000"/>
              <a:buChar char="•"/>
            </a:pPr>
            <a:r>
              <a:rPr sz="1300" b="0" i="0">
                <a:solidFill>
                  <a:srgbClr val="132433"/>
                </a:solidFill>
              </a:rPr>
              <a:t>Bias states are weakly identified over short records — a drift absorber, not a calibration</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Model the signal as an integrated random walk; state = [x, v, a, jerk, ...]. Smooth, do not filter.</a:t>
            </a:r>
          </a:p>
        </p:txBody>
      </p:sp>
      <p:sp>
        <p:nvSpPr>
          <p:cNvPr id="27" name="Rectangle 26"/>
          <p:cNvSpPr/>
          <p:nvPr/>
        </p:nvSpPr>
        <p:spPr>
          <a:xfrm>
            <a:off x="612648" y="5559552"/>
            <a:ext cx="10972800" cy="603504"/>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You want one tool that covers every case, or you have two sensors, or you need uncertainty.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What does self-tuning actually cost?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Ratio of the self-tuned error to the best error achieved by ANY method in this study with its knob tuned against ground truth.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It tells you how much to trust it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Acceleration from a noisy position record with its ±2σ posterior band. No other method in this comparison produces 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DIFFERENTIATION</a:t>
            </a:r>
          </a:p>
        </p:txBody>
      </p:sp>
      <p:sp>
        <p:nvSpPr>
          <p:cNvPr id="3" name="Title 2"/>
          <p:cNvSpPr>
            <a:spLocks noGrp="1"/>
          </p:cNvSpPr>
          <p:nvPr>
            <p:ph type="title" idx="102"/>
          </p:nvPr>
        </p:nvSpPr>
        <p:spPr/>
        <p:txBody>
          <a:bodyPr/>
          <a:lstStyle/>
          <a:p>
            <a:r>
              <a:t>Online, the Kalman filter halves Levant's error</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Forward pass of the same state-space model, self-tuned: 5.3% velocity error against 12.0% for Levant at its best bound. Offline, the RTS smoother reaches 0.83%.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02</a:t>
            </a:r>
          </a:p>
        </p:txBody>
      </p:sp>
      <p:sp>
        <p:nvSpPr>
          <p:cNvPr id="3" name="Title 2"/>
          <p:cNvSpPr>
            <a:spLocks noGrp="1"/>
          </p:cNvSpPr>
          <p:nvPr>
            <p:ph type="title" idx="102"/>
          </p:nvPr>
        </p:nvSpPr>
        <p:spPr/>
        <p:txBody>
          <a:bodyPr/>
          <a:lstStyle/>
          <a:p>
            <a:r>
              <a:t>Delay reconstruction</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1003</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Differentiate in the delay space, not on the raw record</a:t>
            </a:r>
          </a:p>
        </p:txBody>
      </p:sp>
      <p:sp>
        <p:nvSpPr>
          <p:cNvPr id="4" name="Text Placeholder 3"/>
          <p:cNvSpPr>
            <a:spLocks noGrp="1"/>
          </p:cNvSpPr>
          <p:nvPr>
            <p:ph type="body" idx="103"/>
          </p:nvPr>
        </p:nvSpPr>
        <p:spPr>
          <a:xfrm>
            <a:off x="612648" y="1965960"/>
            <a:ext cx="9052560" cy="4160520"/>
          </a:xfrm>
        </p:spPr>
        <p:txBody>
          <a:bodyPr/>
          <a:lstStyle/>
          <a:p>
            <a:pPr marL="0" indent="0">
              <a:spcAft>
                <a:spcPts val="1400"/>
              </a:spcAft>
              <a:buNone/>
            </a:pPr>
            <a:r>
              <a:rPr sz="1700" b="0" i="1">
                <a:solidFill>
                  <a:srgbClr val="5B6168"/>
                </a:solidFill>
              </a:rPr>
              <a:t>Prior: the signal lies in a low-dimensional subspace of its delay reconstruction</a:t>
            </a:r>
          </a:p>
          <a:p>
            <a:pPr marL="342900" indent="-285750">
              <a:spcAft>
                <a:spcPts val="800"/>
              </a:spcAft>
              <a:buClr>
                <a:srgbClr val="B4622A"/>
              </a:buClr>
              <a:buSzPct val="100000"/>
              <a:buChar char="•"/>
            </a:pPr>
            <a:r>
              <a:rPr sz="1800" b="0" i="0">
                <a:solidFill>
                  <a:srgbClr val="132433"/>
                </a:solidFill>
              </a:rPr>
              <a:t>Embed: rows of a Hankel matrix are delay vectors [xₖ, xₖ₊₁, …, xₖ₊ₗ₋₁], window L = N/3.</a:t>
            </a:r>
          </a:p>
          <a:p>
            <a:pPr marL="342900" indent="-285750">
              <a:spcAft>
                <a:spcPts val="800"/>
              </a:spcAft>
              <a:buClr>
                <a:srgbClr val="B4622A"/>
              </a:buClr>
              <a:buSzPct val="100000"/>
              <a:buChar char="•"/>
            </a:pPr>
            <a:r>
              <a:rPr sz="1800" b="0" i="0">
                <a:solidFill>
                  <a:srgbClr val="132433"/>
                </a:solidFill>
              </a:rPr>
              <a:t>Decompose: SVD of that matrix; keep directions above the Gavish–Donoho hard threshold.</a:t>
            </a:r>
          </a:p>
          <a:p>
            <a:pPr marL="342900" indent="-285750">
              <a:spcAft>
                <a:spcPts val="800"/>
              </a:spcAft>
              <a:buClr>
                <a:srgbClr val="B4622A"/>
              </a:buClr>
              <a:buSzPct val="100000"/>
              <a:buChar char="•"/>
            </a:pPr>
            <a:r>
              <a:rPr sz="1800" b="0" i="0">
                <a:solidFill>
                  <a:srgbClr val="132433"/>
                </a:solidFill>
              </a:rPr>
              <a:t>Guard: drop any kept direction whose mean frequency lies above the band where the PSD clears the noise floor.</a:t>
            </a:r>
          </a:p>
          <a:p>
            <a:pPr marL="342900" indent="-285750">
              <a:spcAft>
                <a:spcPts val="800"/>
              </a:spcAft>
              <a:buClr>
                <a:srgbClr val="B4622A"/>
              </a:buClr>
              <a:buSzPct val="100000"/>
              <a:buChar char="•"/>
            </a:pPr>
            <a:r>
              <a:rPr sz="1800" b="0" i="0">
                <a:solidFill>
                  <a:srgbClr val="132433"/>
                </a:solidFill>
              </a:rPr>
              <a:t>Reconstruct: project, then average along anti-diagonals. Several sensors embed side by side.</a:t>
            </a:r>
          </a:p>
          <a:p>
            <a:pPr marL="342900" indent="-285750">
              <a:spcAft>
                <a:spcPts val="800"/>
              </a:spcAft>
              <a:buClr>
                <a:srgbClr val="B4622A"/>
              </a:buClr>
              <a:buSzPct val="100000"/>
              <a:buChar char="•"/>
            </a:pPr>
            <a:r>
              <a:rPr sz="1800" b="0" i="0">
                <a:solidFill>
                  <a:srgbClr val="132433"/>
                </a:solidFill>
              </a:rPr>
              <a:t>Differentiate the reconstruction with a fourth-order stencil. It is band-limited, so the stencil error is negligible.</a:t>
            </a:r>
          </a:p>
          <a:p>
            <a:pPr marL="685800" indent="-285750">
              <a:spcBef>
                <a:spcPts val="0"/>
              </a:spcBef>
              <a:spcAft>
                <a:spcPts val="600"/>
              </a:spcAft>
              <a:buClr>
                <a:srgbClr val="5B6168"/>
              </a:buClr>
              <a:buSzPct val="100000"/>
              <a:buChar char="–"/>
            </a:pPr>
            <a:r>
              <a:rPr sz="1500" b="0" i="0">
                <a:solidFill>
                  <a:srgbClr val="5B6168"/>
                </a:solidFill>
              </a:rPr>
              <a:t>No knob: L from the record length, dimension from the threshold, guard from the spectrum.</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pic>
        <p:nvPicPr>
          <p:cNvPr id="26" name="Picture 25" descr="nld-icon-delay-embedding.png"/>
          <p:cNvPicPr>
            <a:picLocks noChangeAspect="1"/>
          </p:cNvPicPr>
          <p:nvPr/>
        </p:nvPicPr>
        <p:blipFill>
          <a:blip r:embed="rId3"/>
          <a:stretch>
            <a:fillRect/>
          </a:stretch>
        </p:blipFill>
        <p:spPr>
          <a:xfrm>
            <a:off x="10104120" y="2011680"/>
            <a:ext cx="1371600" cy="1371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29 of 2000 delay directions carry the decay</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Left: singular spectrum of the trajectory matrix, 1% position noise. Right: acceleration error of the self-tuned delay estimate against Whittaker at its oracle cutoff.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Self-tuned delay SVD beats every oracle-tuned method</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Duffing free decay, same noise realisations as the main benchmark. Oracle = cutoff swept against the exact answer. The delay method sees no truth.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Delay reconstruction (SSA)</a:t>
            </a:r>
          </a:p>
        </p:txBody>
      </p:sp>
      <p:sp>
        <p:nvSpPr>
          <p:cNvPr id="4" name="Text Placeholder 3"/>
          <p:cNvSpPr>
            <a:spLocks noGrp="1"/>
          </p:cNvSpPr>
          <p:nvPr>
            <p:ph type="body" idx="103"/>
          </p:nvPr>
        </p:nvSpPr>
        <p:spPr>
          <a:xfrm>
            <a:off x="612648" y="2606040"/>
            <a:ext cx="5257800" cy="2743200"/>
          </a:xfrm>
        </p:spPr>
        <p:txBody>
          <a:bodyPr/>
          <a:lstStyle/>
          <a:p>
            <a:pPr marL="0" indent="0">
              <a:spcAft>
                <a:spcPts val="800"/>
              </a:spcAft>
              <a:buNone/>
            </a:pPr>
            <a:r>
              <a:rPr sz="1200" b="1" i="0">
                <a:solidFill>
                  <a:srgbClr val="9A5323"/>
                </a:solidFill>
              </a:rPr>
              <a:t>STRENGTHS</a:t>
            </a:r>
          </a:p>
          <a:p>
            <a:pPr marL="342900" indent="-285750">
              <a:spcAft>
                <a:spcPts val="600"/>
              </a:spcAft>
              <a:buClr>
                <a:srgbClr val="B4622A"/>
              </a:buClr>
              <a:buSzPct val="100000"/>
              <a:buChar char="•"/>
            </a:pPr>
            <a:r>
              <a:rPr sz="1600" b="0" i="0">
                <a:solidFill>
                  <a:srgbClr val="132433"/>
                </a:solidFill>
              </a:rPr>
              <a:t>No knob: window from record length, dimension from the hard threshold</a:t>
            </a:r>
          </a:p>
          <a:p>
            <a:pPr marL="342900" indent="-285750">
              <a:spcAft>
                <a:spcPts val="600"/>
              </a:spcAft>
              <a:buClr>
                <a:srgbClr val="B4622A"/>
              </a:buClr>
              <a:buSzPct val="100000"/>
              <a:buChar char="•"/>
            </a:pPr>
            <a:r>
              <a:rPr sz="1600" b="0" i="0">
                <a:solidFill>
                  <a:srgbClr val="132433"/>
                </a:solidFill>
              </a:rPr>
              <a:t>Best accuracy of any method tested on decays, by 1.4–1.6× at every noise level</a:t>
            </a:r>
          </a:p>
          <a:p>
            <a:pPr marL="342900" indent="-285750">
              <a:spcAft>
                <a:spcPts val="600"/>
              </a:spcAft>
              <a:buClr>
                <a:srgbClr val="B4622A"/>
              </a:buClr>
              <a:buSzPct val="100000"/>
              <a:buChar char="•"/>
            </a:pPr>
            <a:r>
              <a:rPr sz="1600" b="0" i="0">
                <a:solidFill>
                  <a:srgbClr val="132433"/>
                </a:solidFill>
              </a:rPr>
              <a:t>Several sensors share one subspace (multichannel SSA)</a:t>
            </a:r>
          </a:p>
          <a:p>
            <a:pPr marL="342900" indent="-285750">
              <a:spcAft>
                <a:spcPts val="600"/>
              </a:spcAft>
              <a:buClr>
                <a:srgbClr val="B4622A"/>
              </a:buClr>
              <a:buSzPct val="100000"/>
              <a:buChar char="•"/>
            </a:pPr>
            <a:r>
              <a:rPr sz="1600" b="0" i="0">
                <a:solidFill>
                  <a:srgbClr val="132433"/>
                </a:solidFill>
              </a:rPr>
              <a:t>Full-record accuracy: no FFT-style edge damage</a:t>
            </a:r>
          </a:p>
        </p:txBody>
      </p:sp>
      <p:sp>
        <p:nvSpPr>
          <p:cNvPr id="5" name="Text Placeholder 4"/>
          <p:cNvSpPr>
            <a:spLocks noGrp="1"/>
          </p:cNvSpPr>
          <p:nvPr>
            <p:ph type="body" idx="104"/>
          </p:nvPr>
        </p:nvSpPr>
        <p:spPr>
          <a:xfrm>
            <a:off x="6327648" y="2606040"/>
            <a:ext cx="5257800" cy="2743200"/>
          </a:xfrm>
        </p:spPr>
        <p:txBody>
          <a:bodyPr/>
          <a:lstStyle/>
          <a:p>
            <a:pPr marL="0" indent="0">
              <a:spcAft>
                <a:spcPts val="800"/>
              </a:spcAft>
              <a:buNone/>
            </a:pPr>
            <a:r>
              <a:rPr sz="1200" b="1" i="0">
                <a:solidFill>
                  <a:srgbClr val="9A5323"/>
                </a:solidFill>
              </a:rPr>
              <a:t>LIMITATIONS</a:t>
            </a:r>
          </a:p>
          <a:p>
            <a:pPr marL="342900" indent="-285750">
              <a:spcAft>
                <a:spcPts val="600"/>
              </a:spcAft>
              <a:buClr>
                <a:srgbClr val="B4622A"/>
              </a:buClr>
              <a:buSzPct val="100000"/>
              <a:buChar char="•"/>
            </a:pPr>
            <a:r>
              <a:rPr sz="1600" b="0" i="0">
                <a:solidFill>
                  <a:srgbClr val="132433"/>
                </a:solidFill>
              </a:rPr>
              <a:t>The prior is quasi-periodicity: no gain at impacts (23% vs 17% for TV)</a:t>
            </a:r>
          </a:p>
          <a:p>
            <a:pPr marL="342900" indent="-285750">
              <a:spcAft>
                <a:spcPts val="600"/>
              </a:spcAft>
              <a:buClr>
                <a:srgbClr val="B4622A"/>
              </a:buClr>
              <a:buSzPct val="100000"/>
              <a:buChar char="•"/>
            </a:pPr>
            <a:r>
              <a:rPr sz="1600" b="0" i="0">
                <a:solidFill>
                  <a:srgbClr val="132433"/>
                </a:solidFill>
              </a:rPr>
              <a:t>Cost grows as L²N: about 1 s for N = 6000, L = 2000</a:t>
            </a:r>
          </a:p>
          <a:p>
            <a:pPr marL="342900" indent="-285750">
              <a:spcAft>
                <a:spcPts val="600"/>
              </a:spcAft>
              <a:buClr>
                <a:srgbClr val="B4622A"/>
              </a:buClr>
              <a:buSzPct val="100000"/>
              <a:buChar char="•"/>
            </a:pPr>
            <a:r>
              <a:rPr sz="1600" b="0" i="0">
                <a:solidFill>
                  <a:srgbClr val="132433"/>
                </a:solidFill>
              </a:rPr>
              <a:t>Needs uniform sampling and a gap-free record</a:t>
            </a:r>
          </a:p>
          <a:p>
            <a:pPr marL="342900" indent="-285750">
              <a:spcAft>
                <a:spcPts val="600"/>
              </a:spcAft>
              <a:buClr>
                <a:srgbClr val="B4622A"/>
              </a:buClr>
              <a:buSzPct val="100000"/>
              <a:buChar char="•"/>
            </a:pPr>
            <a:r>
              <a:rPr sz="1600" b="0" i="0">
                <a:solidFill>
                  <a:srgbClr val="132433"/>
                </a:solidFill>
              </a:rPr>
              <a:t>No error bars, and integration still needs a corner</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1007</a:t>
            </a:fld>
            <a:endParaRPr lang="en-US"/>
          </a:p>
        </p:txBody>
      </p:sp>
      <p:sp>
        <p:nvSpPr>
          <p:cNvPr id="26" name="TextBox 25"/>
          <p:cNvSpPr txBox="1"/>
          <p:nvPr/>
        </p:nvSpPr>
        <p:spPr>
          <a:xfrm>
            <a:off x="612648" y="1901952"/>
            <a:ext cx="10972800" cy="594360"/>
          </a:xfrm>
          <a:prstGeom prst="rect">
            <a:avLst/>
          </a:prstGeom>
          <a:noFill/>
        </p:spPr>
        <p:txBody>
          <a:bodyPr wrap="square" lIns="0" rIns="0" tIns="0" bIns="0">
            <a:spAutoFit/>
          </a:bodyPr>
          <a:lstStyle/>
          <a:p>
            <a:r>
              <a:rPr sz="1600" b="0" i="1">
                <a:solidFill>
                  <a:srgbClr val="5B6168"/>
                </a:solidFill>
              </a:rPr>
              <a:t>Project onto the signal subspace of the trajectory matrix; differentiate or integrate the reconstruction.</a:t>
            </a:r>
          </a:p>
        </p:txBody>
      </p:sp>
      <p:sp>
        <p:nvSpPr>
          <p:cNvPr id="27" name="Rectangle 26"/>
          <p:cNvSpPr/>
          <p:nvPr/>
        </p:nvSpPr>
        <p:spPr>
          <a:xfrm>
            <a:off x="612648" y="5440680"/>
            <a:ext cx="10972800" cy="713232"/>
          </a:xfrm>
          <a:prstGeom prst="rect">
            <a:avLst/>
          </a:prstGeom>
          <a:solidFill>
            <a:srgbClr val="FFFFFF"/>
          </a:solidFill>
          <a:ln w="9525">
            <a:solidFill>
              <a:srgbClr val="DC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1200" b="1" i="0">
                <a:solidFill>
                  <a:srgbClr val="9A5323"/>
                </a:solidFill>
              </a:rPr>
              <a:t>USE IT WHEN   </a:t>
            </a:r>
            <a:r>
              <a:rPr sz="1500" b="0" i="0">
                <a:solidFill>
                  <a:srgbClr val="132433"/>
                </a:solidFill>
              </a:rPr>
              <a:t>The record is a free decay, a ringdown or a steady forced response.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SVD for differentiation, SOD for integration</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Left: SOD alone ranks directions by smoothness, so long windows admit smooth noise. Right: SOD inside the SVD subspace orders it by frequency and isolates the drift.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DELAY RECONSTRUCTION</a:t>
            </a:r>
          </a:p>
        </p:txBody>
      </p:sp>
      <p:sp>
        <p:nvSpPr>
          <p:cNvPr id="3" name="Title 2"/>
          <p:cNvSpPr>
            <a:spLocks noGrp="1"/>
          </p:cNvSpPr>
          <p:nvPr>
            <p:ph type="title" idx="102"/>
          </p:nvPr>
        </p:nvSpPr>
        <p:spPr/>
        <p:txBody>
          <a:bodyPr/>
          <a:lstStyle/>
          <a:p>
            <a:r>
              <a:t>Where delay reconstruction helps, and where it does not</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sp>
        <p:nvSpPr>
          <p:cNvPr id="26" name="TextBox 25"/>
          <p:cNvSpPr txBox="1"/>
          <p:nvPr/>
        </p:nvSpPr>
        <p:spPr>
          <a:xfrm>
            <a:off x="612648" y="1901952"/>
            <a:ext cx="10972800" cy="365760"/>
          </a:xfrm>
          <a:prstGeom prst="rect">
            <a:avLst/>
          </a:prstGeom>
          <a:noFill/>
        </p:spPr>
        <p:txBody>
          <a:bodyPr wrap="square" lIns="0" rIns="0" tIns="0" bIns="0">
            <a:spAutoFit/>
          </a:bodyPr>
          <a:lstStyle/>
          <a:p>
            <a:r>
              <a:rPr sz="1500" b="0" i="1">
                <a:solidFill>
                  <a:srgbClr val="5B6168"/>
                </a:solidFill>
              </a:rPr>
              <a:t>Velocity / acceleration error, % rms; integration rows give displacement / velocity</a:t>
            </a:r>
          </a:p>
        </p:txBody>
      </p:sp>
      <p:graphicFrame>
        <p:nvGraphicFramePr>
          <p:cNvPr id="27" name="Table 26"/>
          <p:cNvGraphicFramePr>
            <a:graphicFrameLocks noGrp="1"/>
          </p:cNvGraphicFramePr>
          <p:nvPr/>
        </p:nvGraphicFramePr>
        <p:xfrm>
          <a:off x="612648" y="2377440"/>
          <a:ext cx="10972799" cy="2560320"/>
        </p:xfrm>
        <a:graphic>
          <a:graphicData uri="http://schemas.openxmlformats.org/drawingml/2006/table">
            <a:tbl>
              <a:tblPr firstRow="0" bandRow="0">
                <a:tableStyleId>{5940675A-B579-460E-94D1-54222C63F5DA}</a:tableStyleId>
              </a:tblPr>
              <a:tblGrid>
                <a:gridCol w="3107341"/>
                <a:gridCol w="3204446"/>
                <a:gridCol w="2524715"/>
                <a:gridCol w="2136297"/>
              </a:tblGrid>
              <a:tr h="365760">
                <a:tc>
                  <a:txBody>
                    <a:bodyPr/>
                    <a:lstStyle/>
                    <a:p>
                      <a:r>
                        <a:rPr sz="1200" b="1" i="0">
                          <a:solidFill>
                            <a:srgbClr val="F7F6F2"/>
                          </a:solidFill>
                        </a:rPr>
                        <a:t>Record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Best competitor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Delay method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Verdict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r>
              <a:tr h="365760">
                <a:tc>
                  <a:txBody>
                    <a:bodyPr/>
                    <a:lstStyle/>
                    <a:p>
                      <a:r>
                        <a:rPr sz="1300" b="1" i="0">
                          <a:solidFill>
                            <a:srgbClr val="132433"/>
                          </a:solidFill>
                        </a:rPr>
                        <a:t>Duffing decay, 1% noise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0.52 / 1.44  spectral, oracle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0.32 / 0.94  SVD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helps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300" b="1" i="0">
                          <a:solidFill>
                            <a:srgbClr val="132433"/>
                          </a:solidFill>
                        </a:rPr>
                        <a:t>3-DOF chain, mass 3</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0.95 / 2.21  Whittaker, oracle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0.38 / 0.64  SVD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helps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300" b="1" i="0">
                          <a:solidFill>
                            <a:srgbClr val="132433"/>
                          </a:solidFill>
                        </a:rPr>
                        <a:t>3-DOF chain, 3 sensors jointly</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0.95 / 2.21  Whittaker, oracle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0.26 / 0.63  MSSA</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small extra gain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300" b="1" i="0">
                          <a:solidFill>
                            <a:srgbClr val="132433"/>
                          </a:solidFill>
                        </a:rPr>
                        <a:t>Vibro-impact, near impacts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17.0  total variation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23.1  SVD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does not help</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65760">
                <a:tc>
                  <a:txBody>
                    <a:bodyPr/>
                    <a:lstStyle/>
                    <a:p>
                      <a:r>
                        <a:rPr sz="1300" b="1" i="0">
                          <a:solidFill>
                            <a:srgbClr val="132433"/>
                          </a:solidFill>
                        </a:rPr>
                        <a:t>Drifting accelerometer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0.88 / 2.04  Tikhonov, oracle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0.51 / 1.34  SOD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helps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65760">
                <a:tc>
                  <a:txBody>
                    <a:bodyPr/>
                    <a:lstStyle/>
                    <a:p>
                      <a:r>
                        <a:rPr sz="1300" b="1" i="0">
                          <a:solidFill>
                            <a:srgbClr val="132433"/>
                          </a:solidFill>
                        </a:rPr>
                        <a:t>Drifting accelerometer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0.50 / 0.25  spectral, oracle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0.51 / 1.34  SOD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spectral wins here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03</a:t>
            </a:r>
          </a:p>
        </p:txBody>
      </p:sp>
      <p:sp>
        <p:nvSpPr>
          <p:cNvPr id="3" name="Title 2"/>
          <p:cNvSpPr>
            <a:spLocks noGrp="1"/>
          </p:cNvSpPr>
          <p:nvPr>
            <p:ph type="title" idx="102"/>
          </p:nvPr>
        </p:nvSpPr>
        <p:spPr/>
        <p:txBody>
          <a:bodyPr/>
          <a:lstStyle/>
          <a:p>
            <a:r>
              <a:t>Integration and fusion</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1003</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INTEGRATION</a:t>
            </a:r>
          </a:p>
        </p:txBody>
      </p:sp>
      <p:sp>
        <p:nvSpPr>
          <p:cNvPr id="3" name="Title 2"/>
          <p:cNvSpPr>
            <a:spLocks noGrp="1"/>
          </p:cNvSpPr>
          <p:nvPr>
            <p:ph type="title" idx="102"/>
          </p:nvPr>
        </p:nvSpPr>
        <p:spPr/>
        <p:txBody>
          <a:bodyPr/>
          <a:lstStyle/>
          <a:p>
            <a:r>
              <a:t>Integration has an extra problem: the constants</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500" b="0" i="1">
                <a:solidFill>
                  <a:srgbClr val="5B6168"/>
                </a:solidFill>
              </a:rPr>
              <a:t>Two integration constants are unobservable — every method makes an assumption, so make yours explicit</a:t>
            </a:r>
          </a:p>
          <a:p>
            <a:pPr marL="342900" indent="-285750">
              <a:spcAft>
                <a:spcPts val="800"/>
              </a:spcAft>
              <a:buClr>
                <a:srgbClr val="B4622A"/>
              </a:buClr>
              <a:buSzPct val="100000"/>
              <a:buChar char="•"/>
            </a:pPr>
            <a:r>
              <a:rPr sz="1600" b="0" i="0">
                <a:solidFill>
                  <a:srgbClr val="132433"/>
                </a:solidFill>
              </a:rPr>
              <a:t>Acceleration determines displacement only up to  x₀ + v₀t.  Those two constants are not in the data.</a:t>
            </a:r>
          </a:p>
          <a:p>
            <a:pPr marL="342900" indent="-285750">
              <a:spcAft>
                <a:spcPts val="800"/>
              </a:spcAft>
              <a:buClr>
                <a:srgbClr val="B4622A"/>
              </a:buClr>
              <a:buSzPct val="100000"/>
              <a:buChar char="•"/>
            </a:pPr>
            <a:r>
              <a:rPr sz="1600" b="0" i="0">
                <a:solidFill>
                  <a:srgbClr val="132433"/>
                </a:solidFill>
              </a:rPr>
              <a:t>A DC offset of 0.5% integrates twice into a parabola that swamps the signal within seconds.</a:t>
            </a:r>
          </a:p>
          <a:p>
            <a:pPr marL="342900" indent="-285750">
              <a:spcAft>
                <a:spcPts val="800"/>
              </a:spcAft>
              <a:buClr>
                <a:srgbClr val="B4622A"/>
              </a:buClr>
              <a:buSzPct val="100000"/>
              <a:buChar char="•"/>
            </a:pPr>
            <a:r>
              <a:rPr sz="1600" b="0" i="0">
                <a:solidFill>
                  <a:srgbClr val="132433"/>
                </a:solidFill>
              </a:rPr>
              <a:t>Every working method therefore imposes a high-pass — the question is whether it admits to it.</a:t>
            </a:r>
          </a:p>
          <a:p>
            <a:pPr marL="685800" indent="-285750">
              <a:spcBef>
                <a:spcPts val="0"/>
              </a:spcBef>
              <a:spcAft>
                <a:spcPts val="600"/>
              </a:spcAft>
              <a:buClr>
                <a:srgbClr val="5B6168"/>
              </a:buClr>
              <a:buSzPct val="100000"/>
              <a:buChar char="–"/>
            </a:pPr>
            <a:r>
              <a:rPr sz="1300" b="0" i="0">
                <a:solidFill>
                  <a:srgbClr val="5B6168"/>
                </a:solidFill>
              </a:rPr>
              <a:t>Detrend + high-pass filter: fast, but the corner is chosen by eye and distorts the low modes.</a:t>
            </a:r>
          </a:p>
          <a:p>
            <a:pPr marL="685800" indent="-285750">
              <a:spcBef>
                <a:spcPts val="0"/>
              </a:spcBef>
              <a:spcAft>
                <a:spcPts val="600"/>
              </a:spcAft>
              <a:buClr>
                <a:srgbClr val="5B6168"/>
              </a:buClr>
              <a:buSzPct val="100000"/>
              <a:buChar char="–"/>
            </a:pPr>
            <a:r>
              <a:rPr sz="1300" b="0" i="0">
                <a:solidFill>
                  <a:srgbClr val="5B6168"/>
                </a:solidFill>
              </a:rPr>
              <a:t>Tikhonov: the corner appears explicitly as λ = (2πfᶜ)²ⁿ. One banded solve.</a:t>
            </a:r>
          </a:p>
          <a:p>
            <a:pPr marL="685800" indent="-285750">
              <a:spcBef>
                <a:spcPts val="0"/>
              </a:spcBef>
              <a:spcAft>
                <a:spcPts val="600"/>
              </a:spcAft>
              <a:buClr>
                <a:srgbClr val="5B6168"/>
              </a:buClr>
              <a:buSzPct val="100000"/>
              <a:buChar char="–"/>
            </a:pPr>
            <a:r>
              <a:rPr sz="1300" b="0" i="0">
                <a:solidFill>
                  <a:srgbClr val="5B6168"/>
                </a:solidFill>
              </a:rPr>
              <a:t>State-space with a bias state: the corner becomes a prior on the unobservable directions.</a:t>
            </a:r>
          </a:p>
          <a:p>
            <a:pPr marL="342900" indent="-285750">
              <a:spcAft>
                <a:spcPts val="800"/>
              </a:spcAft>
              <a:buClr>
                <a:srgbClr val="B4622A"/>
              </a:buClr>
              <a:buSzPct val="100000"/>
              <a:buChar char="•"/>
            </a:pPr>
            <a:r>
              <a:rPr sz="1600" b="0" i="0">
                <a:solidFill>
                  <a:srgbClr val="132433"/>
                </a:solidFill>
              </a:rPr>
              <a:t>Choose the corner below your lowest mode of interest and above the drift band — and say what you chose.</a:t>
            </a:r>
          </a:p>
          <a:p>
            <a:pPr marL="342900" indent="-285750">
              <a:spcAft>
                <a:spcPts val="800"/>
              </a:spcAft>
              <a:buClr>
                <a:srgbClr val="B4622A"/>
              </a:buClr>
              <a:buSzPct val="100000"/>
              <a:buChar char="•"/>
            </a:pPr>
            <a:r>
              <a:rPr sz="1600" b="0" i="0">
                <a:solidFill>
                  <a:srgbClr val="132433"/>
                </a:solidFill>
              </a:rPr>
              <a:t>If you also have a displacement channel, you do not need the corner at all. That is the next slide.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INTEGRATION</a:t>
            </a:r>
          </a:p>
        </p:txBody>
      </p:sp>
      <p:sp>
        <p:nvSpPr>
          <p:cNvPr id="3" name="Title 2"/>
          <p:cNvSpPr>
            <a:spLocks noGrp="1"/>
          </p:cNvSpPr>
          <p:nvPr>
            <p:ph type="title" idx="102"/>
          </p:nvPr>
        </p:nvSpPr>
        <p:spPr/>
        <p:txBody>
          <a:bodyPr/>
          <a:lstStyle/>
          <a:p>
            <a:r>
              <a:t>Integration done three ways</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Displacement recovered from an accelerometer with 1% noise, 0.5% drift and a 0.5% offset. Regularised methods overlay the truth; the plain trapezoid needs its own axis.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INTEGRATION</a:t>
            </a:r>
          </a:p>
        </p:txBody>
      </p:sp>
      <p:sp>
        <p:nvSpPr>
          <p:cNvPr id="3" name="Title 2"/>
          <p:cNvSpPr>
            <a:spLocks noGrp="1"/>
          </p:cNvSpPr>
          <p:nvPr>
            <p:ph type="title" idx="102"/>
          </p:nvPr>
        </p:nvSpPr>
        <p:spPr/>
        <p:txBody>
          <a:bodyPr/>
          <a:lstStyle/>
          <a:p>
            <a:r>
              <a:t>If you have both sensors, use both at once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pic>
        <p:nvPicPr>
          <p:cNvPr id="26" name="Picture 25" descr="image.png"/>
          <p:cNvPicPr>
            <a:picLocks noChangeAspect="1"/>
          </p:cNvPicPr>
          <p:nvPr/>
        </p:nvPicPr>
        <p:blipFill>
          <a:blip r:embed="rId3"/>
          <a:stretch>
            <a:fillRect/>
          </a:stretch>
        </p:blipFill>
        <p:spPr>
          <a:xfrm>
            <a:off x="1829942" y="1920240"/>
            <a:ext cx="8538210" cy="3794760"/>
          </a:xfrm>
          <a:prstGeom prst="rect">
            <a:avLst/>
          </a:prstGeom>
        </p:spPr>
      </p:pic>
      <p:sp>
        <p:nvSpPr>
          <p:cNvPr id="27" name="TextBox 26"/>
          <p:cNvSpPr txBox="1"/>
          <p:nvPr/>
        </p:nvSpPr>
        <p:spPr>
          <a:xfrm>
            <a:off x="1829942" y="5824728"/>
            <a:ext cx="8538210" cy="502920"/>
          </a:xfrm>
          <a:prstGeom prst="rect">
            <a:avLst/>
          </a:prstGeom>
          <a:noFill/>
        </p:spPr>
        <p:txBody>
          <a:bodyPr wrap="square" lIns="0" rIns="0" tIns="0" bIns="0">
            <a:spAutoFit/>
          </a:bodyPr>
          <a:lstStyle/>
          <a:p>
            <a:r>
              <a:rPr sz="1300" b="0" i="1">
                <a:solidFill>
                  <a:srgbClr val="5B6168"/>
                </a:solidFill>
              </a:rPr>
              <a:t>One state-space smoother, 200 Hz displacement at 3% noise fused with 2 kHz acceleration at 1% noise plus drift.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04</a:t>
            </a:r>
          </a:p>
        </p:txBody>
      </p:sp>
      <p:sp>
        <p:nvSpPr>
          <p:cNvPr id="3" name="Title 2"/>
          <p:cNvSpPr>
            <a:spLocks noGrp="1"/>
          </p:cNvSpPr>
          <p:nvPr>
            <p:ph type="title" idx="102"/>
          </p:nvPr>
        </p:nvSpPr>
        <p:spPr/>
        <p:txBody>
          <a:bodyPr/>
          <a:lstStyle/>
          <a:p>
            <a:r>
              <a:t>In practice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A9B6BF"/>
                </a:solidFill>
              </a:defRPr>
            </a:lvl1pPr>
          </a:lstStyle>
          <a:p>
            <a:pPr algn="r"/>
            <a:fld id="{F7021451-1387-4CA6-816F-3879F97B5CBC}" type="slidenum">
              <a:rPr b="0" lang="en-US"/>
              <a:t>1003</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The comparison on one slide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1005</a:t>
            </a:fld>
            <a:endParaRPr lang="en-US"/>
          </a:p>
        </p:txBody>
      </p:sp>
      <p:sp>
        <p:nvSpPr>
          <p:cNvPr id="26" name="TextBox 25"/>
          <p:cNvSpPr txBox="1"/>
          <p:nvPr/>
        </p:nvSpPr>
        <p:spPr>
          <a:xfrm>
            <a:off x="612648" y="1901952"/>
            <a:ext cx="10972800" cy="365760"/>
          </a:xfrm>
          <a:prstGeom prst="rect">
            <a:avLst/>
          </a:prstGeom>
          <a:noFill/>
        </p:spPr>
        <p:txBody>
          <a:bodyPr wrap="square" lIns="0" rIns="0" tIns="0" bIns="0">
            <a:spAutoFit/>
          </a:bodyPr>
          <a:lstStyle/>
          <a:p>
            <a:r>
              <a:rPr sz="1500" b="0" i="1">
                <a:solidFill>
                  <a:srgbClr val="5B6168"/>
                </a:solidFill>
              </a:rPr>
              <a:t>Knobs = free parameters you must choose; three methods now set their own</a:t>
            </a:r>
          </a:p>
        </p:txBody>
      </p:sp>
      <p:graphicFrame>
        <p:nvGraphicFramePr>
          <p:cNvPr id="27" name="Table 26"/>
          <p:cNvGraphicFramePr>
            <a:graphicFrameLocks noGrp="1"/>
          </p:cNvGraphicFramePr>
          <p:nvPr/>
        </p:nvGraphicFramePr>
        <p:xfrm>
          <a:off x="612648" y="2377440"/>
          <a:ext cx="10972800" cy="3291840"/>
        </p:xfrm>
        <a:graphic>
          <a:graphicData uri="http://schemas.openxmlformats.org/drawingml/2006/table">
            <a:tbl>
              <a:tblPr firstRow="0" bandRow="0">
                <a:tableStyleId>{5940675A-B579-460E-94D1-54222C63F5DA}</a:tableStyleId>
              </a:tblPr>
              <a:tblGrid>
                <a:gridCol w="2592000"/>
                <a:gridCol w="2073600"/>
                <a:gridCol w="864000"/>
                <a:gridCol w="864000"/>
                <a:gridCol w="777600"/>
                <a:gridCol w="1036800"/>
                <a:gridCol w="2764800"/>
              </a:tblGrid>
              <a:tr h="329184">
                <a:tc>
                  <a:txBody>
                    <a:bodyPr/>
                    <a:lstStyle/>
                    <a:p>
                      <a:r>
                        <a:rPr sz="1200" b="1" i="0">
                          <a:solidFill>
                            <a:srgbClr val="F7F6F2"/>
                          </a:solidFill>
                        </a:rPr>
                        <a:t>Method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Prior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Knobs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Ends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Gaps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Error bars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c>
                  <a:txBody>
                    <a:bodyPr/>
                    <a:lstStyle/>
                    <a:p>
                      <a:r>
                        <a:rPr sz="1200" b="1" i="0">
                          <a:solidFill>
                            <a:srgbClr val="F7F6F2"/>
                          </a:solidFill>
                        </a:rPr>
                        <a:t>Best at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132433"/>
                    </a:solidFill>
                  </a:tcPr>
                </a:tc>
              </a:tr>
              <a:tr h="329184">
                <a:tc>
                  <a:txBody>
                    <a:bodyPr/>
                    <a:lstStyle/>
                    <a:p>
                      <a:r>
                        <a:rPr sz="1300" b="1" i="0">
                          <a:solidFill>
                            <a:srgbClr val="132433"/>
                          </a:solidFill>
                        </a:rPr>
                        <a:t>Spectral (FFT)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bandlimited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poor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long uniform records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29184">
                <a:tc>
                  <a:txBody>
                    <a:bodyPr/>
                    <a:lstStyle/>
                    <a:p>
                      <a:r>
                        <a:rPr sz="1300" b="1" i="0">
                          <a:solidFill>
                            <a:srgbClr val="132433"/>
                          </a:solidFill>
                        </a:rPr>
                        <a:t>Savitzky–Golay</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local polynomial</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2</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fair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quick first derivatives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29184">
                <a:tc>
                  <a:txBody>
                    <a:bodyPr/>
                    <a:lstStyle/>
                    <a:p>
                      <a:r>
                        <a:rPr sz="1300" b="1" i="0">
                          <a:solidFill>
                            <a:srgbClr val="132433"/>
                          </a:solidFill>
                        </a:rPr>
                        <a:t>Whittaker / Tikhonov</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small p-th deriv.</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good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smooth data, both directions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29184">
                <a:tc>
                  <a:txBody>
                    <a:bodyPr/>
                    <a:lstStyle/>
                    <a:p>
                      <a:r>
                        <a:rPr sz="1300" b="1" i="0">
                          <a:solidFill>
                            <a:srgbClr val="132433"/>
                          </a:solidFill>
                        </a:rPr>
                        <a:t>Smoothing spline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small p-th deriv.</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good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yes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non-uniform sampling</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29184">
                <a:tc>
                  <a:txBody>
                    <a:bodyPr/>
                    <a:lstStyle/>
                    <a:p>
                      <a:r>
                        <a:rPr sz="1300" b="1" i="0">
                          <a:solidFill>
                            <a:srgbClr val="132433"/>
                          </a:solidFill>
                        </a:rPr>
                        <a:t>Total variation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piecewise-const.</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good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impacts, stick–slip</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29184">
                <a:tc>
                  <a:txBody>
                    <a:bodyPr/>
                    <a:lstStyle/>
                    <a:p>
                      <a:r>
                        <a:rPr sz="1300" b="1" i="0">
                          <a:solidFill>
                            <a:srgbClr val="132433"/>
                          </a:solidFill>
                        </a:rPr>
                        <a:t>State-space smoother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integrated Wiener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good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yes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yes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everything else, and fusion</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29184">
                <a:tc>
                  <a:txBody>
                    <a:bodyPr/>
                    <a:lstStyle/>
                    <a:p>
                      <a:r>
                        <a:rPr sz="1300" b="1" i="0">
                          <a:solidFill>
                            <a:srgbClr val="9A5323"/>
                          </a:solidFill>
                        </a:rPr>
                        <a:t>Delay SVD / SOD (new)</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low-rank delay space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0</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good</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free decays, ringdowns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r h="329184">
                <a:tc>
                  <a:txBody>
                    <a:bodyPr/>
                    <a:lstStyle/>
                    <a:p>
                      <a:r>
                        <a:rPr sz="1300" b="1" i="0">
                          <a:solidFill>
                            <a:srgbClr val="9A5323"/>
                          </a:solidFill>
                        </a:rPr>
                        <a:t>Kalman filter, causal (new)</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integrated Wiener</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0</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n/a</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yes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yes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c>
                  <a:txBody>
                    <a:bodyPr/>
                    <a:lstStyle/>
                    <a:p>
                      <a:r>
                        <a:rPr sz="1300" b="0" i="0">
                          <a:solidFill>
                            <a:srgbClr val="132433"/>
                          </a:solidFill>
                        </a:rPr>
                        <a:t>online / control loops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EFEDE7"/>
                    </a:solidFill>
                  </a:tcPr>
                </a:tc>
              </a:tr>
              <a:tr h="329184">
                <a:tc>
                  <a:txBody>
                    <a:bodyPr/>
                    <a:lstStyle/>
                    <a:p>
                      <a:r>
                        <a:rPr sz="1300" b="1" i="0">
                          <a:solidFill>
                            <a:srgbClr val="132433"/>
                          </a:solidFill>
                        </a:rPr>
                        <a:t>Levant sliding mode</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bounded 3rd deriv.</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1</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n/a</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no</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c>
                  <a:txBody>
                    <a:bodyPr/>
                    <a:lstStyle/>
                    <a:p>
                      <a:r>
                        <a:rPr sz="1300" b="0" i="0">
                          <a:solidFill>
                            <a:srgbClr val="132433"/>
                          </a:solidFill>
                        </a:rPr>
                        <a:t>finite-time exactness</a:t>
                      </a:r>
                    </a:p>
                  </a:txBody>
                  <a:tcPr marL="91440" marR="91440" marT="27432" marB="27432" anchor="ctr">
                    <a:lnL w="6350">
                      <a:solidFill>
                        <a:srgbClr val="DCD9D2"/>
                      </a:solidFill>
                    </a:lnL>
                    <a:lnR w="6350">
                      <a:solidFill>
                        <a:srgbClr val="DCD9D2"/>
                      </a:solidFill>
                    </a:lnR>
                    <a:lnT w="6350">
                      <a:solidFill>
                        <a:srgbClr val="DCD9D2"/>
                      </a:solidFill>
                    </a:lnT>
                    <a:lnB w="6350">
                      <a:solidFill>
                        <a:srgbClr val="DCD9D2"/>
                      </a:solidFill>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What to actually do</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500" b="0" i="1">
                <a:solidFill>
                  <a:srgbClr val="5B6168"/>
                </a:solidFill>
              </a:rPr>
              <a:t>A decision list, in the order the questions actually arise</a:t>
            </a:r>
          </a:p>
          <a:p>
            <a:pPr marL="342900" indent="-285750">
              <a:spcAft>
                <a:spcPts val="800"/>
              </a:spcAft>
              <a:buClr>
                <a:srgbClr val="B4622A"/>
              </a:buClr>
              <a:buSzPct val="100000"/>
              <a:buChar char="•"/>
            </a:pPr>
            <a:r>
              <a:rPr sz="1600" b="0" i="0">
                <a:solidFill>
                  <a:srgbClr val="132433"/>
                </a:solidFill>
              </a:rPr>
              <a:t>Smooth data, one sensor, want it simple  →  Whittaker–Henderson, cutoff from physics.</a:t>
            </a:r>
          </a:p>
          <a:p>
            <a:pPr marL="342900" indent="-285750">
              <a:spcAft>
                <a:spcPts val="800"/>
              </a:spcAft>
              <a:buClr>
                <a:srgbClr val="B4622A"/>
              </a:buClr>
              <a:buSzPct val="100000"/>
              <a:buChar char="•"/>
            </a:pPr>
            <a:r>
              <a:rPr sz="1600" b="0" i="0">
                <a:solidFill>
                  <a:srgbClr val="132433"/>
                </a:solidFill>
              </a:rPr>
              <a:t>Smooth data, want no knob or need uncertainty  →  state-space smoother, nstate = 4 (5 if very clean).</a:t>
            </a:r>
          </a:p>
          <a:p>
            <a:pPr marL="342900" indent="-285750">
              <a:spcAft>
                <a:spcPts val="800"/>
              </a:spcAft>
              <a:buClr>
                <a:srgbClr val="B4622A"/>
              </a:buClr>
              <a:buSzPct val="100000"/>
              <a:buChar char="•"/>
            </a:pPr>
            <a:r>
              <a:rPr sz="1600" b="0" i="0">
                <a:solidFill>
                  <a:srgbClr val="132433"/>
                </a:solidFill>
              </a:rPr>
              <a:t>Quasi-periodic record (free decay, ringdown, steady forced response)  →  delay SVD, no knob.</a:t>
            </a:r>
          </a:p>
          <a:p>
            <a:pPr marL="342900" indent="-285750">
              <a:spcAft>
                <a:spcPts val="800"/>
              </a:spcAft>
              <a:buClr>
                <a:srgbClr val="B4622A"/>
              </a:buClr>
              <a:buSzPct val="100000"/>
              <a:buChar char="•"/>
            </a:pPr>
            <a:r>
              <a:rPr sz="1600" b="0" i="0">
                <a:solidFill>
                  <a:srgbClr val="132433"/>
                </a:solidFill>
              </a:rPr>
              <a:t>Two sensors  →  always fuse them in one smoother. Never process them separately and reconcile after.</a:t>
            </a:r>
          </a:p>
          <a:p>
            <a:pPr marL="342900" indent="-285750">
              <a:spcAft>
                <a:spcPts val="800"/>
              </a:spcAft>
              <a:buClr>
                <a:srgbClr val="B4622A"/>
              </a:buClr>
              <a:buSzPct val="100000"/>
              <a:buChar char="•"/>
            </a:pPr>
            <a:r>
              <a:rPr sz="1600" b="0" i="0">
                <a:solidFill>
                  <a:srgbClr val="132433"/>
                </a:solidFill>
              </a:rPr>
              <a:t>Impacts, backlash, stick–slip  →  total variation, and check that the solver converged.</a:t>
            </a:r>
          </a:p>
          <a:p>
            <a:pPr marL="342900" indent="-285750">
              <a:spcAft>
                <a:spcPts val="800"/>
              </a:spcAft>
              <a:buClr>
                <a:srgbClr val="B4622A"/>
              </a:buClr>
              <a:buSzPct val="100000"/>
              <a:buChar char="•"/>
            </a:pPr>
            <a:r>
              <a:rPr sz="1600" b="0" i="0">
                <a:solidFill>
                  <a:srgbClr val="132433"/>
                </a:solidFill>
              </a:rPr>
              <a:t>Integrating acceleration alone  →  Tikhonov or a bias-state smoother; report the high-pass corner.</a:t>
            </a:r>
          </a:p>
          <a:p>
            <a:pPr marL="342900" indent="-285750">
              <a:spcAft>
                <a:spcPts val="800"/>
              </a:spcAft>
              <a:buClr>
                <a:srgbClr val="B4622A"/>
              </a:buClr>
              <a:buSzPct val="100000"/>
              <a:buChar char="•"/>
            </a:pPr>
            <a:r>
              <a:rPr sz="1600" b="0" i="0">
                <a:solidFill>
                  <a:srgbClr val="132433"/>
                </a:solidFill>
              </a:rPr>
              <a:t>Online or in a control loop  →  the causal Kalman filter; Levant only when you need finite-time exactness with a known bound.</a:t>
            </a:r>
          </a:p>
          <a:p>
            <a:pPr marL="342900" indent="-285750">
              <a:spcAft>
                <a:spcPts val="800"/>
              </a:spcAft>
              <a:buClr>
                <a:srgbClr val="B4622A"/>
              </a:buClr>
              <a:buSzPct val="100000"/>
              <a:buChar char="•"/>
            </a:pPr>
            <a:r>
              <a:rPr sz="1600" b="0" i="0">
                <a:solidFill>
                  <a:srgbClr val="132433"/>
                </a:solidFill>
              </a:rPr>
              <a:t>Never: a bare finite difference, or a bare cumulative trapezoid.</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Validating on a record with no ground truth</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700" b="0" i="1">
                <a:solidFill>
                  <a:srgbClr val="5B6168"/>
                </a:solidFill>
              </a:rPr>
              <a:t>Four checks that cost minutes and one habit that costs nothing</a:t>
            </a:r>
          </a:p>
          <a:p>
            <a:pPr marL="342900" indent="-285750">
              <a:spcAft>
                <a:spcPts val="800"/>
              </a:spcAft>
              <a:buClr>
                <a:srgbClr val="B4622A"/>
              </a:buClr>
              <a:buSzPct val="100000"/>
              <a:buChar char="•"/>
            </a:pPr>
            <a:r>
              <a:rPr sz="1800" b="0" i="0">
                <a:solidFill>
                  <a:srgbClr val="132433"/>
                </a:solidFill>
              </a:rPr>
              <a:t>Everything shown here was measured against an exact solution. On your data you have none — so:</a:t>
            </a:r>
          </a:p>
          <a:p>
            <a:pPr marL="342900" indent="-285750">
              <a:spcAft>
                <a:spcPts val="800"/>
              </a:spcAft>
              <a:buClr>
                <a:srgbClr val="B4622A"/>
              </a:buClr>
              <a:buSzPct val="100000"/>
              <a:buChar char="•"/>
            </a:pPr>
            <a:r>
              <a:rPr sz="1800" b="0" i="0">
                <a:solidFill>
                  <a:srgbClr val="132433"/>
                </a:solidFill>
              </a:rPr>
              <a:t>Cross-check. Differentiate the estimated displacement twice; compare with the measured acceleration in the band you trust.</a:t>
            </a:r>
          </a:p>
          <a:p>
            <a:pPr marL="342900" indent="-285750">
              <a:spcAft>
                <a:spcPts val="800"/>
              </a:spcAft>
              <a:buClr>
                <a:srgbClr val="B4622A"/>
              </a:buClr>
              <a:buSzPct val="100000"/>
              <a:buChar char="•"/>
            </a:pPr>
            <a:r>
              <a:rPr sz="1800" b="0" i="0">
                <a:solidFill>
                  <a:srgbClr val="132433"/>
                </a:solidFill>
              </a:rPr>
              <a:t>Read the posterior band. If the feature you are interpreting is narrower than ±2σ, it is not there.</a:t>
            </a:r>
          </a:p>
          <a:p>
            <a:pPr marL="342900" indent="-285750">
              <a:spcAft>
                <a:spcPts val="800"/>
              </a:spcAft>
              <a:buClr>
                <a:srgbClr val="B4622A"/>
              </a:buClr>
              <a:buSzPct val="100000"/>
              <a:buChar char="•"/>
            </a:pPr>
            <a:r>
              <a:rPr sz="1800" b="0" i="0">
                <a:solidFill>
                  <a:srgbClr val="132433"/>
                </a:solidFill>
              </a:rPr>
              <a:t>Move the knob. Change the cutoff by a factor of two either way; if the answer moves more than the band, report that.</a:t>
            </a:r>
          </a:p>
          <a:p>
            <a:pPr marL="342900" indent="-285750">
              <a:spcAft>
                <a:spcPts val="800"/>
              </a:spcAft>
              <a:buClr>
                <a:srgbClr val="B4622A"/>
              </a:buClr>
              <a:buSzPct val="100000"/>
              <a:buChar char="•"/>
            </a:pPr>
            <a:r>
              <a:rPr sz="1800" b="0" i="0">
                <a:solidFill>
                  <a:srgbClr val="132433"/>
                </a:solidFill>
              </a:rPr>
              <a:t>Hold out a channel. With two sensors, fit on one and predict the other — the honest test.</a:t>
            </a:r>
          </a:p>
          <a:p>
            <a:pPr marL="342900" indent="-285750">
              <a:spcAft>
                <a:spcPts val="800"/>
              </a:spcAft>
              <a:buClr>
                <a:srgbClr val="B4622A"/>
              </a:buClr>
              <a:buSzPct val="100000"/>
              <a:buChar char="•"/>
            </a:pPr>
            <a:r>
              <a:rPr sz="1800" b="0" i="0">
                <a:solidFill>
                  <a:srgbClr val="132433"/>
                </a:solidFill>
              </a:rPr>
              <a:t>State your choices. Method, cutoff or high-pass corner, and solver convergence, alongside the sampling rate.</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Summary</a:t>
            </a:r>
          </a:p>
        </p:txBody>
      </p:sp>
      <p:sp>
        <p:nvSpPr>
          <p:cNvPr id="4" name="Text Placeholder 3"/>
          <p:cNvSpPr>
            <a:spLocks noGrp="1"/>
          </p:cNvSpPr>
          <p:nvPr>
            <p:ph type="body" idx="103"/>
          </p:nvPr>
        </p:nvSpPr>
        <p:spPr>
          <a:xfrm>
            <a:off x="612648" y="1965960"/>
            <a:ext cx="10972800" cy="4160520"/>
          </a:xfrm>
        </p:spPr>
        <p:txBody>
          <a:bodyPr/>
          <a:lstStyle/>
          <a:p>
            <a:pPr marL="342900" indent="-285750">
              <a:spcAft>
                <a:spcPts val="800"/>
              </a:spcAft>
              <a:buClr>
                <a:srgbClr val="B4622A"/>
              </a:buClr>
              <a:buSzPct val="100000"/>
              <a:buChar char="•"/>
            </a:pPr>
            <a:r>
              <a:rPr sz="1600" b="0" i="0">
                <a:solidFill>
                  <a:srgbClr val="132433"/>
                </a:solidFill>
              </a:rPr>
              <a:t>Differentiating displacement and integrating acceleration are one ill-posed problem, not two.</a:t>
            </a:r>
          </a:p>
          <a:p>
            <a:pPr marL="342900" indent="-285750">
              <a:spcAft>
                <a:spcPts val="800"/>
              </a:spcAft>
              <a:buClr>
                <a:srgbClr val="B4622A"/>
              </a:buClr>
              <a:buSzPct val="100000"/>
              <a:buChar char="•"/>
            </a:pPr>
            <a:r>
              <a:rPr sz="1600" b="0" i="0">
                <a:solidFill>
                  <a:srgbClr val="132433"/>
                </a:solidFill>
              </a:rPr>
              <a:t>Noise amplification is a property of the operator. Every method you can choose adds a prior instead.</a:t>
            </a:r>
          </a:p>
          <a:p>
            <a:pPr marL="342900" indent="-285750">
              <a:spcAft>
                <a:spcPts val="800"/>
              </a:spcAft>
              <a:buClr>
                <a:srgbClr val="B4622A"/>
              </a:buClr>
              <a:buSzPct val="100000"/>
              <a:buChar char="•"/>
            </a:pPr>
            <a:r>
              <a:rPr sz="1600" b="0" i="0">
                <a:solidFill>
                  <a:srgbClr val="132433"/>
                </a:solidFill>
              </a:rPr>
              <a:t>So the real question is never 'which filter' — it is 'what do I believe about this signal?'</a:t>
            </a:r>
          </a:p>
          <a:p>
            <a:pPr marL="342900" indent="-285750">
              <a:spcAft>
                <a:spcPts val="800"/>
              </a:spcAft>
              <a:buClr>
                <a:srgbClr val="B4622A"/>
              </a:buClr>
              <a:buSzPct val="100000"/>
              <a:buChar char="•"/>
            </a:pPr>
            <a:r>
              <a:rPr sz="1600" b="0" i="0">
                <a:solidFill>
                  <a:srgbClr val="132433"/>
                </a:solidFill>
              </a:rPr>
              <a:t>For smooth vibration data: a quadratic penalty, tuned from a cutoff in hertz.</a:t>
            </a:r>
          </a:p>
          <a:p>
            <a:pPr marL="342900" indent="-285750">
              <a:spcAft>
                <a:spcPts val="800"/>
              </a:spcAft>
              <a:buClr>
                <a:srgbClr val="B4622A"/>
              </a:buClr>
              <a:buSzPct val="100000"/>
              <a:buChar char="•"/>
            </a:pPr>
            <a:r>
              <a:rPr sz="1600" b="0" i="0">
                <a:solidFill>
                  <a:srgbClr val="132433"/>
                </a:solidFill>
              </a:rPr>
              <a:t>For a quasi-periodic record: project onto its delay-space subspace first. Self-tuned, it beat every oracle-tuned method here.</a:t>
            </a:r>
          </a:p>
          <a:p>
            <a:pPr marL="342900" indent="-285750">
              <a:spcAft>
                <a:spcPts val="800"/>
              </a:spcAft>
              <a:buClr>
                <a:srgbClr val="B4622A"/>
              </a:buClr>
              <a:buSzPct val="100000"/>
              <a:buChar char="•"/>
            </a:pPr>
            <a:r>
              <a:rPr sz="1600" b="0" i="0">
                <a:solidFill>
                  <a:srgbClr val="132433"/>
                </a:solidFill>
              </a:rPr>
              <a:t>For a genuine corner: an L1 penalty, with the solver's convergence checked.</a:t>
            </a:r>
          </a:p>
          <a:p>
            <a:pPr marL="342900" indent="-285750">
              <a:spcAft>
                <a:spcPts val="800"/>
              </a:spcAft>
              <a:buClr>
                <a:srgbClr val="B4622A"/>
              </a:buClr>
              <a:buSzPct val="100000"/>
              <a:buChar char="•"/>
            </a:pPr>
            <a:r>
              <a:rPr sz="1600" b="0" i="0">
                <a:solidFill>
                  <a:srgbClr val="132433"/>
                </a:solidFill>
              </a:rPr>
              <a:t>For anything else — gaps, two sensors, no time to tune, or a need for error bars: the state-space smoother.</a:t>
            </a:r>
          </a:p>
          <a:p>
            <a:pPr marL="342900" indent="-285750">
              <a:spcAft>
                <a:spcPts val="800"/>
              </a:spcAft>
              <a:buClr>
                <a:srgbClr val="B4622A"/>
              </a:buClr>
              <a:buSzPct val="100000"/>
              <a:buChar char="•"/>
            </a:pPr>
            <a:r>
              <a:rPr sz="1600" b="0" i="0">
                <a:solidFill>
                  <a:srgbClr val="132433"/>
                </a:solidFill>
              </a:rPr>
              <a:t>And if you have displacement and acceleration, fuse them. It is strictly better and it removes a knob.</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Implementation</a:t>
            </a:r>
          </a:p>
        </p:txBody>
      </p:sp>
      <p:sp>
        <p:nvSpPr>
          <p:cNvPr id="4" name="Text Placeholder 3"/>
          <p:cNvSpPr>
            <a:spLocks noGrp="1"/>
          </p:cNvSpPr>
          <p:nvPr>
            <p:ph type="body" idx="103"/>
          </p:nvPr>
        </p:nvSpPr>
        <p:spPr>
          <a:xfrm>
            <a:off x="612648" y="1965960"/>
            <a:ext cx="10972800" cy="4160520"/>
          </a:xfrm>
        </p:spPr>
        <p:txBody>
          <a:bodyPr/>
          <a:lstStyle/>
          <a:p>
            <a:pPr marL="342900" indent="-285750">
              <a:spcAft>
                <a:spcPts val="800"/>
              </a:spcAft>
              <a:buClr>
                <a:srgbClr val="B4622A"/>
              </a:buClr>
              <a:buSzPct val="100000"/>
              <a:buChar char="•"/>
            </a:pPr>
            <a:r>
              <a:rPr sz="1800" b="0" i="0">
                <a:solidFill>
                  <a:srgbClr val="132433"/>
                </a:solidFill>
              </a:rPr>
              <a:t>Python and MATLAB implementations of every method here, with matching names.</a:t>
            </a:r>
          </a:p>
          <a:p>
            <a:pPr marL="685800" indent="-285750">
              <a:spcBef>
                <a:spcPts val="0"/>
              </a:spcBef>
              <a:spcAft>
                <a:spcPts val="600"/>
              </a:spcAft>
              <a:buClr>
                <a:srgbClr val="5B6168"/>
              </a:buClr>
              <a:buSzPct val="100000"/>
              <a:buChar char="–"/>
            </a:pPr>
            <a:r>
              <a:rPr sz="1500" b="0" i="0">
                <a:solidFill>
                  <a:srgbClr val="5B6168"/>
                </a:solidFill>
              </a:rPr>
              <a:t>kin_diff_whittaker, kin_diff_spectral, kin_diff_savgol, kin_diff_tvreg, kin_diff_spline, kin_diff_gp, kin_diff_levant</a:t>
            </a:r>
          </a:p>
          <a:p>
            <a:pPr marL="685800" indent="-285750">
              <a:spcBef>
                <a:spcPts val="0"/>
              </a:spcBef>
              <a:spcAft>
                <a:spcPts val="600"/>
              </a:spcAft>
              <a:buClr>
                <a:srgbClr val="5B6168"/>
              </a:buClr>
              <a:buSzPct val="100000"/>
              <a:buChar char="–"/>
            </a:pPr>
            <a:r>
              <a:rPr sz="1500" b="0" i="0">
                <a:solidFill>
                  <a:srgbClr val="5B6168"/>
                </a:solidFill>
              </a:rPr>
              <a:t>kin_int_tikhonov, kin_int_spectral, kin_int_trapz_detrend</a:t>
            </a:r>
          </a:p>
          <a:p>
            <a:pPr marL="685800" indent="-285750">
              <a:spcBef>
                <a:spcPts val="0"/>
              </a:spcBef>
              <a:spcAft>
                <a:spcPts val="600"/>
              </a:spcAft>
              <a:buClr>
                <a:srgbClr val="5B6168"/>
              </a:buClr>
              <a:buSzPct val="100000"/>
              <a:buChar char="–"/>
            </a:pPr>
            <a:r>
              <a:rPr sz="1500" b="0" i="0">
                <a:solidFill>
                  <a:srgbClr val="5B6168"/>
                </a:solidFill>
              </a:rPr>
              <a:t>kin_delay_project, kin_diff_delay, kin_int_delay — delay reconstruction, SVD or SOD</a:t>
            </a:r>
          </a:p>
          <a:p>
            <a:pPr marL="685800" indent="-285750">
              <a:spcBef>
                <a:spcPts val="0"/>
              </a:spcBef>
              <a:spcAft>
                <a:spcPts val="600"/>
              </a:spcAft>
              <a:buClr>
                <a:srgbClr val="5B6168"/>
              </a:buClr>
              <a:buSzPct val="100000"/>
              <a:buChar char="–"/>
            </a:pPr>
            <a:r>
              <a:rPr sz="1500" b="0" i="0">
                <a:solidFill>
                  <a:srgbClr val="5B6168"/>
                </a:solidFill>
              </a:rPr>
              <a:t>kin_smooth — differentiation, integration, fusion; causal option for online use</a:t>
            </a:r>
          </a:p>
          <a:p>
            <a:pPr marL="342900" indent="-285750">
              <a:spcAft>
                <a:spcPts val="800"/>
              </a:spcAft>
              <a:buClr>
                <a:srgbClr val="B4622A"/>
              </a:buClr>
              <a:buSzPct val="100000"/>
              <a:buChar char="•"/>
            </a:pPr>
            <a:r>
              <a:rPr sz="1800" b="0" i="0">
                <a:solidFill>
                  <a:srgbClr val="132433"/>
                </a:solidFill>
              </a:rPr>
              <a:t>Cross-validated between the two languages: 38 of 38 checks pass, agreement 1e-16 to 1e-4.</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IN PRACTICE</a:t>
            </a:r>
          </a:p>
        </p:txBody>
      </p:sp>
      <p:sp>
        <p:nvSpPr>
          <p:cNvPr id="3" name="Title 2"/>
          <p:cNvSpPr>
            <a:spLocks noGrp="1"/>
          </p:cNvSpPr>
          <p:nvPr>
            <p:ph type="title" idx="102"/>
          </p:nvPr>
        </p:nvSpPr>
        <p:spPr/>
        <p:txBody>
          <a:bodyPr/>
          <a:lstStyle/>
          <a:p>
            <a:r>
              <a:t>References</a:t>
            </a:r>
          </a:p>
        </p:txBody>
      </p:sp>
      <p:sp>
        <p:nvSpPr>
          <p:cNvPr id="4" name="Text Placeholder 3"/>
          <p:cNvSpPr>
            <a:spLocks noGrp="1"/>
          </p:cNvSpPr>
          <p:nvPr>
            <p:ph type="body" idx="103"/>
          </p:nvPr>
        </p:nvSpPr>
        <p:spPr>
          <a:xfrm>
            <a:off x="612648" y="1965960"/>
            <a:ext cx="10972800" cy="4160520"/>
          </a:xfrm>
        </p:spPr>
        <p:txBody>
          <a:bodyPr/>
          <a:lstStyle/>
          <a:p>
            <a:pPr marL="0" indent="0">
              <a:spcAft>
                <a:spcPts val="1400"/>
              </a:spcAft>
              <a:buNone/>
            </a:pPr>
            <a:r>
              <a:rPr sz="1500" b="0" i="1">
                <a:solidFill>
                  <a:srgbClr val="5B6168"/>
                </a:solidFill>
              </a:rPr>
              <a:t>Primary sources for each family, not a full bibliography</a:t>
            </a:r>
          </a:p>
          <a:p>
            <a:pPr marL="342900" indent="-285750">
              <a:spcAft>
                <a:spcPts val="800"/>
              </a:spcAft>
              <a:buClr>
                <a:srgbClr val="B4622A"/>
              </a:buClr>
              <a:buSzPct val="100000"/>
              <a:buChar char="•"/>
            </a:pPr>
            <a:r>
              <a:rPr sz="1600" b="0" i="0">
                <a:solidFill>
                  <a:srgbClr val="132433"/>
                </a:solidFill>
              </a:rPr>
              <a:t>Chartrand (2011), Numerical differentiation of noisy, nonsmooth data — ISRN Appl. Math.</a:t>
            </a:r>
          </a:p>
          <a:p>
            <a:pPr marL="342900" indent="-285750">
              <a:spcAft>
                <a:spcPts val="800"/>
              </a:spcAft>
              <a:buClr>
                <a:srgbClr val="B4622A"/>
              </a:buClr>
              <a:buSzPct val="100000"/>
              <a:buChar char="•"/>
            </a:pPr>
            <a:r>
              <a:rPr sz="1600" b="0" i="0">
                <a:solidFill>
                  <a:srgbClr val="132433"/>
                </a:solidFill>
              </a:rPr>
              <a:t>Eilers (2003), A perfect smoother — Anal. Chem. 75:3631</a:t>
            </a:r>
          </a:p>
          <a:p>
            <a:pPr marL="342900" indent="-285750">
              <a:spcAft>
                <a:spcPts val="800"/>
              </a:spcAft>
              <a:buClr>
                <a:srgbClr val="B4622A"/>
              </a:buClr>
              <a:buSzPct val="100000"/>
              <a:buChar char="•"/>
            </a:pPr>
            <a:r>
              <a:rPr sz="1600" b="0" i="0">
                <a:solidFill>
                  <a:srgbClr val="132433"/>
                </a:solidFill>
              </a:rPr>
              <a:t>Särkkä &amp; Solin, Applied Stochastic Differential Equations, CUP 2019</a:t>
            </a:r>
          </a:p>
          <a:p>
            <a:pPr marL="342900" indent="-285750">
              <a:spcAft>
                <a:spcPts val="800"/>
              </a:spcAft>
              <a:buClr>
                <a:srgbClr val="B4622A"/>
              </a:buClr>
              <a:buSzPct val="100000"/>
              <a:buChar char="•"/>
            </a:pPr>
            <a:r>
              <a:rPr sz="1600" b="0" i="0">
                <a:solidFill>
                  <a:srgbClr val="132433"/>
                </a:solidFill>
              </a:rPr>
              <a:t>Kim, Koh, Boyd &amp; Gorinevsky (2009), l1 trend filtering — SIAM Review 51(2):339</a:t>
            </a:r>
          </a:p>
          <a:p>
            <a:pPr marL="342900" indent="-285750">
              <a:spcAft>
                <a:spcPts val="800"/>
              </a:spcAft>
              <a:buClr>
                <a:srgbClr val="B4622A"/>
              </a:buClr>
              <a:buSzPct val="100000"/>
              <a:buChar char="•"/>
            </a:pPr>
            <a:r>
              <a:rPr sz="1600" b="0" i="0">
                <a:solidFill>
                  <a:srgbClr val="132433"/>
                </a:solidFill>
              </a:rPr>
              <a:t>Levant (1998), Robust exact differentiation via sliding mode technique — Automatica 34:379</a:t>
            </a:r>
          </a:p>
          <a:p>
            <a:pPr marL="342900" indent="-285750">
              <a:spcAft>
                <a:spcPts val="800"/>
              </a:spcAft>
              <a:buClr>
                <a:srgbClr val="B4622A"/>
              </a:buClr>
              <a:buSzPct val="100000"/>
              <a:buChar char="•"/>
            </a:pPr>
            <a:r>
              <a:rPr sz="1600" b="0" i="0">
                <a:solidFill>
                  <a:srgbClr val="132433"/>
                </a:solidFill>
              </a:rPr>
              <a:t>Broomhead &amp; King (1986), Extracting qualitative dynamics from experimental data — Physica D 20</a:t>
            </a:r>
          </a:p>
          <a:p>
            <a:pPr marL="342900" indent="-285750">
              <a:spcAft>
                <a:spcPts val="800"/>
              </a:spcAft>
              <a:buClr>
                <a:srgbClr val="B4622A"/>
              </a:buClr>
              <a:buSzPct val="100000"/>
              <a:buChar char="•"/>
            </a:pPr>
            <a:r>
              <a:rPr sz="1600" b="0" i="0">
                <a:solidFill>
                  <a:srgbClr val="132433"/>
                </a:solidFill>
              </a:rPr>
              <a:t>Golyandina, Nekrutkin &amp; Zhigljavsky (2001), Analysis of Time Series Structure: SSA — CRC</a:t>
            </a:r>
          </a:p>
          <a:p>
            <a:pPr marL="342900" indent="-285750">
              <a:spcAft>
                <a:spcPts val="800"/>
              </a:spcAft>
              <a:buClr>
                <a:srgbClr val="B4622A"/>
              </a:buClr>
              <a:buSzPct val="100000"/>
              <a:buChar char="•"/>
            </a:pPr>
            <a:r>
              <a:rPr sz="1600" b="0" i="0">
                <a:solidFill>
                  <a:srgbClr val="132433"/>
                </a:solidFill>
              </a:rPr>
              <a:t>Gavish &amp; Donoho (2014), The optimal hard threshold for singular values is 4/√3 — IEEE Trans. Inf. Theory</a:t>
            </a:r>
          </a:p>
          <a:p>
            <a:pPr marL="342900" indent="-285750">
              <a:spcAft>
                <a:spcPts val="800"/>
              </a:spcAft>
              <a:buClr>
                <a:srgbClr val="B4622A"/>
              </a:buClr>
              <a:buSzPct val="100000"/>
              <a:buChar char="•"/>
            </a:pPr>
            <a:r>
              <a:rPr sz="1600" b="0" i="0">
                <a:solidFill>
                  <a:srgbClr val="132433"/>
                </a:solidFill>
              </a:rPr>
              <a:t>Chelidze &amp; Zhou (2006), Smooth orthogonal decomposition-based vibration mode identification — J. Sound Vib.</a:t>
            </a:r>
          </a:p>
        </p:txBody>
      </p:sp>
      <p:sp>
        <p:nvSpPr>
          <p:cNvPr id="25" name="Slide Number Placeholder 0"/>
          <p:cNvSpPr>
            <a:spLocks noGrp="1"/>
          </p:cNvSpPr>
          <p:nvPr>
            <p:ph type="sldNum" sz="quarter" idx="4294967295"/>
          </p:nvPr>
        </p:nvSpPr>
        <p:spPr>
          <a:xfrm>
            <a:off x="9832555" y="633679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B6168"/>
                </a:solidFill>
              </a:defRPr>
            </a:lvl1pPr>
          </a:lstStyle>
          <a:p>
            <a:pPr algn="r"/>
            <a:fld id="{F7021451-1387-4CA6-816F-3879F97B5CBC}" type="slidenum">
              <a:rPr b="0" lang="en-US"/>
              <a:t>1004</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4"/>
          </p:nvPr>
        </p:nvSpPr>
        <p:spPr/>
        <p:txBody>
          <a:bodyPr/>
          <a:lstStyle/>
          <a:p>
            <a:r>
              <a:t>Questions</a:t>
            </a:r>
          </a:p>
          <a:p>
            <a:r>
              <a:t>web.uri.edu/nld  ·  chelidze@uri.edu</a:t>
            </a:r>
          </a:p>
        </p:txBody>
      </p:sp>
    </p:spTree>
  </p:cSld>
  <p:clrMapOvr>
    <a:masterClrMapping/>
  </p:clrMapOvr>
</p:sld>
</file>

<file path=ppt/theme/theme1.xml><?xml version="1.0" encoding="utf-8"?>
<a:theme xmlns:a="http://schemas.openxmlformats.org/drawingml/2006/main" name="NLD">
  <a:themeElements>
    <a:clrScheme name="NLD">
      <a:dk1>
        <a:srgbClr val="132433"/>
      </a:dk1>
      <a:lt1>
        <a:srgbClr val="FFFFFF"/>
      </a:lt1>
      <a:dk2>
        <a:srgbClr val="5B6168"/>
      </a:dk2>
      <a:lt2>
        <a:srgbClr val="F7F6F2"/>
      </a:lt2>
      <a:accent1>
        <a:srgbClr val="1F5A85"/>
      </a:accent1>
      <a:accent2>
        <a:srgbClr val="B4622A"/>
      </a:accent2>
      <a:accent3>
        <a:srgbClr val="588A75"/>
      </a:accent3>
      <a:accent4>
        <a:srgbClr val="CA863E"/>
      </a:accent4>
      <a:accent5>
        <a:srgbClr val="774860"/>
      </a:accent5>
      <a:accent6>
        <a:srgbClr val="8FA3B0"/>
      </a:accent6>
      <a:hlink>
        <a:srgbClr val="9A5323"/>
      </a:hlink>
      <a:folHlink>
        <a:srgbClr val="774860"/>
      </a:folHlink>
    </a:clrScheme>
    <a:fontScheme name="NL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Nonlinear Dynamics Laboratory, University of Rhode Island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NLD presentation template</dc:title>
  <dc:subject>PptxGenJS Presentation</dc:subject>
  <dc:creator>Nonlinear Dynamics Laboratory</dc:creator>
  <cp:lastModifiedBy>Nonlinear Dynamics Laboratory</cp:lastModifiedBy>
  <cp:revision>1</cp:revision>
  <dcterms:created xsi:type="dcterms:W3CDTF">2026-10-10T15:32:00Z</dcterms:created>
  <dcterms:modified xsi:type="dcterms:W3CDTF">2026-10-10T15:32:00Z</dcterms:modified>
</cp:coreProperties>
</file>
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TIMING. Full deck: 34 content slides plus title, four section dividers and closing, about 46 min. The October 2026 additions are slides marked [NEW] in their notes (about 12 min). 30-minute path: drop the original optional slides (Savitzky-Golay, tuning-rule table, uncertainty band, validation checklist), the tuning-curve figure, the self-tuning cost figure, the integration figure, and the new optional slides (defaults that failed silently, where delay reconstruction helps). Keep the four delay-reconstruction core slides and the causal-filter slide. Open on the two problems; do not spend time on the title. The five animated slides run live in the browser from data computed with the toolbox.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Open by asking who in the room has done each of these. Frame the talk: this is not a survey of filters, it is one idea — that both tasks are the same inverse problem — plus the practical consequences. Everything shown is measured on a benchmark with exact ground truth, so every error quoted is a true error, not a comparison between two estimates.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This is the conceptual spine of the talk — spend time here. The key move is recognising that differentiating and integrating are not opposites to be treated with different toolkits; they are the same compact operator inverted in two directions. Emphasise the last line: when someone asks ‘which filter should I use’, the honest reformulation is ‘what do you believe about your signal?’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Left panel is the theory in one picture: differentiation multiplies by ω, integration divides by it, and both diverge. Right panel makes it concrete. The gold curve is the true acceleration spectrum — it rolls off. The red curve is what you get from differentiating a 1% noisy position twice: it RISES with frequency. Where they separate, around 30 Hz, everything to the right is amplified noise. Point out that the only information about the third and fourth modes is already buried.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computed live from the benchmark spectrum. Left: noise gain ω^n as the order n sweeps from two integrals to two derivatives. Right: signal and 1% position noise after n-fold differentiation; shaded where noise exceeds signal. Each derivative multiplies the spectrum by i omega, each integral divides by it. White position noise is flat; the signal falls off above the modes. Differentiating lifts the noise above the signal at high frequency; integrating lifts low-frequency errors (offsets, drift) instead. Same problem,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Two failure modes, deliberately shown side by side because they look nothing alike. Differentiation fails by adding high-frequency noise you can see. Integration fails by adding a low-frequency drift that looks smooth and plausible — which is far more dangerous, because a drifting displacement record can survive review. Note the asymmetry: the differentiated signal is obviously wrong; the integrated one is quietly wrong.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table is the map for the rest of the talk. Walk down it once. Stress that these are not seven unrelated tricks: they are seven answers to one question. The two most people already know are the first and third rows. Rows 4–7 are the ones that repay attention. Say explicitly: if you cannot state which row you believe, you are not choosing a method, you are accepting a default. [UPDATED] The delay-embedding row is no longer a pointer to elsewhere: section 3 implements it and it wins on quasi-periodic records.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one family per prior.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Most people in a vibrations group already use this. Give it full credit: in the interior it genuinely wins. The point of the next slide is that ‘in the interior’ is doing a lot of work in that sentence.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single most practically important slide for anyone doing free-decay testing. The FFT must make the signal periodic, so it splices the end of the record to the beginning — and a decay has a large amplitude at the start and a small one at the end. The estimate rings to bridge that discontinuity. Say the consequence out loud: in free-decay work the information you want — the high-amplitude, strongly nonlinear cycles — is exactly at the start of the record, in the region the method corrupts. Whittaker and the state-space smoother are flat across the whole record; that is why they are the defaults later in the talk.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The FFT treats the 3 s record as one period, so the record end meets its own start with a jump. Spectral velocity error reaches 2.7σ at the last sample; the state-space smoother stays below 0.02σ. A damped decay does not return to its starting value, so the periodic extension has a discontinuity. Its Gibbs ringing lands on the first and last few cycles. Detrending and tapering reduce it, but a method with no periodicity assumption (state-space, Whittaker) has no such problem.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 [~1 min] Worth including because it is the most widely used method in experimental practice and it is not a bad one. The honest summary: fine for velocity, mediocre for acceleration. Mention the implementation detail — MATLAB and scipy pad differently at the ends, which is a real reproducibility trap when moving code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recommendation for most of the audience’s work. Emphasise the tuning rule — the response is 1/(1 + λω^2p), so λ = (2πfc)^−2p converts a cutoff in hertz into the penalty weight. That single fact removes most of the folklore around ‘choosing the smoothing parameter’. Note that Tikhonov integration is the same equation read right to left.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U-shape is the bias–variance trade-off made visible: too much smoothing on the left, too much noise on the right. Two things to point out. First, the minima are sharp — a factor of three error in the cutoff costs an order of magnitude in the acceleration estimate. Second, and this is the uncomfortable part, these curves were computed WITH knowledge of the true answer. On a real record you cannot draw them. That is the argument for the method on the dashed 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Whittaker acceleration from 1% noisy position as the cutoff fc sweeps from 20 to 600 Hz, then returns to the optimum. Right: error against exact ground truth. Below the optimum the estimate is biased: the modes are smoothed away. Above it, noise amplified as omega squared dominates. The optimum depends on the data, which is why self-tuning (GCV, maximum likelihood) matters.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 [~1 min] Practical slide — tell the audience to photograph it. The message is that ‘tune lambda by cross-validation’ is usually unnecessary: for the quadratic-penalty family the map from a physically meaningful cutoff to the penalty weight is exact. Start the cutoff at two to three times the highest mode of interest and move it only if the residual shows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Be balanced here. TV is fashionable and it is often applied where it does not belong. The honest position: it wins decisively at a corner and loses decisively on smooth data, and both results are correct because they reflect the prior. For this audience the relevant application is vibro-impact and friction-damped systems.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left panel shows the mechanism: the quadratic penalties round the corner because a large second difference is expensive under L2; L1 lets one jump through. The right panel quantifies it — a 14% reduction against the best quadratic method. Be honest that this is a real but modest margin, and say why it matters anyway: if you are measuring restitution coefficients, the impact velocity IS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Zoom onto one impact of the vibro-impact oscillator, 0.5% noise. Legend: velocity error within ±4 ms of all five impacts. The velocity genuinely jumps at contact. Quadratic penalties (Whittaker, spectral cutoff) spread the jump and ring; total variation allows a sharp change. The gain is real but modest: about 20% lower error near impacts.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slide is here because it generalises far beyond total variation. The specific lesson: whenever you report a result from an iterative method, the convergence status is part of the result. The general lesson: a silent solver is worse than a noisy one — scipy’s cg returning an unconverged answer without complaint is how this went unnoticed through several rounds. If the audience takes one methodological point from the talk,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successive solvers on the same benchmark; only the last pair is the true minimizer.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[OPTIONAL] [~1 min] Two more instances of the solver lesson, both found by cross-checking the MATLAB port against Python. The GCV case matters because the earlier version of this talk blamed GCV itself; the corrected statement is that scipy’s selection failed on this record while the exact score works.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of the two defaults that failed without a warning.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recommendation to end on. Explain the equivalence chain briefly: an integrated-Wiener state-space model IS a smoothing spline IS a Gaussian process with a particular kernel — but the recursive form is linear time instead of cubic. The self-tuning is the practical selling point: the marginal likelihood of the data under the model is a function of q alone, so you maximise it and you are done. No held-out set, no L-curve, no eyeballing.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An honest accounting, and the shape is favourable. On very clean data the self-tuned smoother pays up to 3.7x — but there the absolute errors are a fraction of a percent and the choice does not matter. At 5% noise, where tuning actually decides the answer, it reaches parity. Practical note: raise the state dimension from 4 to 5 for clean records if you want acceleration — it roughly halves the low-noise penalty. Remember the comparison is against an oracle you do not have on real data.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 [~1 min] Short slide but an important one. Every other method returns a curve; this one returns a distribution. The practical rule: if the feature you are about to interpret is narrower than the band, it is not there. Mention that the band widens automatically over gaps and at the record ends, which is exactly the behaviour you want and exactly what the FFT does not do.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The causal filter is the forward half of the smoother we already have, so it costs nothing to add. It uses only past samples, so it can run in a control loop. Fit q once on a calibration record for genuine online use. Levant keeps one advantage: finite-time exactness under a known bound.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[~0.2 min] Section divider: the delay-embedding prior, now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This is singular spectrum analysis used as a differentiator. Broomhead and King showed that for short windows the principal axes look like Legendre polynomials, so the method reduces to a local polynomial fit; with long windows the axes become data-adaptive band-pass filters. The guard matters: at long windows one noise direction at 637 Hz passed the threshold and cost 90% in acceleration until the guard removed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Left: the decay occupies a few pairs of directions per harmonic; everything below the dashed threshold is noise. The orange crosses passed the threshold but sit outside the signal band, so the guard drops them. Right: the delay estimate’s error is a third of the best-tuned quadratic penalty’s.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At 1% noise: 0.32% velocity and 0.94% acceleration, against 0.52% and 1.44% for the spectral method with a perfect cutoff. The reason is the prior, not cleverness: a lightly damped decay really is low-rank in delay coordinates. The next two slides say where that stops being true.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Be clear about the scope: the win comes from a prior that lightly damped structures satisfy. On the vibro-impact record it is no better than the quadratic penalties, and total variation still wins there.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We compared the two bases. Smooth orthogonal decomposition ranks by smoothness and ignores energy; with long windows there are noise directions smoother than the signal, and they win (left, purple). Used inside the SVD signal subspace instead, SOD reorders that subspace by frequency, which is exactly what drift removal needs: 0.51% displacement error against 0.72% with SVD ordering.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[OPTIONAL] [~1 min] The honest map. Joint processing of the three chain sensors helps the weaker channels and slightly hurts the strongest one, so it is a small extra gain, not a second win. On this narrowband record the oracle spectral integrator is still best for velocity; with a mode near the drift band that ranking changes.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the reverse direction and the two-sensor case.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conceptual point: this is not a numerical difficulty, it is a genuine identifiability gap. No algorithm can recover what the sensor did not measure. What distinguishes good practice from bad is whether the assumption is stated. A detrend-and-filter pipeline makes exactly the same assumption as the Tikhonov solve, but hides it in a filter design step. Encourage the audience to report their high-pass corner in papers the way they report a sampling rate.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Quick slide. The two regularised curves are indistinguishable from truth at this scale — 0.9% and 1.7% rms. The grey curve is on a separate axis because it is 64 times larger. Point at the grey curve and note that it is smooth and monotone: it looks like a physical drift, not like an error, which is what makes it dangerous.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strongest practical result in the talk. Fusion beats either channel alone on all three kinematics, and the reason is structural, not numerical: displacement observes the low frequencies where the accelerometer has nothing, and acceleration observes the high frequencies where the displacement sensor is noise-limited. Critically, fusing removes the high-pass corner entirely — the displacement channel makes the two integration constants identifiable, so there is no longer an arbitrary choice to defend. Note the sampling rates differ by 10x and the smoother does not care.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One state-space model fuses 1% noisy displacement with a drifting accelerometer. Forward Kalman pass: 1.70% velocity error. Backward RTS pass: 0.43%. Grey: ±2σ posterior band. The causal filter uses only the past, so its band is wider. The RTS pass adds the future and shrinks the band everywhere except near the ends. The band comes from the fitted noise model: the estimator reports its own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what to do on Monday.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summary slide — leave it up while you talk. Read down the ‘knobs’ column: that is the column that determines how reproducible somebody else’s result will be. Read down ‘error bars’: only one method gives you any. Invite questions here if you are running to time; the remaining slides are practical advice. [UPDATED] Two new zero-knob rows: delay reconstruction (dimension from the Gavish-Donoho threshold) and the causal Kalman filter, which displaces Levant as the online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 zero-knob rows and the online methods.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takeaway slide. Read it as a sequence of questions rather than a ranking. The third line is the one most often violated in practice — people process displacement and acceleration separately, get two different answers, and then argue about which to trust. Fusing them is not an advanced technique; it is one function call. [UPDATED] Two changes: the delay line, and the online line now points to the causal Kalman filter, which halves Levant’s error on the benchmark.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 [~1 min] Close the methods content here. The last bullet is a plea: these choices are as consequential as the sampling rate and are almost never reported. If a result depends on the cutoff, that dependence belongs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Close on the third bullet — it is the reframing that makes the rest follow. Then offer the code. Total elapsed should be about 30 minutes with a little room for questions during the comparison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Hand off the code. Offer to run any of these on somebody’s record after the talk. [UPDATED] The MATLAB port is now complete (it previously lacked the spline, GP, Levant and trapezoid methods) and the delay-reconstruction references are added.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Primary sources. The last four support the delay-reconstruction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Leave this up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6.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2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image" Target="../media/image2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image" Target="../media/image50.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pic>
        <p:nvPicPr>
          <p:cNvPr id="3" name="kin_illpose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pic>
        <p:nvPicPr>
          <p:cNvPr id="3" name="kin_edge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png"/>
          <p:cNvPicPr>
            <a:picLocks noChangeAspect="1"/>
          </p:cNvPicPr>
          <p:nvPr/>
        </p:nvPicPr>
        <p:blipFill>
          <a:blip r:embed="rId2"/>
          <a:stretch>
            <a:fillRect/>
          </a:stretch>
        </p:blipFill>
        <p:spPr>
          <a:xfrm>
            <a:off x="0" y="0"/>
            <a:ext cx="12192000" cy="6858000"/>
          </a:xfrm>
          <a:prstGeom prst="rect">
            <a:avLst/>
          </a:prstGeom>
        </p:spPr>
      </p:pic>
      <p:pic>
        <p:nvPicPr>
          <p:cNvPr id="3" name="kin_knob.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3.png"/>
          <p:cNvPicPr>
            <a:picLocks noChangeAspect="1"/>
          </p:cNvPicPr>
          <p:nvPr/>
        </p:nvPicPr>
        <p:blipFill>
          <a:blip r:embed="rId2"/>
          <a:stretch>
            <a:fillRect/>
          </a:stretch>
        </p:blipFill>
        <p:spPr>
          <a:xfrm>
            <a:off x="0" y="0"/>
            <a:ext cx="12192000" cy="6858000"/>
          </a:xfrm>
          <a:prstGeom prst="rect">
            <a:avLst/>
          </a:prstGeom>
        </p:spPr>
      </p:pic>
      <p:pic>
        <p:nvPicPr>
          <p:cNvPr id="3" name="kin_impact.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5.png"/>
          <p:cNvPicPr>
            <a:picLocks noChangeAspect="1"/>
          </p:cNvPicPr>
          <p:nvPr/>
        </p:nvPicPr>
        <p:blipFill>
          <a:blip r:embed="rId2"/>
          <a:stretch>
            <a:fillRect/>
          </a:stretch>
        </p:blipFill>
        <p:spPr>
          <a:xfrm>
            <a:off x="0" y="0"/>
            <a:ext cx="12192000" cy="6858000"/>
          </a:xfrm>
          <a:prstGeom prst="rect">
            <a:avLst/>
          </a:prstGeom>
        </p:spPr>
      </p:pic>
      <p:pic>
        <p:nvPicPr>
          <p:cNvPr id="3" name="kin_fusio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
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5"/>
  </p:normalViewPr>
  <p:slideViewPr>
    <p:cSldViewPr snapToGrid="0" snapToObjects="1">
      <p:cViewPr varScale="1">
        <p:scale>
          <a:sx n="119" d="100"/>
          <a:sy n="119" d="100"/>
        </p:scale>
        <p:origin x="50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64872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[~0.5 min] TIMING. Full deck, all 26 slides: 34 min. Recommended 30-minute path: drop the four optional slides — 9 (</a:t>
            </a:r>
            <a:r>
              <a:rPr dirty="0" err="1"/>
              <a:t>Savitzky</a:t>
            </a:r>
            <a:r>
              <a:rPr dirty="0"/>
              <a:t>-Golay), 12 (tuning-rule table), 18 (uncertainty band), 24 (validation checklist) — leaving 30 min across 22 slides, which fills the slot with questions taken afterwards.</a:t>
            </a:r>
          </a:p>
          <a:p>
            <a:endParaRPr dirty="0"/>
          </a:p>
          <a:p>
            <a:r>
              <a:rPr dirty="0"/>
              <a:t>If questions must fit INSIDE the 30 minutes, also drop 11 (tuning-curve figure), 17 (self-tuning cost) and 20 (integration figure) for a 26.5-min path across 19 slides; the tuning trade-off and the fusion result both survive that cut.</a:t>
            </a:r>
          </a:p>
          <a:p>
            <a:endParaRPr dirty="0"/>
          </a:p>
          <a:p>
            <a:r>
              <a:rPr dirty="0"/>
              <a:t>Open on slide 2 with the two problems; do not spend time on the title.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Open by asking who in the room has done each of these. Frame the talk: this is not a survey of filters, it is one idea — that both tasks are the same inverse problem — plus the practical consequences. Everything shown is measured on a benchmark with exact ground truth, so every error quoted is a true error, not a comparison between two estimates.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This is the conceptual spine of the talk — spend time here. The key move is recognising that differentiating and integrating are not opposites to be treated with different toolkits; they are the same compact operator inverted in two directions. Emphasise the last line: when someone asks 'which filter should I use', the honest reformulation is 'what do you believe about your signal?'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Left panel is the theory in one picture: differentiation multiplies by ω, integration divides by it, and both diverge. Right panel makes it concrete. The gold curve is the true acceleration spectrum — it rolls off. The red curve is what you get from differentiating a 1% noisy position twice: it RISES with frequency. Where they separate, around 30 Hz, everything to the right is amplified noise. Point out that the only information about the third and fourth modes is already buried.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Two failure modes, deliberately shown side by side because they look nothing alike. Differentiation fails by adding high-frequency noise you can see. Integration fails by adding a low-frequency drift that looks smooth and plausible — which is far more dangerous, because a drifting displacement record can survive review. Note the asymmetry: the differentiated signal is obviously wrong; the integrated one is quietly wrong.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table is the map for the rest of the talk. Walk down it once. Stress that these are not seven unrelated tricks: they are seven answers to one question. The two most people already know are the first and third rows. Rows 4–7 are the ones that repay attention. Say explicitly: if you cannot state which row you believe, you are not choosing a method, you are accepting a default.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Most people in a vibrations group already use this. Give it full credit: in the interior it genuinely wins. The point of the next slide is that 'in the interior' is doing a lot of work in that sentence.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is the single most practically important slide for anyone doing free-decay testing. The FFT must make the signal periodic, so it splices the end of the record to the beginning — and a decay has a large amplitude at the start and a small one at the end. The estimate rings to bridge that discontinuity. Say the consequence out loud: in free-decay work the information you want — the high-amplitude, strongly nonlinear cycles — is exactly at the start of the record, in the region the method corrupts. Whittaker and the state-space smoother are flat across the whole record; that is why they are the defaults later in the talk.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Worth including because it is the most widely used method in experimental practice and it is not a bad one. The honest summary: fine for velocity, mediocre for acceleration. Mention the implementation detail — MATLAB and scipy pad differently at the ends, which is a real reproducibility trap when moving code between them.</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is the recommendation for most of the audience's work. Emphasise the tuning rule — the response is 1/(1 + λω^2p), so λ = (2πfc)^−2p converts a cutoff in hertz into the penalty weight. That single fact removes most of the folklore around 'choosing the smoothing parameter'. Note that Tikhonov integration is the same equation read right to left.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U-shape is the bias–variance trade-off made visible: too much smoothing on the left, too much noise on the right. Two things to point out. First, the minima are sharp — a factor of three error in the cutoff costs an order of magnitude in the acceleration estimate. Second, and this is the uncomfortable part, these curves were computed WITH knowledge of the true answer. On a real record you cannot draw them. That is the argument for the method on the dashed line.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Practical slide — tell the audience to photograph it. The message is that 'tune lambda by cross-validation' is usually unnecessary: for the quadratic-penalty family the map from a physically meaningful cutoff to the penalty weight is exact. Start the cutoff at two to three times the highest mode of interest and move it only if the residual shows structure.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Be balanced here. TV is fashionable and it is often applied where it does not belong. The honest position: it wins decisively at a corner and loses decisively on smooth data, and both results are correct because they reflect the prior. For this audience the relevant application is vibro-impact and friction-damped systems.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left panel shows the mechanism: the quadratic penalties round the corner because a large second difference is expensive under L2; L1 lets one jump through. The right panel quantifies it — a 14% reduction against the best quadratic method. Be honest that this is a real but modest margin, and say why it matters anyway: if you are measuring restitution coefficients, the impact velocity IS the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slide is here because it generalises far beyond total variation. The specific lesson: whenever you report a result from an iterative method, the convergence status is part of the result. The general lesson: a silent solver is worse than a noisy one — scipy's cg returning an unconverged answer without complaint is how this went unnoticed through several rounds. If the audience takes one methodological point from the talk, make it this one.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is the recommendation to end on. Explain the equivalence chain briefly: an integrated-Wiener state-space model IS a smoothing spline IS a Gaussian process with a particular kernel — but the recursive form is linear time instead of cubic. The self-tuning is the practical selling point: the marginal likelihood of the data under the model is a function of q alone, so you maximise it and you are done. No held-out set, no L-curve, no eyeballing.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An honest accounting, and the shape is favourable. On very clean data the self-tuned smoother pays up to 3.7x — but there the absolute errors are a fraction of a percent and the choice does not matter. At 5% noise, where tuning actually decides the answer, it reaches parity. Practical note: raise the state dimension from 4 to 5 for clean records if you want acceleration — it roughly halves the low-noise penalty. Remember the comparison is against an oracle you do not have on real data.</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Short slide but an important one. Every other method returns a curve; this one returns a distribution. The practical rule: if the feature you are about to interpret is narrower than the band, it is not there. Mention that the band widens automatically over gaps and at the record ends, which is exactly the behaviour you want and exactly what the FFT does not do.</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conceptual point: this is not a numerical difficulty, it is a genuine identifiability gap. No algorithm can recover what the sensor did not measure. What distinguishes good practice from bad is whether the assumption is stated. A detrend-and-filter pipeline makes exactly the same assumption as the Tikhonov solve, but hides it in a filter design step. Encourage the audience to report their high-pass corner in papers the way they report a sampling rate.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Quick slide. The two regularised curves are indistinguishable from truth at this scale — 0.9% and 1.7% rms. The grey curve is on a separate axis because it is 64 times larger. Point at the grey curve and note that it is smooth and monotone: it looks like a physical drift, not like an error, which is what makes it dangerous.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strongest practical result in the talk. Fusion beats either channel alone on all three kinematics, and the reason is structural, not numerical: displacement observes the low frequencies where the accelerometer has nothing, and acceleration observes the high frequencies where the displacement sensor is noise-limited. Critically, fusing removes the high-pass corner entirely — the displacement channel makes the two integration constants identifiable, so there is no longer an arbitrary choice to defend. Note the sampling rates differ by 10x and the smoother does not care.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summary slide — leave it up while you talk. Read down the 'knobs' column: that is the column that determines how reproducible somebody else's result will be. Read down 'error bars': only one method gives you any. Invite questions here if you are running to time; the remaining slides are practical advice.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takeaway slide. Read it as a sequence of questions rather than a ranking. The third line is the one most often violated in practice — people process displacement and acceleration separately, get two different answers, and then argue about which to trust. Fusing them is not an advanced technique; it is one function call.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Close the methods content here. The last bullet is a plea: these choices are as consequential as the sampling rate and are almost never reported. If a result depends on the cutoff, that dependence belongs in the paper.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Close on the third bullet — it is the reframing that makes the rest follow. Then offer the code. Total elapsed should be about 30 minutes with a little room for questions during the comparison table.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min] Hand off the code. Offer to run any of these on somebody's record after the talk — that is usually the most productive follow-up. The references are the primary sources for each family, not a full bibliography.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148840"/>
            <a:ext cx="10607040" cy="1463040"/>
          </a:xfrm>
          <a:prstGeom prst="rect">
            <a:avLst/>
          </a:prstGeom>
          <a:noFill/>
        </p:spPr>
        <p:txBody>
          <a:bodyPr wrap="square" lIns="0" tIns="0" rIns="0" bIns="0">
            <a:spAutoFit/>
          </a:bodyPr>
          <a:lstStyle/>
          <a:p>
            <a:r>
              <a:rPr sz="4200" b="1" i="0">
                <a:solidFill>
                  <a:srgbClr val="1A1A1A"/>
                </a:solidFill>
                <a:latin typeface="Helvetica Neue"/>
              </a:rPr>
              <a:t>Differentiating and Integrating
Measured Motion</a:t>
            </a:r>
          </a:p>
        </p:txBody>
      </p:sp>
      <p:sp>
        <p:nvSpPr>
          <p:cNvPr id="3" name="Rectangle 2"/>
          <p:cNvSpPr/>
          <p:nvPr/>
        </p:nvSpPr>
        <p:spPr>
          <a:xfrm>
            <a:off x="841248" y="3703320"/>
            <a:ext cx="475488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3950208"/>
            <a:ext cx="10424160" cy="1371600"/>
          </a:xfrm>
          <a:prstGeom prst="rect">
            <a:avLst/>
          </a:prstGeom>
          <a:noFill/>
        </p:spPr>
        <p:txBody>
          <a:bodyPr wrap="square" lIns="0" tIns="0" rIns="0" bIns="0">
            <a:spAutoFit/>
          </a:bodyPr>
          <a:lstStyle/>
          <a:p>
            <a:r>
              <a:rPr sz="2000" b="0" i="0">
                <a:solidFill>
                  <a:srgbClr val="6B7280"/>
                </a:solidFill>
                <a:latin typeface="Helvetica Neue"/>
              </a:rPr>
              <a:t>Model-free estimation of velocity and acceleration from displacement,
and of velocity and displacement from acceleration</a:t>
            </a:r>
          </a:p>
          <a:p>
            <a:pPr>
              <a:spcBef>
                <a:spcPts val="2200"/>
              </a:spcBef>
            </a:pPr>
            <a:r>
              <a:rPr sz="1600" b="0" i="0">
                <a:solidFill>
                  <a:srgbClr val="1A1A1A"/>
                </a:solidFill>
                <a:latin typeface="Helvetica Neue"/>
              </a:rPr>
              <a:t>Nonlinear Dynamics Laboratory  ·  Mechanical, Industrial and Systems Engineering</a:t>
            </a:r>
          </a:p>
          <a:p>
            <a:r>
              <a:rPr sz="1400" b="0" i="0">
                <a:solidFill>
                  <a:srgbClr val="6B7280"/>
                </a:solidFill>
                <a:latin typeface="Helvetica Neue"/>
              </a:rPr>
              <a:t>University of Rhode Island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Two problems every vibration lab has</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0"/>
            <a:ext cx="11064240" cy="411480"/>
          </a:xfrm>
          <a:prstGeom prst="rect">
            <a:avLst/>
          </a:prstGeom>
          <a:noFill/>
        </p:spPr>
        <p:txBody>
          <a:bodyPr wrap="square" lIns="0" tIns="0" rIns="0" bIns="0">
            <a:spAutoFit/>
          </a:bodyPr>
          <a:lstStyle/>
          <a:p>
            <a:r>
              <a:rPr sz="1600" b="0" i="1">
                <a:solidFill>
                  <a:srgbClr val="6B7280"/>
                </a:solidFill>
                <a:latin typeface="Helvetica Neue"/>
              </a:rPr>
              <a:t>The setting: one sensor type, and you need the other kinematic quantities</a:t>
            </a:r>
          </a:p>
        </p:txBody>
      </p:sp>
      <p:sp>
        <p:nvSpPr>
          <p:cNvPr id="5" name="TextBox 4"/>
          <p:cNvSpPr txBox="1"/>
          <p:nvPr/>
        </p:nvSpPr>
        <p:spPr>
          <a:xfrm>
            <a:off x="658368" y="1691640"/>
            <a:ext cx="10881360" cy="4709160"/>
          </a:xfrm>
          <a:prstGeom prst="rect">
            <a:avLst/>
          </a:prstGeom>
          <a:noFill/>
        </p:spPr>
        <p:txBody>
          <a:bodyPr wrap="square" lIns="0" tIns="0" rIns="0" bIns="0">
            <a:spAutoFit/>
          </a:bodyPr>
          <a:lstStyle/>
          <a:p>
            <a:pPr>
              <a:spcAft>
                <a:spcPts val="1100"/>
              </a:spcAft>
            </a:pPr>
            <a:r>
              <a:rPr sz="1900" b="1" i="0">
                <a:solidFill>
                  <a:srgbClr val="2F6F9F"/>
                </a:solidFill>
                <a:latin typeface="Helvetica Neue"/>
              </a:rPr>
              <a:t>—  </a:t>
            </a:r>
            <a:r>
              <a:rPr sz="1900" b="0" i="0">
                <a:solidFill>
                  <a:srgbClr val="1A1A1A"/>
                </a:solidFill>
                <a:latin typeface="Helvetica Neue"/>
              </a:rPr>
              <a:t>You measured displacement (laser vibrometer, DIC, encoder) and you need velocity and acceleration.</a:t>
            </a:r>
          </a:p>
          <a:p>
            <a:pPr lvl="1">
              <a:spcBef>
                <a:spcPts val="200"/>
              </a:spcBef>
              <a:spcAft>
                <a:spcPts val="600"/>
              </a:spcAft>
            </a:pPr>
            <a:r>
              <a:rPr sz="1600" b="0" i="0">
                <a:solidFill>
                  <a:srgbClr val="6B7280"/>
                </a:solidFill>
                <a:latin typeface="Helvetica Neue"/>
              </a:rPr>
              <a:t>      Restoring-force surfaces, NNM energy balance, damping identification, model updating.</a:t>
            </a:r>
          </a:p>
          <a:p>
            <a:pPr>
              <a:spcAft>
                <a:spcPts val="1100"/>
              </a:spcAft>
            </a:pPr>
            <a:r>
              <a:rPr sz="1900" b="1" i="0">
                <a:solidFill>
                  <a:srgbClr val="2F6F9F"/>
                </a:solidFill>
                <a:latin typeface="Helvetica Neue"/>
              </a:rPr>
              <a:t>—  </a:t>
            </a:r>
            <a:r>
              <a:rPr sz="1900" b="0" i="0">
                <a:solidFill>
                  <a:srgbClr val="1A1A1A"/>
                </a:solidFill>
                <a:latin typeface="Helvetica Neue"/>
              </a:rPr>
              <a:t>You measured acceleration (the cheap, rugged, ubiquitous sensor) and you need velocity and displacement.</a:t>
            </a:r>
          </a:p>
          <a:p>
            <a:pPr lvl="1">
              <a:spcBef>
                <a:spcPts val="200"/>
              </a:spcBef>
              <a:spcAft>
                <a:spcPts val="600"/>
              </a:spcAft>
            </a:pPr>
            <a:r>
              <a:rPr sz="1600" b="0" i="0">
                <a:solidFill>
                  <a:srgbClr val="6B7280"/>
                </a:solidFill>
                <a:latin typeface="Helvetica Neue"/>
              </a:rPr>
              <a:t>      Mode shapes in physical units, drift-free response, base-excitation compensation, fatigue cycles.</a:t>
            </a:r>
          </a:p>
          <a:p>
            <a:pPr>
              <a:spcAft>
                <a:spcPts val="1100"/>
              </a:spcAft>
            </a:pPr>
            <a:r>
              <a:rPr sz="1900" b="1" i="0">
                <a:solidFill>
                  <a:srgbClr val="2F6F9F"/>
                </a:solidFill>
                <a:latin typeface="Helvetica Neue"/>
              </a:rPr>
              <a:t>—  </a:t>
            </a:r>
            <a:r>
              <a:rPr sz="1900" b="0" i="0">
                <a:solidFill>
                  <a:srgbClr val="1A1A1A"/>
                </a:solidFill>
                <a:latin typeface="Helvetica Neue"/>
              </a:rPr>
              <a:t>Both are routine requests. Both are harder than they look.</a:t>
            </a:r>
          </a:p>
          <a:p>
            <a:pPr>
              <a:spcAft>
                <a:spcPts val="1100"/>
              </a:spcAft>
            </a:pPr>
            <a:r>
              <a:rPr sz="1900" b="1" i="0">
                <a:solidFill>
                  <a:srgbClr val="2F6F9F"/>
                </a:solidFill>
                <a:latin typeface="Helvetica Neue"/>
              </a:rPr>
              <a:t>—  </a:t>
            </a:r>
            <a:r>
              <a:rPr sz="1900" b="0" i="0">
                <a:solidFill>
                  <a:srgbClr val="1A1A1A"/>
                </a:solidFill>
                <a:latin typeface="Helvetica Neue"/>
              </a:rPr>
              <a:t>The naive answers — finite differences one way, cumulative trapezoid the other — fail, and fail differently.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They are the same problem, run in opposite directions</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0"/>
            <a:ext cx="11064240" cy="411480"/>
          </a:xfrm>
          <a:prstGeom prst="rect">
            <a:avLst/>
          </a:prstGeom>
          <a:noFill/>
        </p:spPr>
        <p:txBody>
          <a:bodyPr wrap="square" lIns="0" tIns="0" rIns="0" bIns="0">
            <a:spAutoFit/>
          </a:bodyPr>
          <a:lstStyle/>
          <a:p>
            <a:r>
              <a:rPr sz="1600" b="0" i="1">
                <a:solidFill>
                  <a:srgbClr val="6B7280"/>
                </a:solidFill>
                <a:latin typeface="Helvetica Neue"/>
              </a:rPr>
              <a:t>One framing that organises the whole landscape</a:t>
            </a:r>
          </a:p>
        </p:txBody>
      </p:sp>
      <p:sp>
        <p:nvSpPr>
          <p:cNvPr id="5" name="TextBox 4"/>
          <p:cNvSpPr txBox="1"/>
          <p:nvPr/>
        </p:nvSpPr>
        <p:spPr>
          <a:xfrm>
            <a:off x="658368" y="1691640"/>
            <a:ext cx="10881360" cy="4709160"/>
          </a:xfrm>
          <a:prstGeom prst="rect">
            <a:avLst/>
          </a:prstGeom>
          <a:noFill/>
        </p:spPr>
        <p:txBody>
          <a:bodyPr wrap="square" lIns="0" tIns="0" rIns="0" bIns="0">
            <a:spAutoFit/>
          </a:bodyPr>
          <a:lstStyle/>
          <a:p>
            <a:pPr>
              <a:spcAft>
                <a:spcPts val="1100"/>
              </a:spcAft>
            </a:pPr>
            <a:r>
              <a:rPr sz="1900" b="1" i="0">
                <a:solidFill>
                  <a:srgbClr val="2F6F9F"/>
                </a:solidFill>
                <a:latin typeface="Helvetica Neue"/>
              </a:rPr>
              <a:t>—  </a:t>
            </a:r>
            <a:r>
              <a:rPr sz="1900" b="0" i="0">
                <a:solidFill>
                  <a:srgbClr val="1A1A1A"/>
                </a:solidFill>
                <a:latin typeface="Helvetica Neue"/>
              </a:rPr>
              <a:t>Write the measurement as  y = A u + e,  with A the integration operator.</a:t>
            </a:r>
          </a:p>
          <a:p>
            <a:pPr lvl="1">
              <a:spcBef>
                <a:spcPts val="200"/>
              </a:spcBef>
              <a:spcAft>
                <a:spcPts val="600"/>
              </a:spcAft>
            </a:pPr>
            <a:r>
              <a:rPr sz="1600" b="0" i="0">
                <a:solidFill>
                  <a:srgbClr val="6B7280"/>
                </a:solidFill>
                <a:latin typeface="Helvetica Neue"/>
              </a:rPr>
              <a:t>      Differentiation: u is the derivative you want, A integrates it back to what you measured.</a:t>
            </a:r>
          </a:p>
          <a:p>
            <a:pPr lvl="1">
              <a:spcBef>
                <a:spcPts val="200"/>
              </a:spcBef>
              <a:spcAft>
                <a:spcPts val="600"/>
              </a:spcAft>
            </a:pPr>
            <a:r>
              <a:rPr sz="1600" b="0" i="0">
                <a:solidFill>
                  <a:srgbClr val="6B7280"/>
                </a:solidFill>
                <a:latin typeface="Helvetica Neue"/>
              </a:rPr>
              <a:t>      Integration: u is the displacement, A integrates the acceleration twice.</a:t>
            </a:r>
          </a:p>
          <a:p>
            <a:pPr>
              <a:spcAft>
                <a:spcPts val="1100"/>
              </a:spcAft>
            </a:pPr>
            <a:r>
              <a:rPr sz="1900" b="1" i="0">
                <a:solidFill>
                  <a:srgbClr val="2F6F9F"/>
                </a:solidFill>
                <a:latin typeface="Helvetica Neue"/>
              </a:rPr>
              <a:t>—  </a:t>
            </a:r>
            <a:r>
              <a:rPr sz="1900" b="0" i="0">
                <a:solidFill>
                  <a:srgbClr val="1A1A1A"/>
                </a:solidFill>
                <a:latin typeface="Helvetica Neue"/>
              </a:rPr>
              <a:t>A is compact. Its inverse is unbounded. This is the definition of an ill-posed inverse problem.</a:t>
            </a:r>
          </a:p>
          <a:p>
            <a:pPr>
              <a:spcAft>
                <a:spcPts val="1100"/>
              </a:spcAft>
            </a:pPr>
            <a:r>
              <a:rPr sz="1900" b="1" i="0">
                <a:solidFill>
                  <a:srgbClr val="2F6F9F"/>
                </a:solidFill>
                <a:latin typeface="Helvetica Neue"/>
              </a:rPr>
              <a:t>—  </a:t>
            </a:r>
            <a:r>
              <a:rPr sz="1900" b="0" i="0">
                <a:solidFill>
                  <a:srgbClr val="1A1A1A"/>
                </a:solidFill>
                <a:latin typeface="Helvetica Neue"/>
              </a:rPr>
              <a:t>Noise is amplified without limit — by ω per derivative going up, by 1/ω per integration going down.</a:t>
            </a:r>
          </a:p>
          <a:p>
            <a:pPr>
              <a:spcAft>
                <a:spcPts val="1100"/>
              </a:spcAft>
            </a:pPr>
            <a:r>
              <a:rPr sz="1900" b="1" i="0">
                <a:solidFill>
                  <a:srgbClr val="2F6F9F"/>
                </a:solidFill>
                <a:latin typeface="Helvetica Neue"/>
              </a:rPr>
              <a:t>—  </a:t>
            </a:r>
            <a:r>
              <a:rPr sz="1900" b="0" i="0">
                <a:solidFill>
                  <a:srgbClr val="1A1A1A"/>
                </a:solidFill>
                <a:latin typeface="Helvetica Neue"/>
              </a:rPr>
              <a:t>No amount of cleverness removes this. It is a property of the operator, not of your algorithm.</a:t>
            </a:r>
          </a:p>
          <a:p>
            <a:pPr>
              <a:spcAft>
                <a:spcPts val="1100"/>
              </a:spcAft>
            </a:pPr>
            <a:r>
              <a:rPr sz="1900" b="1" i="0">
                <a:solidFill>
                  <a:srgbClr val="2F6F9F"/>
                </a:solidFill>
                <a:latin typeface="Helvetica Neue"/>
              </a:rPr>
              <a:t>—  </a:t>
            </a:r>
            <a:r>
              <a:rPr sz="1900" b="0" i="0">
                <a:solidFill>
                  <a:srgbClr val="1A1A1A"/>
                </a:solidFill>
                <a:latin typeface="Helvetica Neue"/>
              </a:rPr>
              <a:t>Every usable method therefore adds a regularity prior. That is the only thing that distinguishes them.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Why it is ill-posed</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_illposed.png"/>
          <p:cNvPicPr>
            <a:picLocks noChangeAspect="1"/>
          </p:cNvPicPr>
          <p:nvPr/>
        </p:nvPicPr>
        <p:blipFill>
          <a:blip r:embed="rId3"/>
          <a:stretch>
            <a:fillRect/>
          </a:stretch>
        </p:blipFill>
        <p:spPr>
          <a:xfrm>
            <a:off x="763651" y="1371600"/>
            <a:ext cx="10664393" cy="4590288"/>
          </a:xfrm>
          <a:prstGeom prst="rect">
            <a:avLst/>
          </a:prstGeom>
        </p:spPr>
      </p:pic>
      <p:sp>
        <p:nvSpPr>
          <p:cNvPr id="5" name="TextBox 4"/>
          <p:cNvSpPr txBox="1"/>
          <p:nvPr/>
        </p:nvSpPr>
        <p:spPr>
          <a:xfrm>
            <a:off x="786384" y="6089904"/>
            <a:ext cx="10607040" cy="548640"/>
          </a:xfrm>
          <a:prstGeom prst="rect">
            <a:avLst/>
          </a:prstGeom>
          <a:noFill/>
        </p:spPr>
        <p:txBody>
          <a:bodyPr wrap="square" lIns="0" tIns="0" rIns="0" bIns="0">
            <a:spAutoFit/>
          </a:bodyPr>
          <a:lstStyle/>
          <a:p>
            <a:pPr algn="ctr"/>
            <a:r>
              <a:rPr sz="1300" b="0" i="1">
                <a:solidFill>
                  <a:srgbClr val="6B7280"/>
                </a:solidFill>
                <a:latin typeface="Helvetica Neue"/>
              </a:rPr>
              <a:t>Left: the amplification factor is unbounded at both ends. Right: the same effect on a real record — a 1% noise floor on position dominates the acceleration estimate above about 30 Hz.</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What happens if you ignore it</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_naive.png"/>
          <p:cNvPicPr>
            <a:picLocks noChangeAspect="1"/>
          </p:cNvPicPr>
          <p:nvPr/>
        </p:nvPicPr>
        <p:blipFill>
          <a:blip r:embed="rId3"/>
          <a:stretch>
            <a:fillRect/>
          </a:stretch>
        </p:blipFill>
        <p:spPr>
          <a:xfrm>
            <a:off x="763651" y="1371600"/>
            <a:ext cx="10664393" cy="4590288"/>
          </a:xfrm>
          <a:prstGeom prst="rect">
            <a:avLst/>
          </a:prstGeom>
        </p:spPr>
      </p:pic>
      <p:sp>
        <p:nvSpPr>
          <p:cNvPr id="5" name="TextBox 4"/>
          <p:cNvSpPr txBox="1"/>
          <p:nvPr/>
        </p:nvSpPr>
        <p:spPr>
          <a:xfrm>
            <a:off x="786384" y="6089904"/>
            <a:ext cx="10607040" cy="548640"/>
          </a:xfrm>
          <a:prstGeom prst="rect">
            <a:avLst/>
          </a:prstGeom>
          <a:noFill/>
        </p:spPr>
        <p:txBody>
          <a:bodyPr wrap="square" lIns="0" tIns="0" rIns="0" bIns="0">
            <a:spAutoFit/>
          </a:bodyPr>
          <a:lstStyle/>
          <a:p>
            <a:pPr algn="ctr"/>
            <a:r>
              <a:rPr sz="1300" b="0" i="1">
                <a:solidFill>
                  <a:srgbClr val="6B7280"/>
                </a:solidFill>
                <a:latin typeface="Helvetica Neue"/>
              </a:rPr>
              <a:t>Left: second central difference of a 1% noisy position — 209% rms error. Right: plain cumulative trapezoid of an accelerometer with a 0.5% offset — 64x off scale in 3 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The only cure: state a prior</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0"/>
            <a:ext cx="11064240" cy="411480"/>
          </a:xfrm>
          <a:prstGeom prst="rect">
            <a:avLst/>
          </a:prstGeom>
          <a:noFill/>
        </p:spPr>
        <p:txBody>
          <a:bodyPr wrap="square" lIns="0" tIns="0" rIns="0" bIns="0">
            <a:spAutoFit/>
          </a:bodyPr>
          <a:lstStyle/>
          <a:p>
            <a:r>
              <a:rPr sz="1600" b="0" i="1">
                <a:solidFill>
                  <a:srgbClr val="6B7280"/>
                </a:solidFill>
                <a:latin typeface="Helvetica Neue"/>
              </a:rPr>
              <a:t>Methods differ only in which regularity prior they impose — pick the row you actually believe</a:t>
            </a:r>
          </a:p>
        </p:txBody>
      </p:sp>
      <p:graphicFrame>
        <p:nvGraphicFramePr>
          <p:cNvPr id="5" name="Table 4"/>
          <p:cNvGraphicFramePr>
            <a:graphicFrameLocks noGrp="1"/>
          </p:cNvGraphicFramePr>
          <p:nvPr/>
        </p:nvGraphicFramePr>
        <p:xfrm>
          <a:off x="658368" y="1783080"/>
          <a:ext cx="10881359" cy="3072384"/>
        </p:xfrm>
        <a:graphic>
          <a:graphicData uri="http://schemas.openxmlformats.org/drawingml/2006/table">
            <a:tbl>
              <a:tblPr firstRow="1" bandRow="1">
                <a:tableStyleId>{5C22544A-7EE6-4342-B048-85BDC9FD1C3A}</a:tableStyleId>
              </a:tblPr>
              <a:tblGrid>
                <a:gridCol w="5820262">
                  <a:extLst>
                    <a:ext uri="{9D8B030D-6E8A-4147-A177-3AD203B41FA5}">
                      <a16:colId xmlns:a16="http://schemas.microsoft.com/office/drawing/2014/main" val="20000"/>
                    </a:ext>
                  </a:extLst>
                </a:gridCol>
                <a:gridCol w="5061097">
                  <a:extLst>
                    <a:ext uri="{9D8B030D-6E8A-4147-A177-3AD203B41FA5}">
                      <a16:colId xmlns:a16="http://schemas.microsoft.com/office/drawing/2014/main" val="20001"/>
                    </a:ext>
                  </a:extLst>
                </a:gridCol>
              </a:tblGrid>
              <a:tr h="384048">
                <a:tc>
                  <a:txBody>
                    <a:bodyPr/>
                    <a:lstStyle/>
                    <a:p>
                      <a:r>
                        <a:rPr sz="1300" b="1" i="0">
                          <a:solidFill>
                            <a:srgbClr val="FFFFFF"/>
                          </a:solidFill>
                          <a:latin typeface="Helvetica Neue"/>
                        </a:rPr>
                        <a:t>What you are willing to assume</a:t>
                      </a:r>
                    </a:p>
                  </a:txBody>
                  <a:tcPr>
                    <a:solidFill>
                      <a:srgbClr val="2F6F9F"/>
                    </a:solidFill>
                  </a:tcPr>
                </a:tc>
                <a:tc>
                  <a:txBody>
                    <a:bodyPr/>
                    <a:lstStyle/>
                    <a:p>
                      <a:r>
                        <a:rPr sz="1300" b="1" i="0">
                          <a:solidFill>
                            <a:srgbClr val="FFFFFF"/>
                          </a:solidFill>
                          <a:latin typeface="Helvetica Neue"/>
                        </a:rPr>
                        <a:t>The method it gives you</a:t>
                      </a:r>
                    </a:p>
                  </a:txBody>
                  <a:tcPr>
                    <a:solidFill>
                      <a:srgbClr val="2F6F9F"/>
                    </a:solidFill>
                  </a:tcPr>
                </a:tc>
                <a:extLst>
                  <a:ext uri="{0D108BD9-81ED-4DB2-BD59-A6C34878D82A}">
                    <a16:rowId xmlns:a16="http://schemas.microsoft.com/office/drawing/2014/main" val="10000"/>
                  </a:ext>
                </a:extLst>
              </a:tr>
              <a:tr h="384048">
                <a:tc>
                  <a:txBody>
                    <a:bodyPr/>
                    <a:lstStyle/>
                    <a:p>
                      <a:r>
                        <a:rPr sz="1400" b="1" i="0">
                          <a:solidFill>
                            <a:srgbClr val="1A1A1A"/>
                          </a:solidFill>
                          <a:latin typeface="Helvetica Neue"/>
                        </a:rPr>
                        <a:t>The signal is bandlimited and periodic</a:t>
                      </a:r>
                    </a:p>
                  </a:txBody>
                  <a:tcPr marT="36576" marB="36576">
                    <a:solidFill>
                      <a:srgbClr val="FFFFFF"/>
                    </a:solidFill>
                  </a:tcPr>
                </a:tc>
                <a:tc>
                  <a:txBody>
                    <a:bodyPr/>
                    <a:lstStyle/>
                    <a:p>
                      <a:r>
                        <a:rPr sz="1400" b="0" i="0">
                          <a:solidFill>
                            <a:srgbClr val="1A1A1A"/>
                          </a:solidFill>
                          <a:latin typeface="Helvetica Neue"/>
                        </a:rPr>
                        <a:t>Spectral / FFT differentiation</a:t>
                      </a:r>
                    </a:p>
                  </a:txBody>
                  <a:tcPr marT="36576" marB="36576">
                    <a:solidFill>
                      <a:srgbClr val="FFFFFF"/>
                    </a:solidFill>
                  </a:tcPr>
                </a:tc>
                <a:extLst>
                  <a:ext uri="{0D108BD9-81ED-4DB2-BD59-A6C34878D82A}">
                    <a16:rowId xmlns:a16="http://schemas.microsoft.com/office/drawing/2014/main" val="10001"/>
                  </a:ext>
                </a:extLst>
              </a:tr>
              <a:tr h="384048">
                <a:tc>
                  <a:txBody>
                    <a:bodyPr/>
                    <a:lstStyle/>
                    <a:p>
                      <a:r>
                        <a:rPr sz="1400" b="1" i="0">
                          <a:solidFill>
                            <a:srgbClr val="1A1A1A"/>
                          </a:solidFill>
                          <a:latin typeface="Helvetica Neue"/>
                        </a:rPr>
                        <a:t>It is locally a low-order polynomial</a:t>
                      </a:r>
                    </a:p>
                  </a:txBody>
                  <a:tcPr marT="36576" marB="36576">
                    <a:solidFill>
                      <a:srgbClr val="F4F6F8"/>
                    </a:solidFill>
                  </a:tcPr>
                </a:tc>
                <a:tc>
                  <a:txBody>
                    <a:bodyPr/>
                    <a:lstStyle/>
                    <a:p>
                      <a:r>
                        <a:rPr sz="1400" b="0" i="0">
                          <a:solidFill>
                            <a:srgbClr val="1A1A1A"/>
                          </a:solidFill>
                          <a:latin typeface="Helvetica Neue"/>
                        </a:rPr>
                        <a:t>Savitzky–Golay, Lanczos</a:t>
                      </a:r>
                    </a:p>
                  </a:txBody>
                  <a:tcPr marT="36576" marB="36576">
                    <a:solidFill>
                      <a:srgbClr val="F4F6F8"/>
                    </a:solidFill>
                  </a:tcPr>
                </a:tc>
                <a:extLst>
                  <a:ext uri="{0D108BD9-81ED-4DB2-BD59-A6C34878D82A}">
                    <a16:rowId xmlns:a16="http://schemas.microsoft.com/office/drawing/2014/main" val="10002"/>
                  </a:ext>
                </a:extLst>
              </a:tr>
              <a:tr h="384048">
                <a:tc>
                  <a:txBody>
                    <a:bodyPr/>
                    <a:lstStyle/>
                    <a:p>
                      <a:r>
                        <a:rPr sz="1400" b="1" i="0">
                          <a:solidFill>
                            <a:srgbClr val="1A1A1A"/>
                          </a:solidFill>
                          <a:latin typeface="Helvetica Neue"/>
                        </a:rPr>
                        <a:t>It lies in a low-rank delay-embedding subspace</a:t>
                      </a:r>
                    </a:p>
                  </a:txBody>
                  <a:tcPr marT="36576" marB="36576">
                    <a:solidFill>
                      <a:srgbClr val="FFFFFF"/>
                    </a:solidFill>
                  </a:tcPr>
                </a:tc>
                <a:tc>
                  <a:txBody>
                    <a:bodyPr/>
                    <a:lstStyle/>
                    <a:p>
                      <a:r>
                        <a:rPr sz="1400" b="0" i="0">
                          <a:solidFill>
                            <a:srgbClr val="1A1A1A"/>
                          </a:solidFill>
                          <a:latin typeface="Helvetica Neue"/>
                        </a:rPr>
                        <a:t>SVD / SSA</a:t>
                      </a:r>
                    </a:p>
                  </a:txBody>
                  <a:tcPr marT="36576" marB="36576">
                    <a:solidFill>
                      <a:srgbClr val="FFFFFF"/>
                    </a:solidFill>
                  </a:tcPr>
                </a:tc>
                <a:extLst>
                  <a:ext uri="{0D108BD9-81ED-4DB2-BD59-A6C34878D82A}">
                    <a16:rowId xmlns:a16="http://schemas.microsoft.com/office/drawing/2014/main" val="10003"/>
                  </a:ext>
                </a:extLst>
              </a:tr>
              <a:tr h="384048">
                <a:tc>
                  <a:txBody>
                    <a:bodyPr/>
                    <a:lstStyle/>
                    <a:p>
                      <a:r>
                        <a:rPr sz="1400" b="1" i="0">
                          <a:solidFill>
                            <a:srgbClr val="1A1A1A"/>
                          </a:solidFill>
                          <a:latin typeface="Helvetica Neue"/>
                        </a:rPr>
                        <a:t>Its p-th derivative is small in L2</a:t>
                      </a:r>
                    </a:p>
                  </a:txBody>
                  <a:tcPr marT="36576" marB="36576">
                    <a:solidFill>
                      <a:srgbClr val="F4F6F8"/>
                    </a:solidFill>
                  </a:tcPr>
                </a:tc>
                <a:tc>
                  <a:txBody>
                    <a:bodyPr/>
                    <a:lstStyle/>
                    <a:p>
                      <a:r>
                        <a:rPr sz="1400" b="0" i="0">
                          <a:solidFill>
                            <a:srgbClr val="1A1A1A"/>
                          </a:solidFill>
                          <a:latin typeface="Helvetica Neue"/>
                        </a:rPr>
                        <a:t>Whittaker–Henderson, Tikhonov, smoothing spline</a:t>
                      </a:r>
                    </a:p>
                  </a:txBody>
                  <a:tcPr marT="36576" marB="36576">
                    <a:solidFill>
                      <a:srgbClr val="F4F6F8"/>
                    </a:solidFill>
                  </a:tcPr>
                </a:tc>
                <a:extLst>
                  <a:ext uri="{0D108BD9-81ED-4DB2-BD59-A6C34878D82A}">
                    <a16:rowId xmlns:a16="http://schemas.microsoft.com/office/drawing/2014/main" val="10004"/>
                  </a:ext>
                </a:extLst>
              </a:tr>
              <a:tr h="384048">
                <a:tc>
                  <a:txBody>
                    <a:bodyPr/>
                    <a:lstStyle/>
                    <a:p>
                      <a:r>
                        <a:rPr sz="1400" b="1" i="0">
                          <a:solidFill>
                            <a:srgbClr val="1A1A1A"/>
                          </a:solidFill>
                          <a:latin typeface="Helvetica Neue"/>
                        </a:rPr>
                        <a:t>Its derivative is piecewise constant (L1)</a:t>
                      </a:r>
                    </a:p>
                  </a:txBody>
                  <a:tcPr marT="36576" marB="36576">
                    <a:solidFill>
                      <a:srgbClr val="FFFFFF"/>
                    </a:solidFill>
                  </a:tcPr>
                </a:tc>
                <a:tc>
                  <a:txBody>
                    <a:bodyPr/>
                    <a:lstStyle/>
                    <a:p>
                      <a:r>
                        <a:rPr sz="1400" b="0" i="0">
                          <a:solidFill>
                            <a:srgbClr val="1A1A1A"/>
                          </a:solidFill>
                          <a:latin typeface="Helvetica Neue"/>
                        </a:rPr>
                        <a:t>Total variation (Chartrand)</a:t>
                      </a:r>
                    </a:p>
                  </a:txBody>
                  <a:tcPr marT="36576" marB="36576">
                    <a:solidFill>
                      <a:srgbClr val="FFFFFF"/>
                    </a:solidFill>
                  </a:tcPr>
                </a:tc>
                <a:extLst>
                  <a:ext uri="{0D108BD9-81ED-4DB2-BD59-A6C34878D82A}">
                    <a16:rowId xmlns:a16="http://schemas.microsoft.com/office/drawing/2014/main" val="10005"/>
                  </a:ext>
                </a:extLst>
              </a:tr>
              <a:tr h="384048">
                <a:tc>
                  <a:txBody>
                    <a:bodyPr/>
                    <a:lstStyle/>
                    <a:p>
                      <a:r>
                        <a:rPr sz="1400" b="1" i="0">
                          <a:solidFill>
                            <a:srgbClr val="1A1A1A"/>
                          </a:solidFill>
                          <a:latin typeface="Helvetica Neue"/>
                        </a:rPr>
                        <a:t>It is an integrated Wiener process</a:t>
                      </a:r>
                    </a:p>
                  </a:txBody>
                  <a:tcPr marT="36576" marB="36576">
                    <a:solidFill>
                      <a:srgbClr val="F4F6F8"/>
                    </a:solidFill>
                  </a:tcPr>
                </a:tc>
                <a:tc>
                  <a:txBody>
                    <a:bodyPr/>
                    <a:lstStyle/>
                    <a:p>
                      <a:r>
                        <a:rPr sz="1400" b="0" i="0">
                          <a:solidFill>
                            <a:srgbClr val="1A1A1A"/>
                          </a:solidFill>
                          <a:latin typeface="Helvetica Neue"/>
                        </a:rPr>
                        <a:t>Kalman / RTS smoother  ≡  Gaussian process</a:t>
                      </a:r>
                    </a:p>
                  </a:txBody>
                  <a:tcPr marT="36576" marB="36576">
                    <a:solidFill>
                      <a:srgbClr val="F4F6F8"/>
                    </a:solidFill>
                  </a:tcPr>
                </a:tc>
                <a:extLst>
                  <a:ext uri="{0D108BD9-81ED-4DB2-BD59-A6C34878D82A}">
                    <a16:rowId xmlns:a16="http://schemas.microsoft.com/office/drawing/2014/main" val="10006"/>
                  </a:ext>
                </a:extLst>
              </a:tr>
              <a:tr h="384048">
                <a:tc>
                  <a:txBody>
                    <a:bodyPr/>
                    <a:lstStyle/>
                    <a:p>
                      <a:r>
                        <a:rPr sz="1400" b="1" i="0">
                          <a:solidFill>
                            <a:srgbClr val="1A1A1A"/>
                          </a:solidFill>
                          <a:latin typeface="Helvetica Neue"/>
                        </a:rPr>
                        <a:t>Its derivative is bounded by a known constant</a:t>
                      </a:r>
                    </a:p>
                  </a:txBody>
                  <a:tcPr marT="36576" marB="36576">
                    <a:solidFill>
                      <a:srgbClr val="FFFFFF"/>
                    </a:solidFill>
                  </a:tcPr>
                </a:tc>
                <a:tc>
                  <a:txBody>
                    <a:bodyPr/>
                    <a:lstStyle/>
                    <a:p>
                      <a:r>
                        <a:rPr sz="1400" b="0" i="0">
                          <a:solidFill>
                            <a:srgbClr val="1A1A1A"/>
                          </a:solidFill>
                          <a:latin typeface="Helvetica Neue"/>
                        </a:rPr>
                        <a:t>Levant sliding-mode (causal, online)</a:t>
                      </a:r>
                    </a:p>
                  </a:txBody>
                  <a:tcPr marT="36576" marB="36576">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Spectral (FFT) differentiation</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81328"/>
            <a:ext cx="10881360" cy="731520"/>
          </a:xfrm>
          <a:prstGeom prst="rect">
            <a:avLst/>
          </a:prstGeom>
          <a:noFill/>
        </p:spPr>
        <p:txBody>
          <a:bodyPr wrap="square" lIns="0" tIns="0" rIns="0" bIns="0">
            <a:spAutoFit/>
          </a:bodyPr>
          <a:lstStyle/>
          <a:p>
            <a:r>
              <a:rPr sz="1800" b="0" i="1">
                <a:solidFill>
                  <a:srgbClr val="1A1A1A"/>
                </a:solidFill>
                <a:latin typeface="Helvetica Neue"/>
              </a:rPr>
              <a:t>Multiply the spectrum by (iω)ⁿ, roll off above a cutoff, transform back.</a:t>
            </a:r>
          </a:p>
        </p:txBody>
      </p:sp>
      <p:sp>
        <p:nvSpPr>
          <p:cNvPr id="5" name="TextBox 4"/>
          <p:cNvSpPr txBox="1"/>
          <p:nvPr/>
        </p:nvSpPr>
        <p:spPr>
          <a:xfrm>
            <a:off x="658368" y="2395728"/>
            <a:ext cx="5257800" cy="365760"/>
          </a:xfrm>
          <a:prstGeom prst="rect">
            <a:avLst/>
          </a:prstGeom>
          <a:noFill/>
        </p:spPr>
        <p:txBody>
          <a:bodyPr wrap="square" lIns="0" tIns="0" rIns="0" bIns="0">
            <a:spAutoFit/>
          </a:bodyPr>
          <a:lstStyle/>
          <a:p>
            <a:r>
              <a:rPr sz="1400" b="1" i="0">
                <a:solidFill>
                  <a:srgbClr val="1B7F5C"/>
                </a:solidFill>
                <a:latin typeface="Helvetica Neue"/>
              </a:rPr>
              <a:t>STRENGTHS</a:t>
            </a:r>
          </a:p>
        </p:txBody>
      </p:sp>
      <p:sp>
        <p:nvSpPr>
          <p:cNvPr id="6" name="TextBox 5"/>
          <p:cNvSpPr txBox="1"/>
          <p:nvPr/>
        </p:nvSpPr>
        <p:spPr>
          <a:xfrm>
            <a:off x="658368" y="2816352"/>
            <a:ext cx="5257800" cy="2743200"/>
          </a:xfrm>
          <a:prstGeom prst="rect">
            <a:avLst/>
          </a:prstGeom>
          <a:noFill/>
        </p:spPr>
        <p:txBody>
          <a:bodyPr wrap="square" lIns="0" tIns="0" rIns="0" bIns="0">
            <a:spAutoFit/>
          </a:bodyPr>
          <a:lstStyle/>
          <a:p>
            <a:pPr>
              <a:spcAft>
                <a:spcPts val="900"/>
              </a:spcAft>
            </a:pPr>
            <a:r>
              <a:rPr sz="1700" b="1" i="0">
                <a:solidFill>
                  <a:srgbClr val="1B7F5C"/>
                </a:solidFill>
                <a:latin typeface="Helvetica Neue"/>
              </a:rPr>
              <a:t>•  </a:t>
            </a:r>
            <a:r>
              <a:rPr sz="1700" b="0" i="0">
                <a:solidFill>
                  <a:srgbClr val="1A1A1A"/>
                </a:solidFill>
                <a:latin typeface="Helvetica Neue"/>
              </a:rPr>
              <a:t>Exact for a bandlimited periodic signal — no discretisation error at all</a:t>
            </a:r>
          </a:p>
          <a:p>
            <a:pPr>
              <a:spcAft>
                <a:spcPts val="900"/>
              </a:spcAft>
            </a:pPr>
            <a:r>
              <a:rPr sz="1700" b="1" i="0">
                <a:solidFill>
                  <a:srgbClr val="1B7F5C"/>
                </a:solidFill>
                <a:latin typeface="Helvetica Neue"/>
              </a:rPr>
              <a:t>•  </a:t>
            </a:r>
            <a:r>
              <a:rPr sz="1700" b="0" i="0">
                <a:solidFill>
                  <a:srgbClr val="1A1A1A"/>
                </a:solidFill>
                <a:latin typeface="Helvetica Neue"/>
              </a:rPr>
              <a:t>Most accurate of any method in the interior of a long record (0.54% velocity error here)</a:t>
            </a:r>
          </a:p>
          <a:p>
            <a:pPr>
              <a:spcAft>
                <a:spcPts val="900"/>
              </a:spcAft>
            </a:pPr>
            <a:r>
              <a:rPr sz="1700" b="1" i="0">
                <a:solidFill>
                  <a:srgbClr val="1B7F5C"/>
                </a:solidFill>
                <a:latin typeface="Helvetica Neue"/>
              </a:rPr>
              <a:t>•  </a:t>
            </a:r>
            <a:r>
              <a:rPr sz="1700" b="0" i="0">
                <a:solidFill>
                  <a:srgbClr val="1A1A1A"/>
                </a:solidFill>
                <a:latin typeface="Helvetica Neue"/>
              </a:rPr>
              <a:t>Trivial to implement, O(N log N), and the cutoff has an obvious physical meaning</a:t>
            </a:r>
          </a:p>
          <a:p>
            <a:pPr>
              <a:spcAft>
                <a:spcPts val="900"/>
              </a:spcAft>
            </a:pPr>
            <a:r>
              <a:rPr sz="1700" b="1" i="0">
                <a:solidFill>
                  <a:srgbClr val="1B7F5C"/>
                </a:solidFill>
                <a:latin typeface="Helvetica Neue"/>
              </a:rPr>
              <a:t>•  </a:t>
            </a:r>
            <a:r>
              <a:rPr sz="1700" b="0" i="0">
                <a:solidFill>
                  <a:srgbClr val="1A1A1A"/>
                </a:solidFill>
                <a:latin typeface="Helvetica Neue"/>
              </a:rPr>
              <a:t>The natural choice when you already work in the frequency domain</a:t>
            </a:r>
          </a:p>
        </p:txBody>
      </p:sp>
      <p:sp>
        <p:nvSpPr>
          <p:cNvPr id="7" name="TextBox 6"/>
          <p:cNvSpPr txBox="1"/>
          <p:nvPr/>
        </p:nvSpPr>
        <p:spPr>
          <a:xfrm>
            <a:off x="6281928" y="2395728"/>
            <a:ext cx="5257800" cy="365760"/>
          </a:xfrm>
          <a:prstGeom prst="rect">
            <a:avLst/>
          </a:prstGeom>
          <a:noFill/>
        </p:spPr>
        <p:txBody>
          <a:bodyPr wrap="square" lIns="0" tIns="0" rIns="0" bIns="0">
            <a:spAutoFit/>
          </a:bodyPr>
          <a:lstStyle/>
          <a:p>
            <a:r>
              <a:rPr sz="1400" b="1" i="0">
                <a:solidFill>
                  <a:srgbClr val="C2453C"/>
                </a:solidFill>
                <a:latin typeface="Helvetica Neue"/>
              </a:rPr>
              <a:t>LIMITATIONS</a:t>
            </a:r>
          </a:p>
        </p:txBody>
      </p:sp>
      <p:sp>
        <p:nvSpPr>
          <p:cNvPr id="8" name="TextBox 7"/>
          <p:cNvSpPr txBox="1"/>
          <p:nvPr/>
        </p:nvSpPr>
        <p:spPr>
          <a:xfrm>
            <a:off x="6281928" y="2816352"/>
            <a:ext cx="5257800" cy="2743200"/>
          </a:xfrm>
          <a:prstGeom prst="rect">
            <a:avLst/>
          </a:prstGeom>
          <a:noFill/>
        </p:spPr>
        <p:txBody>
          <a:bodyPr wrap="square" lIns="0" tIns="0" rIns="0" bIns="0">
            <a:spAutoFit/>
          </a:bodyPr>
          <a:lstStyle/>
          <a:p>
            <a:pPr>
              <a:spcAft>
                <a:spcPts val="900"/>
              </a:spcAft>
            </a:pPr>
            <a:r>
              <a:rPr sz="1700" b="1" i="0">
                <a:solidFill>
                  <a:srgbClr val="C2453C"/>
                </a:solidFill>
                <a:latin typeface="Helvetica Neue"/>
              </a:rPr>
              <a:t>•  </a:t>
            </a:r>
            <a:r>
              <a:rPr sz="1700" b="0" i="0">
                <a:solidFill>
                  <a:srgbClr val="1A1A1A"/>
                </a:solidFill>
                <a:latin typeface="Helvetica Neue"/>
              </a:rPr>
              <a:t>Enforces periodicity — catastrophic at the record ends (next slide)</a:t>
            </a:r>
          </a:p>
          <a:p>
            <a:pPr>
              <a:spcAft>
                <a:spcPts val="900"/>
              </a:spcAft>
            </a:pPr>
            <a:r>
              <a:rPr sz="1700" b="1" i="0">
                <a:solidFill>
                  <a:srgbClr val="C2453C"/>
                </a:solidFill>
                <a:latin typeface="Helvetica Neue"/>
              </a:rPr>
              <a:t>•  </a:t>
            </a:r>
            <a:r>
              <a:rPr sz="1700" b="0" i="0">
                <a:solidFill>
                  <a:srgbClr val="1A1A1A"/>
                </a:solidFill>
                <a:latin typeface="Helvetica Neue"/>
              </a:rPr>
              <a:t>Needs uniform sampling and a gap-free record</a:t>
            </a:r>
          </a:p>
          <a:p>
            <a:pPr>
              <a:spcAft>
                <a:spcPts val="900"/>
              </a:spcAft>
            </a:pPr>
            <a:r>
              <a:rPr sz="1700" b="1" i="0">
                <a:solidFill>
                  <a:srgbClr val="C2453C"/>
                </a:solidFill>
                <a:latin typeface="Helvetica Neue"/>
              </a:rPr>
              <a:t>•  </a:t>
            </a:r>
            <a:r>
              <a:rPr sz="1700" b="0" i="0">
                <a:solidFill>
                  <a:srgbClr val="1A1A1A"/>
                </a:solidFill>
                <a:latin typeface="Helvetica Neue"/>
              </a:rPr>
              <a:t>Cutoff must be chosen; too high amplifies noise, too low removes signal</a:t>
            </a:r>
          </a:p>
          <a:p>
            <a:pPr>
              <a:spcAft>
                <a:spcPts val="900"/>
              </a:spcAft>
            </a:pPr>
            <a:r>
              <a:rPr sz="1700" b="1" i="0">
                <a:solidFill>
                  <a:srgbClr val="C2453C"/>
                </a:solidFill>
                <a:latin typeface="Helvetica Neue"/>
              </a:rPr>
              <a:t>•  </a:t>
            </a:r>
            <a:r>
              <a:rPr sz="1700" b="0" i="0">
                <a:solidFill>
                  <a:srgbClr val="1A1A1A"/>
                </a:solidFill>
                <a:latin typeface="Helvetica Neue"/>
              </a:rPr>
              <a:t>Leakage if the record is not an integer number of periods (taper, then divide it out)</a:t>
            </a:r>
          </a:p>
        </p:txBody>
      </p:sp>
      <p:sp>
        <p:nvSpPr>
          <p:cNvPr id="9" name="Rounded Rectangle 8"/>
          <p:cNvSpPr/>
          <p:nvPr/>
        </p:nvSpPr>
        <p:spPr>
          <a:xfrm>
            <a:off x="658368" y="5742432"/>
            <a:ext cx="10881360" cy="749808"/>
          </a:xfrm>
          <a:prstGeom prst="round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wrap="square" lIns="219456" tIns="91440" rtlCol="0" anchor="ctr"/>
          <a:lstStyle/>
          <a:p>
            <a:pPr algn="ctr"/>
            <a:r>
              <a:rPr sz="1300" b="1" i="0">
                <a:solidFill>
                  <a:srgbClr val="2F6F9F"/>
                </a:solidFill>
                <a:latin typeface="Helvetica Neue"/>
              </a:rPr>
              <a:t>USE IT WHEN   </a:t>
            </a:r>
            <a:r>
              <a:rPr sz="1600" b="0" i="0">
                <a:solidFill>
                  <a:srgbClr val="1A1A1A"/>
                </a:solidFill>
                <a:latin typeface="Helvetica Neue"/>
              </a:rPr>
              <a:t>The record is long, uniformly sampled, and you only care about the middle of 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The FFT caveat that costs people real results</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_edges.png"/>
          <p:cNvPicPr>
            <a:picLocks noChangeAspect="1"/>
          </p:cNvPicPr>
          <p:nvPr/>
        </p:nvPicPr>
        <p:blipFill>
          <a:blip r:embed="rId3"/>
          <a:stretch>
            <a:fillRect/>
          </a:stretch>
        </p:blipFill>
        <p:spPr>
          <a:xfrm>
            <a:off x="763651" y="1371600"/>
            <a:ext cx="10664393" cy="4590288"/>
          </a:xfrm>
          <a:prstGeom prst="rect">
            <a:avLst/>
          </a:prstGeom>
        </p:spPr>
      </p:pic>
      <p:sp>
        <p:nvSpPr>
          <p:cNvPr id="5" name="TextBox 4"/>
          <p:cNvSpPr txBox="1"/>
          <p:nvPr/>
        </p:nvSpPr>
        <p:spPr>
          <a:xfrm>
            <a:off x="786384" y="6089904"/>
            <a:ext cx="10607040" cy="548640"/>
          </a:xfrm>
          <a:prstGeom prst="rect">
            <a:avLst/>
          </a:prstGeom>
          <a:noFill/>
        </p:spPr>
        <p:txBody>
          <a:bodyPr wrap="square" lIns="0" tIns="0" rIns="0" bIns="0">
            <a:spAutoFit/>
          </a:bodyPr>
          <a:lstStyle/>
          <a:p>
            <a:pPr algn="ctr"/>
            <a:r>
              <a:rPr sz="1300" b="0" i="1">
                <a:solidFill>
                  <a:srgbClr val="6B7280"/>
                </a:solidFill>
                <a:latin typeface="Helvetica Neue"/>
              </a:rPr>
              <a:t>Velocity over the last 0.2 s of a 3 s free decay. Interior error 0.54%; over the full record, 8.4% — a 15x degradation.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Savitzky–Golay</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81328"/>
            <a:ext cx="10881360" cy="731520"/>
          </a:xfrm>
          <a:prstGeom prst="rect">
            <a:avLst/>
          </a:prstGeom>
          <a:noFill/>
        </p:spPr>
        <p:txBody>
          <a:bodyPr wrap="square" lIns="0" tIns="0" rIns="0" bIns="0">
            <a:spAutoFit/>
          </a:bodyPr>
          <a:lstStyle/>
          <a:p>
            <a:r>
              <a:rPr sz="1800" b="0" i="1">
                <a:solidFill>
                  <a:srgbClr val="1A1A1A"/>
                </a:solidFill>
                <a:latin typeface="Helvetica Neue"/>
              </a:rPr>
              <a:t>Fit a low-order polynomial in a sliding window; differentiate the polynomial analytically.</a:t>
            </a:r>
          </a:p>
        </p:txBody>
      </p:sp>
      <p:sp>
        <p:nvSpPr>
          <p:cNvPr id="5" name="TextBox 4"/>
          <p:cNvSpPr txBox="1"/>
          <p:nvPr/>
        </p:nvSpPr>
        <p:spPr>
          <a:xfrm>
            <a:off x="658368" y="2395728"/>
            <a:ext cx="5257800" cy="365760"/>
          </a:xfrm>
          <a:prstGeom prst="rect">
            <a:avLst/>
          </a:prstGeom>
          <a:noFill/>
        </p:spPr>
        <p:txBody>
          <a:bodyPr wrap="square" lIns="0" tIns="0" rIns="0" bIns="0">
            <a:spAutoFit/>
          </a:bodyPr>
          <a:lstStyle/>
          <a:p>
            <a:r>
              <a:rPr sz="1400" b="1" i="0">
                <a:solidFill>
                  <a:srgbClr val="1B7F5C"/>
                </a:solidFill>
                <a:latin typeface="Helvetica Neue"/>
              </a:rPr>
              <a:t>STRENGTHS</a:t>
            </a:r>
          </a:p>
        </p:txBody>
      </p:sp>
      <p:sp>
        <p:nvSpPr>
          <p:cNvPr id="6" name="TextBox 5"/>
          <p:cNvSpPr txBox="1"/>
          <p:nvPr/>
        </p:nvSpPr>
        <p:spPr>
          <a:xfrm>
            <a:off x="658368" y="2816352"/>
            <a:ext cx="5257800" cy="2743200"/>
          </a:xfrm>
          <a:prstGeom prst="rect">
            <a:avLst/>
          </a:prstGeom>
          <a:noFill/>
        </p:spPr>
        <p:txBody>
          <a:bodyPr wrap="square" lIns="0" tIns="0" rIns="0" bIns="0">
            <a:spAutoFit/>
          </a:bodyPr>
          <a:lstStyle/>
          <a:p>
            <a:pPr>
              <a:spcAft>
                <a:spcPts val="900"/>
              </a:spcAft>
            </a:pPr>
            <a:r>
              <a:rPr sz="1700" b="1" i="0">
                <a:solidFill>
                  <a:srgbClr val="1B7F5C"/>
                </a:solidFill>
                <a:latin typeface="Helvetica Neue"/>
              </a:rPr>
              <a:t>•  </a:t>
            </a:r>
            <a:r>
              <a:rPr sz="1700" b="0" i="0">
                <a:solidFill>
                  <a:srgbClr val="1A1A1A"/>
                </a:solidFill>
                <a:latin typeface="Helvetica Neue"/>
              </a:rPr>
              <a:t>Simple, fast, and available in every toolbox</a:t>
            </a:r>
          </a:p>
          <a:p>
            <a:pPr>
              <a:spcAft>
                <a:spcPts val="900"/>
              </a:spcAft>
            </a:pPr>
            <a:r>
              <a:rPr sz="1700" b="1" i="0">
                <a:solidFill>
                  <a:srgbClr val="1B7F5C"/>
                </a:solidFill>
                <a:latin typeface="Helvetica Neue"/>
              </a:rPr>
              <a:t>•  </a:t>
            </a:r>
            <a:r>
              <a:rPr sz="1700" b="0" i="0">
                <a:solidFill>
                  <a:srgbClr val="1A1A1A"/>
                </a:solidFill>
                <a:latin typeface="Helvetica Neue"/>
              </a:rPr>
              <a:t>No periodicity assumption — much better behaved at the ends than the FFT</a:t>
            </a:r>
          </a:p>
          <a:p>
            <a:pPr>
              <a:spcAft>
                <a:spcPts val="900"/>
              </a:spcAft>
            </a:pPr>
            <a:r>
              <a:rPr sz="1700" b="1" i="0">
                <a:solidFill>
                  <a:srgbClr val="1B7F5C"/>
                </a:solidFill>
                <a:latin typeface="Helvetica Neue"/>
              </a:rPr>
              <a:t>•  </a:t>
            </a:r>
            <a:r>
              <a:rPr sz="1700" b="0" i="0">
                <a:solidFill>
                  <a:srgbClr val="1A1A1A"/>
                </a:solidFill>
                <a:latin typeface="Helvetica Neue"/>
              </a:rPr>
              <a:t>Preserves peak heights and widths better than a plain moving average</a:t>
            </a:r>
          </a:p>
          <a:p>
            <a:pPr>
              <a:spcAft>
                <a:spcPts val="900"/>
              </a:spcAft>
            </a:pPr>
            <a:r>
              <a:rPr sz="1700" b="1" i="0">
                <a:solidFill>
                  <a:srgbClr val="1B7F5C"/>
                </a:solidFill>
                <a:latin typeface="Helvetica Neue"/>
              </a:rPr>
              <a:t>•  </a:t>
            </a:r>
            <a:r>
              <a:rPr sz="1700" b="0" i="0">
                <a:solidFill>
                  <a:srgbClr val="1A1A1A"/>
                </a:solidFill>
                <a:latin typeface="Helvetica Neue"/>
              </a:rPr>
              <a:t>Window length maps to a cutoff via Schafer's rule, so it can be set from physics</a:t>
            </a:r>
          </a:p>
        </p:txBody>
      </p:sp>
      <p:sp>
        <p:nvSpPr>
          <p:cNvPr id="7" name="TextBox 6"/>
          <p:cNvSpPr txBox="1"/>
          <p:nvPr/>
        </p:nvSpPr>
        <p:spPr>
          <a:xfrm>
            <a:off x="6281928" y="2395728"/>
            <a:ext cx="5257800" cy="365760"/>
          </a:xfrm>
          <a:prstGeom prst="rect">
            <a:avLst/>
          </a:prstGeom>
          <a:noFill/>
        </p:spPr>
        <p:txBody>
          <a:bodyPr wrap="square" lIns="0" tIns="0" rIns="0" bIns="0">
            <a:spAutoFit/>
          </a:bodyPr>
          <a:lstStyle/>
          <a:p>
            <a:r>
              <a:rPr sz="1400" b="1" i="0">
                <a:solidFill>
                  <a:srgbClr val="C2453C"/>
                </a:solidFill>
                <a:latin typeface="Helvetica Neue"/>
              </a:rPr>
              <a:t>LIMITATIONS</a:t>
            </a:r>
          </a:p>
        </p:txBody>
      </p:sp>
      <p:sp>
        <p:nvSpPr>
          <p:cNvPr id="8" name="TextBox 7"/>
          <p:cNvSpPr txBox="1"/>
          <p:nvPr/>
        </p:nvSpPr>
        <p:spPr>
          <a:xfrm>
            <a:off x="6281928" y="2816352"/>
            <a:ext cx="5257800" cy="2743200"/>
          </a:xfrm>
          <a:prstGeom prst="rect">
            <a:avLst/>
          </a:prstGeom>
          <a:noFill/>
        </p:spPr>
        <p:txBody>
          <a:bodyPr wrap="square" lIns="0" tIns="0" rIns="0" bIns="0">
            <a:spAutoFit/>
          </a:bodyPr>
          <a:lstStyle/>
          <a:p>
            <a:pPr>
              <a:spcAft>
                <a:spcPts val="900"/>
              </a:spcAft>
            </a:pPr>
            <a:r>
              <a:rPr sz="1700" b="1" i="0">
                <a:solidFill>
                  <a:srgbClr val="C2453C"/>
                </a:solidFill>
                <a:latin typeface="Helvetica Neue"/>
              </a:rPr>
              <a:t>•  </a:t>
            </a:r>
            <a:r>
              <a:rPr sz="1700" b="0" i="0">
                <a:solidFill>
                  <a:srgbClr val="1A1A1A"/>
                </a:solidFill>
                <a:latin typeface="Helvetica Neue"/>
              </a:rPr>
              <a:t>Two knobs (window, polynomial order) that interact</a:t>
            </a:r>
          </a:p>
          <a:p>
            <a:pPr>
              <a:spcAft>
                <a:spcPts val="900"/>
              </a:spcAft>
            </a:pPr>
            <a:r>
              <a:rPr sz="1700" b="1" i="0">
                <a:solidFill>
                  <a:srgbClr val="C2453C"/>
                </a:solidFill>
                <a:latin typeface="Helvetica Neue"/>
              </a:rPr>
              <a:t>•  </a:t>
            </a:r>
            <a:r>
              <a:rPr sz="1700" b="0" i="0">
                <a:solidFill>
                  <a:srgbClr val="1A1A1A"/>
                </a:solidFill>
                <a:latin typeface="Helvetica Neue"/>
              </a:rPr>
              <a:t>Implicitly assumes the signal is polynomial over the window — poor for lightly damped resonance</a:t>
            </a:r>
          </a:p>
          <a:p>
            <a:pPr>
              <a:spcAft>
                <a:spcPts val="900"/>
              </a:spcAft>
            </a:pPr>
            <a:r>
              <a:rPr sz="1700" b="1" i="0">
                <a:solidFill>
                  <a:srgbClr val="C2453C"/>
                </a:solidFill>
                <a:latin typeface="Helvetica Neue"/>
              </a:rPr>
              <a:t>•  </a:t>
            </a:r>
            <a:r>
              <a:rPr sz="1700" b="0" i="0">
                <a:solidFill>
                  <a:srgbClr val="1A1A1A"/>
                </a:solidFill>
                <a:latin typeface="Helvetica Neue"/>
              </a:rPr>
              <a:t>Noticeably worse than an L2 penalty for second derivatives (2.4% vs 0.9% here)</a:t>
            </a:r>
          </a:p>
          <a:p>
            <a:pPr>
              <a:spcAft>
                <a:spcPts val="900"/>
              </a:spcAft>
            </a:pPr>
            <a:r>
              <a:rPr sz="1700" b="1" i="0">
                <a:solidFill>
                  <a:srgbClr val="C2453C"/>
                </a:solidFill>
                <a:latin typeface="Helvetica Neue"/>
              </a:rPr>
              <a:t>•  </a:t>
            </a:r>
            <a:r>
              <a:rPr sz="1700" b="0" i="0">
                <a:solidFill>
                  <a:srgbClr val="1A1A1A"/>
                </a:solidFill>
                <a:latin typeface="Helvetica Neue"/>
              </a:rPr>
              <a:t>Edge behaviour depends on the padding convention, which differs between implementations</a:t>
            </a:r>
          </a:p>
        </p:txBody>
      </p:sp>
      <p:sp>
        <p:nvSpPr>
          <p:cNvPr id="9" name="Rounded Rectangle 8"/>
          <p:cNvSpPr/>
          <p:nvPr/>
        </p:nvSpPr>
        <p:spPr>
          <a:xfrm>
            <a:off x="658368" y="5742432"/>
            <a:ext cx="10881360" cy="749808"/>
          </a:xfrm>
          <a:prstGeom prst="round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wrap="square" lIns="219456" tIns="91440" rtlCol="0" anchor="ctr"/>
          <a:lstStyle/>
          <a:p>
            <a:pPr algn="ctr"/>
            <a:r>
              <a:rPr sz="1300" b="1" i="0">
                <a:solidFill>
                  <a:srgbClr val="2F6F9F"/>
                </a:solidFill>
                <a:latin typeface="Helvetica Neue"/>
              </a:rPr>
              <a:t>USE IT WHEN   </a:t>
            </a:r>
            <a:r>
              <a:rPr sz="1600" b="0" i="0">
                <a:solidFill>
                  <a:srgbClr val="1A1A1A"/>
                </a:solidFill>
                <a:latin typeface="Helvetica Neue"/>
              </a:rPr>
              <a:t>You want something defensible in ten lines with no linear solve, and first derivatives are enough.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Whittaker–Henderson and Tikhonov</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81328"/>
            <a:ext cx="10881360" cy="731520"/>
          </a:xfrm>
          <a:prstGeom prst="rect">
            <a:avLst/>
          </a:prstGeom>
          <a:noFill/>
        </p:spPr>
        <p:txBody>
          <a:bodyPr wrap="square" lIns="0" tIns="0" rIns="0" bIns="0">
            <a:spAutoFit/>
          </a:bodyPr>
          <a:lstStyle/>
          <a:p>
            <a:r>
              <a:rPr sz="1800" b="0" i="1">
                <a:solidFill>
                  <a:srgbClr val="1A1A1A"/>
                </a:solidFill>
                <a:latin typeface="Helvetica Neue"/>
              </a:rPr>
              <a:t>Penalise the p-th derivative in L2: min ‖s − x‖² + λ‖Dᵖs‖². One banded solve.</a:t>
            </a:r>
          </a:p>
        </p:txBody>
      </p:sp>
      <p:sp>
        <p:nvSpPr>
          <p:cNvPr id="5" name="TextBox 4"/>
          <p:cNvSpPr txBox="1"/>
          <p:nvPr/>
        </p:nvSpPr>
        <p:spPr>
          <a:xfrm>
            <a:off x="658368" y="2395728"/>
            <a:ext cx="5257800" cy="365760"/>
          </a:xfrm>
          <a:prstGeom prst="rect">
            <a:avLst/>
          </a:prstGeom>
          <a:noFill/>
        </p:spPr>
        <p:txBody>
          <a:bodyPr wrap="square" lIns="0" tIns="0" rIns="0" bIns="0">
            <a:spAutoFit/>
          </a:bodyPr>
          <a:lstStyle/>
          <a:p>
            <a:r>
              <a:rPr sz="1400" b="1" i="0">
                <a:solidFill>
                  <a:srgbClr val="1B7F5C"/>
                </a:solidFill>
                <a:latin typeface="Helvetica Neue"/>
              </a:rPr>
              <a:t>STRENGTHS</a:t>
            </a:r>
          </a:p>
        </p:txBody>
      </p:sp>
      <p:sp>
        <p:nvSpPr>
          <p:cNvPr id="6" name="TextBox 5"/>
          <p:cNvSpPr txBox="1"/>
          <p:nvPr/>
        </p:nvSpPr>
        <p:spPr>
          <a:xfrm>
            <a:off x="658368" y="2816352"/>
            <a:ext cx="5257800" cy="2743200"/>
          </a:xfrm>
          <a:prstGeom prst="rect">
            <a:avLst/>
          </a:prstGeom>
          <a:noFill/>
        </p:spPr>
        <p:txBody>
          <a:bodyPr wrap="square" lIns="0" tIns="0" rIns="0" bIns="0">
            <a:spAutoFit/>
          </a:bodyPr>
          <a:lstStyle/>
          <a:p>
            <a:pPr>
              <a:spcAft>
                <a:spcPts val="900"/>
              </a:spcAft>
            </a:pPr>
            <a:r>
              <a:rPr sz="1700" b="1" i="0">
                <a:solidFill>
                  <a:srgbClr val="1B7F5C"/>
                </a:solidFill>
                <a:latin typeface="Helvetica Neue"/>
              </a:rPr>
              <a:t>•  </a:t>
            </a:r>
            <a:r>
              <a:rPr sz="1700" b="0" i="0">
                <a:solidFill>
                  <a:srgbClr val="1A1A1A"/>
                </a:solidFill>
                <a:latin typeface="Helvetica Neue"/>
              </a:rPr>
              <a:t>One sparse banded solve — O(N), no iteration, no convergence to check</a:t>
            </a:r>
          </a:p>
          <a:p>
            <a:pPr>
              <a:spcAft>
                <a:spcPts val="900"/>
              </a:spcAft>
            </a:pPr>
            <a:r>
              <a:rPr sz="1700" b="1" i="0">
                <a:solidFill>
                  <a:srgbClr val="1B7F5C"/>
                </a:solidFill>
                <a:latin typeface="Helvetica Neue"/>
              </a:rPr>
              <a:t>•  </a:t>
            </a:r>
            <a:r>
              <a:rPr sz="1700" b="0" i="0">
                <a:solidFill>
                  <a:srgbClr val="1A1A1A"/>
                </a:solidFill>
                <a:latin typeface="Helvetica Neue"/>
              </a:rPr>
              <a:t>Flat accuracy across the whole record, ends included</a:t>
            </a:r>
          </a:p>
          <a:p>
            <a:pPr>
              <a:spcAft>
                <a:spcPts val="900"/>
              </a:spcAft>
            </a:pPr>
            <a:r>
              <a:rPr sz="1700" b="1" i="0">
                <a:solidFill>
                  <a:srgbClr val="1B7F5C"/>
                </a:solidFill>
                <a:latin typeface="Helvetica Neue"/>
              </a:rPr>
              <a:t>•  </a:t>
            </a:r>
            <a:r>
              <a:rPr sz="1700" b="0" i="0">
                <a:solidFill>
                  <a:srgbClr val="1A1A1A"/>
                </a:solidFill>
                <a:latin typeface="Helvetica Neue"/>
              </a:rPr>
              <a:t>λ has a closed-form map to a cutoff frequency, so no blind parameter sweep</a:t>
            </a:r>
          </a:p>
          <a:p>
            <a:pPr>
              <a:spcAft>
                <a:spcPts val="900"/>
              </a:spcAft>
            </a:pPr>
            <a:r>
              <a:rPr sz="1700" b="1" i="0">
                <a:solidFill>
                  <a:srgbClr val="1B7F5C"/>
                </a:solidFill>
                <a:latin typeface="Helvetica Neue"/>
              </a:rPr>
              <a:t>•  </a:t>
            </a:r>
            <a:r>
              <a:rPr sz="1700" b="0" i="0">
                <a:solidFill>
                  <a:srgbClr val="1A1A1A"/>
                </a:solidFill>
                <a:latin typeface="Helvetica Neue"/>
              </a:rPr>
              <a:t>Same machinery runs the integration direction (Tikhonov) — one implementation, both tasks</a:t>
            </a:r>
          </a:p>
        </p:txBody>
      </p:sp>
      <p:sp>
        <p:nvSpPr>
          <p:cNvPr id="7" name="TextBox 6"/>
          <p:cNvSpPr txBox="1"/>
          <p:nvPr/>
        </p:nvSpPr>
        <p:spPr>
          <a:xfrm>
            <a:off x="6281928" y="2395728"/>
            <a:ext cx="5257800" cy="365760"/>
          </a:xfrm>
          <a:prstGeom prst="rect">
            <a:avLst/>
          </a:prstGeom>
          <a:noFill/>
        </p:spPr>
        <p:txBody>
          <a:bodyPr wrap="square" lIns="0" tIns="0" rIns="0" bIns="0">
            <a:spAutoFit/>
          </a:bodyPr>
          <a:lstStyle/>
          <a:p>
            <a:r>
              <a:rPr sz="1400" b="1" i="0">
                <a:solidFill>
                  <a:srgbClr val="C2453C"/>
                </a:solidFill>
                <a:latin typeface="Helvetica Neue"/>
              </a:rPr>
              <a:t>LIMITATIONS</a:t>
            </a:r>
          </a:p>
        </p:txBody>
      </p:sp>
      <p:sp>
        <p:nvSpPr>
          <p:cNvPr id="8" name="TextBox 7"/>
          <p:cNvSpPr txBox="1"/>
          <p:nvPr/>
        </p:nvSpPr>
        <p:spPr>
          <a:xfrm>
            <a:off x="6281928" y="2816352"/>
            <a:ext cx="5257800" cy="2743200"/>
          </a:xfrm>
          <a:prstGeom prst="rect">
            <a:avLst/>
          </a:prstGeom>
          <a:noFill/>
        </p:spPr>
        <p:txBody>
          <a:bodyPr wrap="square" lIns="0" tIns="0" rIns="0" bIns="0">
            <a:spAutoFit/>
          </a:bodyPr>
          <a:lstStyle/>
          <a:p>
            <a:pPr>
              <a:spcAft>
                <a:spcPts val="900"/>
              </a:spcAft>
            </a:pPr>
            <a:r>
              <a:rPr sz="1700" b="1" i="0">
                <a:solidFill>
                  <a:srgbClr val="C2453C"/>
                </a:solidFill>
                <a:latin typeface="Helvetica Neue"/>
              </a:rPr>
              <a:t>•  </a:t>
            </a:r>
            <a:r>
              <a:rPr sz="1700" b="0" i="0">
                <a:solidFill>
                  <a:srgbClr val="1A1A1A"/>
                </a:solidFill>
                <a:latin typeface="Helvetica Neue"/>
              </a:rPr>
              <a:t>Still one knob, and the optimum is sharp for second derivatives</a:t>
            </a:r>
          </a:p>
          <a:p>
            <a:pPr>
              <a:spcAft>
                <a:spcPts val="900"/>
              </a:spcAft>
            </a:pPr>
            <a:r>
              <a:rPr sz="1700" b="1" i="0">
                <a:solidFill>
                  <a:srgbClr val="C2453C"/>
                </a:solidFill>
                <a:latin typeface="Helvetica Neue"/>
              </a:rPr>
              <a:t>•  </a:t>
            </a:r>
            <a:r>
              <a:rPr sz="1700" b="0" i="0">
                <a:solidFill>
                  <a:srgbClr val="1A1A1A"/>
                </a:solidFill>
                <a:latin typeface="Helvetica Neue"/>
              </a:rPr>
              <a:t>Quadratic penalty rounds off genuine corners — wrong prior for impacting systems</a:t>
            </a:r>
          </a:p>
          <a:p>
            <a:pPr>
              <a:spcAft>
                <a:spcPts val="900"/>
              </a:spcAft>
            </a:pPr>
            <a:r>
              <a:rPr sz="1700" b="1" i="0">
                <a:solidFill>
                  <a:srgbClr val="C2453C"/>
                </a:solidFill>
                <a:latin typeface="Helvetica Neue"/>
              </a:rPr>
              <a:t>•  </a:t>
            </a:r>
            <a:r>
              <a:rPr sz="1700" b="0" i="0">
                <a:solidFill>
                  <a:srgbClr val="1A1A1A"/>
                </a:solidFill>
                <a:latin typeface="Helvetica Neue"/>
              </a:rPr>
              <a:t>The normal matrix is badly scaled; use a sparse direct solver, not an iterative one</a:t>
            </a:r>
          </a:p>
          <a:p>
            <a:pPr>
              <a:spcAft>
                <a:spcPts val="900"/>
              </a:spcAft>
            </a:pPr>
            <a:r>
              <a:rPr sz="1700" b="1" i="0">
                <a:solidFill>
                  <a:srgbClr val="C2453C"/>
                </a:solidFill>
                <a:latin typeface="Helvetica Neue"/>
              </a:rPr>
              <a:t>•  </a:t>
            </a:r>
            <a:r>
              <a:rPr sz="1700" b="0" i="0">
                <a:solidFill>
                  <a:srgbClr val="1A1A1A"/>
                </a:solidFill>
                <a:latin typeface="Helvetica Neue"/>
              </a:rPr>
              <a:t>No uncertainty estimate comes out of it</a:t>
            </a:r>
          </a:p>
        </p:txBody>
      </p:sp>
      <p:sp>
        <p:nvSpPr>
          <p:cNvPr id="9" name="Rounded Rectangle 8"/>
          <p:cNvSpPr/>
          <p:nvPr/>
        </p:nvSpPr>
        <p:spPr>
          <a:xfrm>
            <a:off x="658368" y="5742432"/>
            <a:ext cx="10881360" cy="749808"/>
          </a:xfrm>
          <a:prstGeom prst="round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wrap="square" lIns="219456" tIns="91440" rtlCol="0" anchor="ctr"/>
          <a:lstStyle/>
          <a:p>
            <a:pPr algn="ctr"/>
            <a:r>
              <a:rPr sz="1300" b="1" i="0">
                <a:solidFill>
                  <a:srgbClr val="1B7F5C"/>
                </a:solidFill>
                <a:latin typeface="Helvetica Neue"/>
              </a:rPr>
              <a:t>USE IT WHEN   </a:t>
            </a:r>
            <a:r>
              <a:rPr sz="1600" b="0" i="0">
                <a:solidFill>
                  <a:srgbClr val="1A1A1A"/>
                </a:solidFill>
                <a:latin typeface="Helvetica Neue"/>
              </a:rPr>
              <a:t>This is the sensible default for smooth vibration data. Start here.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Every method has an optimum you have to find</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_tuning.png"/>
          <p:cNvPicPr>
            <a:picLocks noChangeAspect="1"/>
          </p:cNvPicPr>
          <p:nvPr/>
        </p:nvPicPr>
        <p:blipFill>
          <a:blip r:embed="rId3"/>
          <a:stretch>
            <a:fillRect/>
          </a:stretch>
        </p:blipFill>
        <p:spPr>
          <a:xfrm>
            <a:off x="763651" y="1371600"/>
            <a:ext cx="10664393" cy="4590288"/>
          </a:xfrm>
          <a:prstGeom prst="rect">
            <a:avLst/>
          </a:prstGeom>
        </p:spPr>
      </p:pic>
      <p:sp>
        <p:nvSpPr>
          <p:cNvPr id="5" name="TextBox 4"/>
          <p:cNvSpPr txBox="1"/>
          <p:nvPr/>
        </p:nvSpPr>
        <p:spPr>
          <a:xfrm>
            <a:off x="786384" y="6089904"/>
            <a:ext cx="10607040" cy="548640"/>
          </a:xfrm>
          <a:prstGeom prst="rect">
            <a:avLst/>
          </a:prstGeom>
          <a:noFill/>
        </p:spPr>
        <p:txBody>
          <a:bodyPr wrap="square" lIns="0" tIns="0" rIns="0" bIns="0">
            <a:spAutoFit/>
          </a:bodyPr>
          <a:lstStyle/>
          <a:p>
            <a:pPr algn="ctr"/>
            <a:r>
              <a:rPr sz="1300" b="0" i="1">
                <a:solidFill>
                  <a:srgbClr val="6B7280"/>
                </a:solidFill>
                <a:latin typeface="Helvetica Neue"/>
              </a:rPr>
              <a:t>Error against exact ground truth as the cutoff is swept, 1% position noise. The dashed line is the self-tuned state-space smoother, which has no knob at 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Setting the knob from physics, not from a sweep</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0"/>
            <a:ext cx="11064240" cy="411480"/>
          </a:xfrm>
          <a:prstGeom prst="rect">
            <a:avLst/>
          </a:prstGeom>
          <a:noFill/>
        </p:spPr>
        <p:txBody>
          <a:bodyPr wrap="square" lIns="0" tIns="0" rIns="0" bIns="0">
            <a:spAutoFit/>
          </a:bodyPr>
          <a:lstStyle/>
          <a:p>
            <a:r>
              <a:rPr sz="1600" b="0" i="1">
                <a:solidFill>
                  <a:srgbClr val="6B7280"/>
                </a:solidFill>
                <a:latin typeface="Helvetica Neue"/>
              </a:rPr>
              <a:t>Every L2 method has a closed-form map from a corner frequency in Hz to its penalty weight</a:t>
            </a:r>
          </a:p>
        </p:txBody>
      </p:sp>
      <p:graphicFrame>
        <p:nvGraphicFramePr>
          <p:cNvPr id="5" name="Table 4"/>
          <p:cNvGraphicFramePr>
            <a:graphicFrameLocks noGrp="1"/>
          </p:cNvGraphicFramePr>
          <p:nvPr/>
        </p:nvGraphicFramePr>
        <p:xfrm>
          <a:off x="658368" y="1783080"/>
          <a:ext cx="10881358" cy="2804160"/>
        </p:xfrm>
        <a:graphic>
          <a:graphicData uri="http://schemas.openxmlformats.org/drawingml/2006/table">
            <a:tbl>
              <a:tblPr firstRow="1" bandRow="1">
                <a:tableStyleId>{5C22544A-7EE6-4342-B048-85BDC9FD1C3A}</a:tableStyleId>
              </a:tblPr>
              <a:tblGrid>
                <a:gridCol w="3416240">
                  <a:extLst>
                    <a:ext uri="{9D8B030D-6E8A-4147-A177-3AD203B41FA5}">
                      <a16:colId xmlns:a16="http://schemas.microsoft.com/office/drawing/2014/main" val="20000"/>
                    </a:ext>
                  </a:extLst>
                </a:gridCol>
                <a:gridCol w="1391801">
                  <a:extLst>
                    <a:ext uri="{9D8B030D-6E8A-4147-A177-3AD203B41FA5}">
                      <a16:colId xmlns:a16="http://schemas.microsoft.com/office/drawing/2014/main" val="20001"/>
                    </a:ext>
                  </a:extLst>
                </a:gridCol>
                <a:gridCol w="2910131">
                  <a:extLst>
                    <a:ext uri="{9D8B030D-6E8A-4147-A177-3AD203B41FA5}">
                      <a16:colId xmlns:a16="http://schemas.microsoft.com/office/drawing/2014/main" val="20002"/>
                    </a:ext>
                  </a:extLst>
                </a:gridCol>
                <a:gridCol w="3163186">
                  <a:extLst>
                    <a:ext uri="{9D8B030D-6E8A-4147-A177-3AD203B41FA5}">
                      <a16:colId xmlns:a16="http://schemas.microsoft.com/office/drawing/2014/main" val="20003"/>
                    </a:ext>
                  </a:extLst>
                </a:gridCol>
              </a:tblGrid>
              <a:tr h="384048">
                <a:tc>
                  <a:txBody>
                    <a:bodyPr/>
                    <a:lstStyle/>
                    <a:p>
                      <a:r>
                        <a:rPr sz="1300" b="1" i="0">
                          <a:solidFill>
                            <a:srgbClr val="FFFFFF"/>
                          </a:solidFill>
                          <a:latin typeface="Helvetica Neue"/>
                        </a:rPr>
                        <a:t>Method</a:t>
                      </a:r>
                    </a:p>
                  </a:txBody>
                  <a:tcPr>
                    <a:solidFill>
                      <a:srgbClr val="2F6F9F"/>
                    </a:solidFill>
                  </a:tcPr>
                </a:tc>
                <a:tc>
                  <a:txBody>
                    <a:bodyPr/>
                    <a:lstStyle/>
                    <a:p>
                      <a:r>
                        <a:rPr sz="1300" b="1" i="0">
                          <a:solidFill>
                            <a:srgbClr val="FFFFFF"/>
                          </a:solidFill>
                          <a:latin typeface="Helvetica Neue"/>
                        </a:rPr>
                        <a:t>Parameter</a:t>
                      </a:r>
                    </a:p>
                  </a:txBody>
                  <a:tcPr>
                    <a:solidFill>
                      <a:srgbClr val="2F6F9F"/>
                    </a:solidFill>
                  </a:tcPr>
                </a:tc>
                <a:tc>
                  <a:txBody>
                    <a:bodyPr/>
                    <a:lstStyle/>
                    <a:p>
                      <a:r>
                        <a:rPr sz="1300" b="1" i="0">
                          <a:solidFill>
                            <a:srgbClr val="FFFFFF"/>
                          </a:solidFill>
                          <a:latin typeface="Helvetica Neue"/>
                        </a:rPr>
                        <a:t>Rule</a:t>
                      </a:r>
                    </a:p>
                  </a:txBody>
                  <a:tcPr>
                    <a:solidFill>
                      <a:srgbClr val="2F6F9F"/>
                    </a:solidFill>
                  </a:tcPr>
                </a:tc>
                <a:tc>
                  <a:txBody>
                    <a:bodyPr/>
                    <a:lstStyle/>
                    <a:p>
                      <a:r>
                        <a:rPr sz="1300" b="1" i="0">
                          <a:solidFill>
                            <a:srgbClr val="FFFFFF"/>
                          </a:solidFill>
                          <a:latin typeface="Helvetica Neue"/>
                        </a:rPr>
                        <a:t>Set it from</a:t>
                      </a:r>
                    </a:p>
                  </a:txBody>
                  <a:tcPr>
                    <a:solidFill>
                      <a:srgbClr val="2F6F9F"/>
                    </a:solidFill>
                  </a:tcPr>
                </a:tc>
                <a:extLst>
                  <a:ext uri="{0D108BD9-81ED-4DB2-BD59-A6C34878D82A}">
                    <a16:rowId xmlns:a16="http://schemas.microsoft.com/office/drawing/2014/main" val="10000"/>
                  </a:ext>
                </a:extLst>
              </a:tr>
              <a:tr h="384048">
                <a:tc>
                  <a:txBody>
                    <a:bodyPr/>
                    <a:lstStyle/>
                    <a:p>
                      <a:r>
                        <a:rPr sz="1400" b="1" i="0">
                          <a:solidFill>
                            <a:srgbClr val="1A1A1A"/>
                          </a:solidFill>
                          <a:latin typeface="Helvetica Neue"/>
                        </a:rPr>
                        <a:t>Whittaker–Henderson (order p)</a:t>
                      </a:r>
                    </a:p>
                  </a:txBody>
                  <a:tcPr marT="36576" marB="36576">
                    <a:solidFill>
                      <a:srgbClr val="FFFFFF"/>
                    </a:solidFill>
                  </a:tcPr>
                </a:tc>
                <a:tc>
                  <a:txBody>
                    <a:bodyPr/>
                    <a:lstStyle/>
                    <a:p>
                      <a:r>
                        <a:rPr sz="1400" b="0" i="0">
                          <a:solidFill>
                            <a:srgbClr val="1A1A1A"/>
                          </a:solidFill>
                          <a:latin typeface="Helvetica Neue"/>
                        </a:rPr>
                        <a:t>λ</a:t>
                      </a:r>
                    </a:p>
                  </a:txBody>
                  <a:tcPr marT="36576" marB="36576">
                    <a:solidFill>
                      <a:srgbClr val="FFFFFF"/>
                    </a:solidFill>
                  </a:tcPr>
                </a:tc>
                <a:tc>
                  <a:txBody>
                    <a:bodyPr/>
                    <a:lstStyle/>
                    <a:p>
                      <a:r>
                        <a:rPr sz="1400" b="0" i="0">
                          <a:solidFill>
                            <a:srgbClr val="1A1A1A"/>
                          </a:solidFill>
                          <a:latin typeface="Helvetica Neue"/>
                        </a:rPr>
                        <a:t>λ = (2π fᶜ)⁻²ᵖ</a:t>
                      </a:r>
                    </a:p>
                  </a:txBody>
                  <a:tcPr marT="36576" marB="36576">
                    <a:solidFill>
                      <a:srgbClr val="FFFFFF"/>
                    </a:solidFill>
                  </a:tcPr>
                </a:tc>
                <a:tc>
                  <a:txBody>
                    <a:bodyPr/>
                    <a:lstStyle/>
                    <a:p>
                      <a:r>
                        <a:rPr sz="1400" b="0" i="0">
                          <a:solidFill>
                            <a:srgbClr val="1A1A1A"/>
                          </a:solidFill>
                          <a:latin typeface="Helvetica Neue"/>
                        </a:rPr>
                        <a:t>Highest mode you care about</a:t>
                      </a:r>
                    </a:p>
                  </a:txBody>
                  <a:tcPr marT="36576" marB="36576">
                    <a:solidFill>
                      <a:srgbClr val="FFFFFF"/>
                    </a:solidFill>
                  </a:tcPr>
                </a:tc>
                <a:extLst>
                  <a:ext uri="{0D108BD9-81ED-4DB2-BD59-A6C34878D82A}">
                    <a16:rowId xmlns:a16="http://schemas.microsoft.com/office/drawing/2014/main" val="10001"/>
                  </a:ext>
                </a:extLst>
              </a:tr>
              <a:tr h="384048">
                <a:tc>
                  <a:txBody>
                    <a:bodyPr/>
                    <a:lstStyle/>
                    <a:p>
                      <a:r>
                        <a:rPr sz="1400" b="1" i="0">
                          <a:solidFill>
                            <a:srgbClr val="1A1A1A"/>
                          </a:solidFill>
                          <a:latin typeface="Helvetica Neue"/>
                        </a:rPr>
                        <a:t>Tikhonov integration (order n)</a:t>
                      </a:r>
                    </a:p>
                  </a:txBody>
                  <a:tcPr marT="36576" marB="36576">
                    <a:solidFill>
                      <a:srgbClr val="F4F6F8"/>
                    </a:solidFill>
                  </a:tcPr>
                </a:tc>
                <a:tc>
                  <a:txBody>
                    <a:bodyPr/>
                    <a:lstStyle/>
                    <a:p>
                      <a:r>
                        <a:rPr sz="1400" b="0" i="0">
                          <a:solidFill>
                            <a:srgbClr val="1A1A1A"/>
                          </a:solidFill>
                          <a:latin typeface="Helvetica Neue"/>
                        </a:rPr>
                        <a:t>λ</a:t>
                      </a:r>
                    </a:p>
                  </a:txBody>
                  <a:tcPr marT="36576" marB="36576">
                    <a:solidFill>
                      <a:srgbClr val="F4F6F8"/>
                    </a:solidFill>
                  </a:tcPr>
                </a:tc>
                <a:tc>
                  <a:txBody>
                    <a:bodyPr/>
                    <a:lstStyle/>
                    <a:p>
                      <a:r>
                        <a:rPr sz="1400" b="0" i="0">
                          <a:solidFill>
                            <a:srgbClr val="1A1A1A"/>
                          </a:solidFill>
                          <a:latin typeface="Helvetica Neue"/>
                        </a:rPr>
                        <a:t>λ = (2π fᶜ)²ⁿ</a:t>
                      </a:r>
                    </a:p>
                  </a:txBody>
                  <a:tcPr marT="36576" marB="36576">
                    <a:solidFill>
                      <a:srgbClr val="F4F6F8"/>
                    </a:solidFill>
                  </a:tcPr>
                </a:tc>
                <a:tc>
                  <a:txBody>
                    <a:bodyPr/>
                    <a:lstStyle/>
                    <a:p>
                      <a:r>
                        <a:rPr sz="1400" b="0" i="0">
                          <a:solidFill>
                            <a:srgbClr val="1A1A1A"/>
                          </a:solidFill>
                          <a:latin typeface="Helvetica Neue"/>
                        </a:rPr>
                        <a:t>Lowest frequency you trust</a:t>
                      </a:r>
                    </a:p>
                  </a:txBody>
                  <a:tcPr marT="36576" marB="36576">
                    <a:solidFill>
                      <a:srgbClr val="F4F6F8"/>
                    </a:solidFill>
                  </a:tcPr>
                </a:tc>
                <a:extLst>
                  <a:ext uri="{0D108BD9-81ED-4DB2-BD59-A6C34878D82A}">
                    <a16:rowId xmlns:a16="http://schemas.microsoft.com/office/drawing/2014/main" val="10002"/>
                  </a:ext>
                </a:extLst>
              </a:tr>
              <a:tr h="384048">
                <a:tc>
                  <a:txBody>
                    <a:bodyPr/>
                    <a:lstStyle/>
                    <a:p>
                      <a:r>
                        <a:rPr sz="1400" b="1" i="0">
                          <a:solidFill>
                            <a:srgbClr val="1A1A1A"/>
                          </a:solidFill>
                          <a:latin typeface="Helvetica Neue"/>
                        </a:rPr>
                        <a:t>Savitzky–Golay</a:t>
                      </a:r>
                    </a:p>
                  </a:txBody>
                  <a:tcPr marT="36576" marB="36576">
                    <a:solidFill>
                      <a:srgbClr val="FFFFFF"/>
                    </a:solidFill>
                  </a:tcPr>
                </a:tc>
                <a:tc>
                  <a:txBody>
                    <a:bodyPr/>
                    <a:lstStyle/>
                    <a:p>
                      <a:r>
                        <a:rPr sz="1400" b="0" i="0">
                          <a:solidFill>
                            <a:srgbClr val="1A1A1A"/>
                          </a:solidFill>
                          <a:latin typeface="Helvetica Neue"/>
                        </a:rPr>
                        <a:t>window 2M+1</a:t>
                      </a:r>
                    </a:p>
                  </a:txBody>
                  <a:tcPr marT="36576" marB="36576">
                    <a:solidFill>
                      <a:srgbClr val="FFFFFF"/>
                    </a:solidFill>
                  </a:tcPr>
                </a:tc>
                <a:tc>
                  <a:txBody>
                    <a:bodyPr/>
                    <a:lstStyle/>
                    <a:p>
                      <a:r>
                        <a:rPr sz="1400" b="0" i="0">
                          <a:solidFill>
                            <a:srgbClr val="1A1A1A"/>
                          </a:solidFill>
                          <a:latin typeface="Helvetica Neue"/>
                        </a:rPr>
                        <a:t>fᶜΔt ≈ (k+1)/(3.2M − 4.6)</a:t>
                      </a:r>
                    </a:p>
                  </a:txBody>
                  <a:tcPr marT="36576" marB="36576">
                    <a:solidFill>
                      <a:srgbClr val="FFFFFF"/>
                    </a:solidFill>
                  </a:tcPr>
                </a:tc>
                <a:tc>
                  <a:txBody>
                    <a:bodyPr/>
                    <a:lstStyle/>
                    <a:p>
                      <a:r>
                        <a:rPr sz="1400" b="0" i="0">
                          <a:solidFill>
                            <a:srgbClr val="1A1A1A"/>
                          </a:solidFill>
                          <a:latin typeface="Helvetica Neue"/>
                        </a:rPr>
                        <a:t>Schafer's −3 dB rule</a:t>
                      </a:r>
                    </a:p>
                  </a:txBody>
                  <a:tcPr marT="36576" marB="36576">
                    <a:solidFill>
                      <a:srgbClr val="FFFFFF"/>
                    </a:solidFill>
                  </a:tcPr>
                </a:tc>
                <a:extLst>
                  <a:ext uri="{0D108BD9-81ED-4DB2-BD59-A6C34878D82A}">
                    <a16:rowId xmlns:a16="http://schemas.microsoft.com/office/drawing/2014/main" val="10003"/>
                  </a:ext>
                </a:extLst>
              </a:tr>
              <a:tr h="384048">
                <a:tc>
                  <a:txBody>
                    <a:bodyPr/>
                    <a:lstStyle/>
                    <a:p>
                      <a:r>
                        <a:rPr sz="1400" b="1" i="0">
                          <a:solidFill>
                            <a:srgbClr val="1A1A1A"/>
                          </a:solidFill>
                          <a:latin typeface="Helvetica Neue"/>
                        </a:rPr>
                        <a:t>Spectral</a:t>
                      </a:r>
                    </a:p>
                  </a:txBody>
                  <a:tcPr marT="36576" marB="36576">
                    <a:solidFill>
                      <a:srgbClr val="F4F6F8"/>
                    </a:solidFill>
                  </a:tcPr>
                </a:tc>
                <a:tc>
                  <a:txBody>
                    <a:bodyPr/>
                    <a:lstStyle/>
                    <a:p>
                      <a:r>
                        <a:rPr sz="1400" b="0" i="0">
                          <a:solidFill>
                            <a:srgbClr val="1A1A1A"/>
                          </a:solidFill>
                          <a:latin typeface="Helvetica Neue"/>
                        </a:rPr>
                        <a:t>cutoff</a:t>
                      </a:r>
                    </a:p>
                  </a:txBody>
                  <a:tcPr marT="36576" marB="36576">
                    <a:solidFill>
                      <a:srgbClr val="F4F6F8"/>
                    </a:solidFill>
                  </a:tcPr>
                </a:tc>
                <a:tc>
                  <a:txBody>
                    <a:bodyPr/>
                    <a:lstStyle/>
                    <a:p>
                      <a:r>
                        <a:rPr sz="1400" b="0" i="0">
                          <a:solidFill>
                            <a:srgbClr val="1A1A1A"/>
                          </a:solidFill>
                          <a:latin typeface="Helvetica Neue"/>
                        </a:rPr>
                        <a:t>direct</a:t>
                      </a:r>
                    </a:p>
                  </a:txBody>
                  <a:tcPr marT="36576" marB="36576">
                    <a:solidFill>
                      <a:srgbClr val="F4F6F8"/>
                    </a:solidFill>
                  </a:tcPr>
                </a:tc>
                <a:tc>
                  <a:txBody>
                    <a:bodyPr/>
                    <a:lstStyle/>
                    <a:p>
                      <a:r>
                        <a:rPr sz="1400" b="0" i="0">
                          <a:solidFill>
                            <a:srgbClr val="1A1A1A"/>
                          </a:solidFill>
                          <a:latin typeface="Helvetica Neue"/>
                        </a:rPr>
                        <a:t>Where the PSD meets the noise floor</a:t>
                      </a:r>
                    </a:p>
                  </a:txBody>
                  <a:tcPr marT="36576" marB="36576">
                    <a:solidFill>
                      <a:srgbClr val="F4F6F8"/>
                    </a:solidFill>
                  </a:tcPr>
                </a:tc>
                <a:extLst>
                  <a:ext uri="{0D108BD9-81ED-4DB2-BD59-A6C34878D82A}">
                    <a16:rowId xmlns:a16="http://schemas.microsoft.com/office/drawing/2014/main" val="10004"/>
                  </a:ext>
                </a:extLst>
              </a:tr>
              <a:tr h="384048">
                <a:tc>
                  <a:txBody>
                    <a:bodyPr/>
                    <a:lstStyle/>
                    <a:p>
                      <a:r>
                        <a:rPr sz="1400" b="1" i="0">
                          <a:solidFill>
                            <a:srgbClr val="1A1A1A"/>
                          </a:solidFill>
                          <a:latin typeface="Helvetica Neue"/>
                        </a:rPr>
                        <a:t>Total variation</a:t>
                      </a:r>
                    </a:p>
                  </a:txBody>
                  <a:tcPr marT="36576" marB="36576">
                    <a:solidFill>
                      <a:srgbClr val="FFFFFF"/>
                    </a:solidFill>
                  </a:tcPr>
                </a:tc>
                <a:tc>
                  <a:txBody>
                    <a:bodyPr/>
                    <a:lstStyle/>
                    <a:p>
                      <a:r>
                        <a:rPr sz="1400" b="0" i="0">
                          <a:solidFill>
                            <a:srgbClr val="1A1A1A"/>
                          </a:solidFill>
                          <a:latin typeface="Helvetica Neue"/>
                        </a:rPr>
                        <a:t>α</a:t>
                      </a:r>
                    </a:p>
                  </a:txBody>
                  <a:tcPr marT="36576" marB="36576">
                    <a:solidFill>
                      <a:srgbClr val="FFFFFF"/>
                    </a:solidFill>
                  </a:tcPr>
                </a:tc>
                <a:tc>
                  <a:txBody>
                    <a:bodyPr/>
                    <a:lstStyle/>
                    <a:p>
                      <a:r>
                        <a:rPr sz="1400" b="0" i="0">
                          <a:solidFill>
                            <a:srgbClr val="1A1A1A"/>
                          </a:solidFill>
                          <a:latin typeface="Helvetica Neue"/>
                        </a:rPr>
                        <a:t>no closed form</a:t>
                      </a:r>
                    </a:p>
                  </a:txBody>
                  <a:tcPr marT="36576" marB="36576">
                    <a:solidFill>
                      <a:srgbClr val="FFFFFF"/>
                    </a:solidFill>
                  </a:tcPr>
                </a:tc>
                <a:tc>
                  <a:txBody>
                    <a:bodyPr/>
                    <a:lstStyle/>
                    <a:p>
                      <a:r>
                        <a:rPr sz="1400" b="0" i="0">
                          <a:solidFill>
                            <a:srgbClr val="1A1A1A"/>
                          </a:solidFill>
                          <a:latin typeface="Helvetica Neue"/>
                        </a:rPr>
                        <a:t>Sweep; scale-sensitive, normalise first</a:t>
                      </a:r>
                    </a:p>
                  </a:txBody>
                  <a:tcPr marT="36576" marB="36576">
                    <a:solidFill>
                      <a:srgbClr val="FFFFFF"/>
                    </a:solidFill>
                  </a:tcPr>
                </a:tc>
                <a:extLst>
                  <a:ext uri="{0D108BD9-81ED-4DB2-BD59-A6C34878D82A}">
                    <a16:rowId xmlns:a16="http://schemas.microsoft.com/office/drawing/2014/main" val="10005"/>
                  </a:ext>
                </a:extLst>
              </a:tr>
              <a:tr h="384048">
                <a:tc>
                  <a:txBody>
                    <a:bodyPr/>
                    <a:lstStyle/>
                    <a:p>
                      <a:r>
                        <a:rPr sz="1400" b="1" i="0">
                          <a:solidFill>
                            <a:srgbClr val="1A1A1A"/>
                          </a:solidFill>
                          <a:latin typeface="Helvetica Neue"/>
                        </a:rPr>
                        <a:t>State-space smoother</a:t>
                      </a:r>
                    </a:p>
                  </a:txBody>
                  <a:tcPr marT="36576" marB="36576">
                    <a:solidFill>
                      <a:srgbClr val="F4F6F8"/>
                    </a:solidFill>
                  </a:tcPr>
                </a:tc>
                <a:tc>
                  <a:txBody>
                    <a:bodyPr/>
                    <a:lstStyle/>
                    <a:p>
                      <a:r>
                        <a:rPr sz="1400" b="0" i="0">
                          <a:solidFill>
                            <a:srgbClr val="1A1A1A"/>
                          </a:solidFill>
                          <a:latin typeface="Helvetica Neue"/>
                        </a:rPr>
                        <a:t>q</a:t>
                      </a:r>
                    </a:p>
                  </a:txBody>
                  <a:tcPr marT="36576" marB="36576">
                    <a:solidFill>
                      <a:srgbClr val="F4F6F8"/>
                    </a:solidFill>
                  </a:tcPr>
                </a:tc>
                <a:tc>
                  <a:txBody>
                    <a:bodyPr/>
                    <a:lstStyle/>
                    <a:p>
                      <a:r>
                        <a:rPr sz="1400" b="0" i="0">
                          <a:solidFill>
                            <a:srgbClr val="1A1A1A"/>
                          </a:solidFill>
                          <a:latin typeface="Helvetica Neue"/>
                        </a:rPr>
                        <a:t>fitted automatically</a:t>
                      </a:r>
                    </a:p>
                  </a:txBody>
                  <a:tcPr marT="36576" marB="36576">
                    <a:solidFill>
                      <a:srgbClr val="F4F6F8"/>
                    </a:solidFill>
                  </a:tcPr>
                </a:tc>
                <a:tc>
                  <a:txBody>
                    <a:bodyPr/>
                    <a:lstStyle/>
                    <a:p>
                      <a:r>
                        <a:rPr sz="1400" b="0" i="0">
                          <a:solidFill>
                            <a:srgbClr val="1A1A1A"/>
                          </a:solidFill>
                          <a:latin typeface="Helvetica Neue"/>
                        </a:rPr>
                        <a:t>Marginal likelihood — nothing to set</a:t>
                      </a:r>
                    </a:p>
                  </a:txBody>
                  <a:tcPr marT="36576" marB="36576">
                    <a:solidFill>
                      <a:srgbClr val="F4F6F8"/>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Total variation (L1)</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81328"/>
            <a:ext cx="10881360" cy="731520"/>
          </a:xfrm>
          <a:prstGeom prst="rect">
            <a:avLst/>
          </a:prstGeom>
          <a:noFill/>
        </p:spPr>
        <p:txBody>
          <a:bodyPr wrap="square" lIns="0" tIns="0" rIns="0" bIns="0">
            <a:spAutoFit/>
          </a:bodyPr>
          <a:lstStyle/>
          <a:p>
            <a:r>
              <a:rPr sz="1800" b="0" i="1">
                <a:solidFill>
                  <a:srgbClr val="1A1A1A"/>
                </a:solidFill>
                <a:latin typeface="Helvetica Neue"/>
              </a:rPr>
              <a:t>Penalise ‖Du‖₁ instead of ‖Du‖₂. The L1 norm does not punish a single large jump.</a:t>
            </a:r>
          </a:p>
        </p:txBody>
      </p:sp>
      <p:sp>
        <p:nvSpPr>
          <p:cNvPr id="5" name="TextBox 4"/>
          <p:cNvSpPr txBox="1"/>
          <p:nvPr/>
        </p:nvSpPr>
        <p:spPr>
          <a:xfrm>
            <a:off x="658368" y="2395728"/>
            <a:ext cx="5257800" cy="365760"/>
          </a:xfrm>
          <a:prstGeom prst="rect">
            <a:avLst/>
          </a:prstGeom>
          <a:noFill/>
        </p:spPr>
        <p:txBody>
          <a:bodyPr wrap="square" lIns="0" tIns="0" rIns="0" bIns="0">
            <a:spAutoFit/>
          </a:bodyPr>
          <a:lstStyle/>
          <a:p>
            <a:r>
              <a:rPr sz="1400" b="1" i="0">
                <a:solidFill>
                  <a:srgbClr val="1B7F5C"/>
                </a:solidFill>
                <a:latin typeface="Helvetica Neue"/>
              </a:rPr>
              <a:t>STRENGTHS</a:t>
            </a:r>
          </a:p>
        </p:txBody>
      </p:sp>
      <p:sp>
        <p:nvSpPr>
          <p:cNvPr id="6" name="TextBox 5"/>
          <p:cNvSpPr txBox="1"/>
          <p:nvPr/>
        </p:nvSpPr>
        <p:spPr>
          <a:xfrm>
            <a:off x="658368" y="2816352"/>
            <a:ext cx="5257800" cy="2743200"/>
          </a:xfrm>
          <a:prstGeom prst="rect">
            <a:avLst/>
          </a:prstGeom>
          <a:noFill/>
        </p:spPr>
        <p:txBody>
          <a:bodyPr wrap="square" lIns="0" tIns="0" rIns="0" bIns="0">
            <a:spAutoFit/>
          </a:bodyPr>
          <a:lstStyle/>
          <a:p>
            <a:pPr>
              <a:spcAft>
                <a:spcPts val="900"/>
              </a:spcAft>
            </a:pPr>
            <a:r>
              <a:rPr sz="1700" b="1" i="0">
                <a:solidFill>
                  <a:srgbClr val="1B7F5C"/>
                </a:solidFill>
                <a:latin typeface="Helvetica Neue"/>
              </a:rPr>
              <a:t>•  </a:t>
            </a:r>
            <a:r>
              <a:rPr sz="1700" b="0" i="0">
                <a:solidFill>
                  <a:srgbClr val="1A1A1A"/>
                </a:solidFill>
                <a:latin typeface="Helvetica Neue"/>
              </a:rPr>
              <a:t>The only family that preserves a genuine discontinuity in the derivative</a:t>
            </a:r>
          </a:p>
          <a:p>
            <a:pPr>
              <a:spcAft>
                <a:spcPts val="900"/>
              </a:spcAft>
            </a:pPr>
            <a:r>
              <a:rPr sz="1700" b="1" i="0">
                <a:solidFill>
                  <a:srgbClr val="1B7F5C"/>
                </a:solidFill>
                <a:latin typeface="Helvetica Neue"/>
              </a:rPr>
              <a:t>•  </a:t>
            </a:r>
            <a:r>
              <a:rPr sz="1700" b="0" i="0">
                <a:solidFill>
                  <a:srgbClr val="1A1A1A"/>
                </a:solidFill>
                <a:latin typeface="Helvetica Neue"/>
              </a:rPr>
              <a:t>Best method tested at an impact: 19.2% vs 22–27% for every quadratic penalty</a:t>
            </a:r>
          </a:p>
          <a:p>
            <a:pPr>
              <a:spcAft>
                <a:spcPts val="900"/>
              </a:spcAft>
            </a:pPr>
            <a:r>
              <a:rPr sz="1700" b="1" i="0">
                <a:solidFill>
                  <a:srgbClr val="1B7F5C"/>
                </a:solidFill>
                <a:latin typeface="Helvetica Neue"/>
              </a:rPr>
              <a:t>•  </a:t>
            </a:r>
            <a:r>
              <a:rPr sz="1700" b="0" i="0">
                <a:solidFill>
                  <a:srgbClr val="1A1A1A"/>
                </a:solidFill>
                <a:latin typeface="Helvetica Neue"/>
              </a:rPr>
              <a:t>Physically the right prior for impacts, stick–slip, backlash, dry friction reversal</a:t>
            </a:r>
          </a:p>
          <a:p>
            <a:pPr>
              <a:spcAft>
                <a:spcPts val="900"/>
              </a:spcAft>
            </a:pPr>
            <a:r>
              <a:rPr sz="1700" b="1" i="0">
                <a:solidFill>
                  <a:srgbClr val="1B7F5C"/>
                </a:solidFill>
                <a:latin typeface="Helvetica Neue"/>
              </a:rPr>
              <a:t>•  </a:t>
            </a:r>
            <a:r>
              <a:rPr sz="1700" b="0" i="0">
                <a:solidFill>
                  <a:srgbClr val="1A1A1A"/>
                </a:solidFill>
                <a:latin typeface="Helvetica Neue"/>
              </a:rPr>
              <a:t>Recovers a piecewise-constant derivative exactly in the noise-free limit</a:t>
            </a:r>
          </a:p>
        </p:txBody>
      </p:sp>
      <p:sp>
        <p:nvSpPr>
          <p:cNvPr id="7" name="TextBox 6"/>
          <p:cNvSpPr txBox="1"/>
          <p:nvPr/>
        </p:nvSpPr>
        <p:spPr>
          <a:xfrm>
            <a:off x="6281928" y="2395728"/>
            <a:ext cx="5257800" cy="365760"/>
          </a:xfrm>
          <a:prstGeom prst="rect">
            <a:avLst/>
          </a:prstGeom>
          <a:noFill/>
        </p:spPr>
        <p:txBody>
          <a:bodyPr wrap="square" lIns="0" tIns="0" rIns="0" bIns="0">
            <a:spAutoFit/>
          </a:bodyPr>
          <a:lstStyle/>
          <a:p>
            <a:r>
              <a:rPr sz="1400" b="1" i="0">
                <a:solidFill>
                  <a:srgbClr val="C2453C"/>
                </a:solidFill>
                <a:latin typeface="Helvetica Neue"/>
              </a:rPr>
              <a:t>LIMITATIONS</a:t>
            </a:r>
          </a:p>
        </p:txBody>
      </p:sp>
      <p:sp>
        <p:nvSpPr>
          <p:cNvPr id="8" name="TextBox 7"/>
          <p:cNvSpPr txBox="1"/>
          <p:nvPr/>
        </p:nvSpPr>
        <p:spPr>
          <a:xfrm>
            <a:off x="6281928" y="2816352"/>
            <a:ext cx="5257800" cy="2743200"/>
          </a:xfrm>
          <a:prstGeom prst="rect">
            <a:avLst/>
          </a:prstGeom>
          <a:noFill/>
        </p:spPr>
        <p:txBody>
          <a:bodyPr wrap="square" lIns="0" tIns="0" rIns="0" bIns="0">
            <a:spAutoFit/>
          </a:bodyPr>
          <a:lstStyle/>
          <a:p>
            <a:pPr>
              <a:spcAft>
                <a:spcPts val="900"/>
              </a:spcAft>
            </a:pPr>
            <a:r>
              <a:rPr sz="1700" b="1" i="0">
                <a:solidFill>
                  <a:srgbClr val="C2453C"/>
                </a:solidFill>
                <a:latin typeface="Helvetica Neue"/>
              </a:rPr>
              <a:t>•  </a:t>
            </a:r>
            <a:r>
              <a:rPr sz="1700" b="0" i="0">
                <a:solidFill>
                  <a:srgbClr val="1A1A1A"/>
                </a:solidFill>
                <a:latin typeface="Helvetica Neue"/>
              </a:rPr>
              <a:t>Several times worse than an L2 penalty on smooth signals — 5.1% vs 0.5% here</a:t>
            </a:r>
          </a:p>
          <a:p>
            <a:pPr>
              <a:spcAft>
                <a:spcPts val="900"/>
              </a:spcAft>
            </a:pPr>
            <a:r>
              <a:rPr sz="1700" b="1" i="0">
                <a:solidFill>
                  <a:srgbClr val="C2453C"/>
                </a:solidFill>
                <a:latin typeface="Helvetica Neue"/>
              </a:rPr>
              <a:t>•  </a:t>
            </a:r>
            <a:r>
              <a:rPr sz="1700" b="0" i="0">
                <a:solidFill>
                  <a:srgbClr val="1A1A1A"/>
                </a:solidFill>
                <a:latin typeface="Helvetica Neue"/>
              </a:rPr>
              <a:t>Iterative, no closed form, and the objective is non-smooth</a:t>
            </a:r>
          </a:p>
          <a:p>
            <a:pPr>
              <a:spcAft>
                <a:spcPts val="900"/>
              </a:spcAft>
            </a:pPr>
            <a:r>
              <a:rPr sz="1700" b="1" i="0">
                <a:solidFill>
                  <a:srgbClr val="C2453C"/>
                </a:solidFill>
                <a:latin typeface="Helvetica Neue"/>
              </a:rPr>
              <a:t>•  </a:t>
            </a:r>
            <a:r>
              <a:rPr sz="1700" b="0" i="0">
                <a:solidFill>
                  <a:srgbClr val="1A1A1A"/>
                </a:solidFill>
                <a:latin typeface="Helvetica Neue"/>
              </a:rPr>
              <a:t>α is tied to absolute signal scale — normalise before, rescale after</a:t>
            </a:r>
          </a:p>
          <a:p>
            <a:pPr>
              <a:spcAft>
                <a:spcPts val="900"/>
              </a:spcAft>
            </a:pPr>
            <a:r>
              <a:rPr sz="1700" b="1" i="0">
                <a:solidFill>
                  <a:srgbClr val="C2453C"/>
                </a:solidFill>
                <a:latin typeface="Helvetica Neue"/>
              </a:rPr>
              <a:t>•  </a:t>
            </a:r>
            <a:r>
              <a:rPr sz="1700" b="0" i="0">
                <a:solidFill>
                  <a:srgbClr val="1A1A1A"/>
                </a:solidFill>
                <a:latin typeface="Helvetica Neue"/>
              </a:rPr>
              <a:t>The naive solver silently fails to converge (next slide)</a:t>
            </a:r>
          </a:p>
        </p:txBody>
      </p:sp>
      <p:sp>
        <p:nvSpPr>
          <p:cNvPr id="9" name="Rounded Rectangle 8"/>
          <p:cNvSpPr/>
          <p:nvPr/>
        </p:nvSpPr>
        <p:spPr>
          <a:xfrm>
            <a:off x="658368" y="5742432"/>
            <a:ext cx="10881360" cy="749808"/>
          </a:xfrm>
          <a:prstGeom prst="round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wrap="square" lIns="219456" tIns="91440" rtlCol="0" anchor="ctr"/>
          <a:lstStyle/>
          <a:p>
            <a:pPr algn="ctr"/>
            <a:r>
              <a:rPr sz="1300" b="1" i="0">
                <a:solidFill>
                  <a:srgbClr val="C2453C"/>
                </a:solidFill>
                <a:latin typeface="Helvetica Neue"/>
              </a:rPr>
              <a:t>USE IT WHEN   </a:t>
            </a:r>
            <a:r>
              <a:rPr sz="1600" b="0" i="0">
                <a:solidFill>
                  <a:srgbClr val="1A1A1A"/>
                </a:solidFill>
                <a:latin typeface="Helvetica Neue"/>
              </a:rPr>
              <a:t>Your derivative genuinely jumps. Otherwise do not — it is the wrong prior for smooth data.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Where the L1 penalty earns its place</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_impact.png"/>
          <p:cNvPicPr>
            <a:picLocks noChangeAspect="1"/>
          </p:cNvPicPr>
          <p:nvPr/>
        </p:nvPicPr>
        <p:blipFill>
          <a:blip r:embed="rId3"/>
          <a:stretch>
            <a:fillRect/>
          </a:stretch>
        </p:blipFill>
        <p:spPr>
          <a:xfrm>
            <a:off x="763651" y="1371600"/>
            <a:ext cx="10664393" cy="4590288"/>
          </a:xfrm>
          <a:prstGeom prst="rect">
            <a:avLst/>
          </a:prstGeom>
        </p:spPr>
      </p:pic>
      <p:sp>
        <p:nvSpPr>
          <p:cNvPr id="5" name="TextBox 4"/>
          <p:cNvSpPr txBox="1"/>
          <p:nvPr/>
        </p:nvSpPr>
        <p:spPr>
          <a:xfrm>
            <a:off x="786384" y="6089904"/>
            <a:ext cx="10607040" cy="548640"/>
          </a:xfrm>
          <a:prstGeom prst="rect">
            <a:avLst/>
          </a:prstGeom>
          <a:noFill/>
        </p:spPr>
        <p:txBody>
          <a:bodyPr wrap="square" lIns="0" tIns="0" rIns="0" bIns="0">
            <a:spAutoFit/>
          </a:bodyPr>
          <a:lstStyle/>
          <a:p>
            <a:pPr algn="ctr"/>
            <a:r>
              <a:rPr sz="1300" b="0" i="1">
                <a:solidFill>
                  <a:srgbClr val="6B7280"/>
                </a:solidFill>
                <a:latin typeface="Helvetica Neue"/>
              </a:rPr>
              <a:t>Vibro-impact oscillator, restitution 0.85. Left: one impact, velocity jumps. Right: velocity error within ±4 ms of contact, best setting per method.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A cautionary tale: the solver was the result</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0"/>
            <a:ext cx="11064240" cy="411480"/>
          </a:xfrm>
          <a:prstGeom prst="rect">
            <a:avLst/>
          </a:prstGeom>
          <a:noFill/>
        </p:spPr>
        <p:txBody>
          <a:bodyPr wrap="square" lIns="0" tIns="0" rIns="0" bIns="0">
            <a:spAutoFit/>
          </a:bodyPr>
          <a:lstStyle/>
          <a:p>
            <a:r>
              <a:rPr sz="1600" b="0" i="1">
                <a:solidFill>
                  <a:srgbClr val="6B7280"/>
                </a:solidFill>
                <a:latin typeface="Helvetica Neue"/>
              </a:rPr>
              <a:t>Reported numbers for an iterative method are claims about the solver as much as the estimator</a:t>
            </a:r>
          </a:p>
        </p:txBody>
      </p:sp>
      <p:sp>
        <p:nvSpPr>
          <p:cNvPr id="5" name="TextBox 4"/>
          <p:cNvSpPr txBox="1"/>
          <p:nvPr/>
        </p:nvSpPr>
        <p:spPr>
          <a:xfrm>
            <a:off x="658368" y="1691640"/>
            <a:ext cx="10881360" cy="4709160"/>
          </a:xfrm>
          <a:prstGeom prst="rect">
            <a:avLst/>
          </a:prstGeom>
          <a:noFill/>
        </p:spPr>
        <p:txBody>
          <a:bodyPr wrap="square" lIns="0" tIns="0" rIns="0" bIns="0">
            <a:spAutoFit/>
          </a:bodyPr>
          <a:lstStyle/>
          <a:p>
            <a:pPr>
              <a:spcAft>
                <a:spcPts val="1100"/>
              </a:spcAft>
            </a:pPr>
            <a:r>
              <a:rPr sz="1700" b="1" i="0">
                <a:solidFill>
                  <a:srgbClr val="2F6F9F"/>
                </a:solidFill>
                <a:latin typeface="Helvetica Neue"/>
              </a:rPr>
              <a:t>—  </a:t>
            </a:r>
            <a:r>
              <a:rPr sz="1700" b="0" i="0">
                <a:solidFill>
                  <a:srgbClr val="1A1A1A"/>
                </a:solidFill>
                <a:latin typeface="Helvetica Neue"/>
              </a:rPr>
              <a:t>Chartrand's formulation has a dense, severely ill-conditioned Hessian AᵀA + αL.</a:t>
            </a:r>
          </a:p>
          <a:p>
            <a:pPr>
              <a:spcAft>
                <a:spcPts val="1100"/>
              </a:spcAft>
            </a:pPr>
            <a:r>
              <a:rPr sz="1700" b="1" i="0">
                <a:solidFill>
                  <a:srgbClr val="2F6F9F"/>
                </a:solidFill>
                <a:latin typeface="Helvetica Neue"/>
              </a:rPr>
              <a:t>—  </a:t>
            </a:r>
            <a:r>
              <a:rPr sz="1700" b="0" i="0">
                <a:solidFill>
                  <a:srgbClr val="1A1A1A"/>
                </a:solidFill>
                <a:latin typeface="Helvetica Neue"/>
              </a:rPr>
              <a:t>Conjugate gradients stalls at any iteration cap. IRLS on the smoothed L1 stalls too — measured rate 0.997 per iteration.</a:t>
            </a:r>
          </a:p>
          <a:p>
            <a:pPr>
              <a:spcAft>
                <a:spcPts val="1100"/>
              </a:spcAft>
            </a:pPr>
            <a:r>
              <a:rPr sz="1700" b="1" i="0">
                <a:solidFill>
                  <a:srgbClr val="2F6F9F"/>
                </a:solidFill>
                <a:latin typeface="Helvetica Neue"/>
              </a:rPr>
              <a:t>—  </a:t>
            </a:r>
            <a:r>
              <a:rPr sz="1700" b="0" i="0">
                <a:solidFill>
                  <a:srgbClr val="1A1A1A"/>
                </a:solidFill>
                <a:latin typeface="Helvetica Neue"/>
              </a:rPr>
              <a:t>The unconverged iterate acts as extra smoothing and silently changes the answer.</a:t>
            </a:r>
          </a:p>
          <a:p>
            <a:pPr lvl="1">
              <a:spcBef>
                <a:spcPts val="200"/>
              </a:spcBef>
              <a:spcAft>
                <a:spcPts val="600"/>
              </a:spcAft>
            </a:pPr>
            <a:r>
              <a:rPr sz="1400" b="0" i="0">
                <a:solidFill>
                  <a:srgbClr val="6B7280"/>
                </a:solidFill>
                <a:latin typeface="Helvetica Neue"/>
              </a:rPr>
              <a:t>      MATLAB's pcg warns. scipy's cg returns the same unconverged vector with no warning at all.</a:t>
            </a:r>
          </a:p>
          <a:p>
            <a:pPr>
              <a:spcAft>
                <a:spcPts val="1100"/>
              </a:spcAft>
            </a:pPr>
            <a:r>
              <a:rPr sz="1700" b="1" i="0">
                <a:solidFill>
                  <a:srgbClr val="2F6F9F"/>
                </a:solidFill>
                <a:latin typeface="Helvetica Neue"/>
              </a:rPr>
              <a:t>—  </a:t>
            </a:r>
            <a:r>
              <a:rPr sz="1700" b="0" i="0">
                <a:solidFill>
                  <a:srgbClr val="1A1A1A"/>
                </a:solidFill>
                <a:latin typeface="Helvetica Neue"/>
              </a:rPr>
              <a:t>Three successive solvers moved the same benchmark:</a:t>
            </a:r>
          </a:p>
          <a:p>
            <a:pPr lvl="1">
              <a:spcBef>
                <a:spcPts val="200"/>
              </a:spcBef>
              <a:spcAft>
                <a:spcPts val="600"/>
              </a:spcAft>
            </a:pPr>
            <a:r>
              <a:rPr sz="1400" b="0" i="0">
                <a:solidFill>
                  <a:srgbClr val="6B7280"/>
                </a:solidFill>
                <a:latin typeface="Helvetica Neue"/>
              </a:rPr>
              <a:t>      smooth signal  3.77%  →  4.93%  →  5.07%      near impacts  17.9%  →  16.6%  →  19.2%</a:t>
            </a:r>
          </a:p>
          <a:p>
            <a:pPr>
              <a:spcAft>
                <a:spcPts val="1100"/>
              </a:spcAft>
            </a:pPr>
            <a:r>
              <a:rPr sz="1700" b="1" i="0">
                <a:solidFill>
                  <a:srgbClr val="2F6F9F"/>
                </a:solidFill>
                <a:latin typeface="Helvetica Neue"/>
              </a:rPr>
              <a:t>—  </a:t>
            </a:r>
            <a:r>
              <a:rPr sz="1700" b="0" i="0">
                <a:solidFill>
                  <a:srgbClr val="1A1A1A"/>
                </a:solidFill>
                <a:latin typeface="Helvetica Neue"/>
              </a:rPr>
              <a:t>Under-convergence had been flattering the method in both directions. Only the last pair is the true minimiser.</a:t>
            </a:r>
          </a:p>
          <a:p>
            <a:pPr>
              <a:spcAft>
                <a:spcPts val="1100"/>
              </a:spcAft>
            </a:pPr>
            <a:r>
              <a:rPr sz="1700" b="1" i="0">
                <a:solidFill>
                  <a:srgbClr val="2F6F9F"/>
                </a:solidFill>
                <a:latin typeface="Helvetica Neue"/>
              </a:rPr>
              <a:t>—  </a:t>
            </a:r>
            <a:r>
              <a:rPr sz="1700" b="0" i="0">
                <a:solidFill>
                  <a:srgbClr val="1A1A1A"/>
                </a:solidFill>
                <a:latin typeface="Helvetica Neue"/>
              </a:rPr>
              <a:t>Fix: substitute w = Au to get L1 trend filtering — the ADMM system is pentadiagonal and constant, so it factors once.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State-space: the Kalman / RTS kinematic smoother</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81328"/>
            <a:ext cx="10881360" cy="731520"/>
          </a:xfrm>
          <a:prstGeom prst="rect">
            <a:avLst/>
          </a:prstGeom>
          <a:noFill/>
        </p:spPr>
        <p:txBody>
          <a:bodyPr wrap="square" lIns="0" tIns="0" rIns="0" bIns="0">
            <a:spAutoFit/>
          </a:bodyPr>
          <a:lstStyle/>
          <a:p>
            <a:r>
              <a:rPr sz="1800" b="0" i="1">
                <a:solidFill>
                  <a:srgbClr val="1A1A1A"/>
                </a:solidFill>
                <a:latin typeface="Helvetica Neue"/>
              </a:rPr>
              <a:t>Model the signal as an integrated random walk; state = [x, v, a, jerk, ...]. Smooth, do not filter.</a:t>
            </a:r>
          </a:p>
        </p:txBody>
      </p:sp>
      <p:sp>
        <p:nvSpPr>
          <p:cNvPr id="5" name="TextBox 4"/>
          <p:cNvSpPr txBox="1"/>
          <p:nvPr/>
        </p:nvSpPr>
        <p:spPr>
          <a:xfrm>
            <a:off x="658368" y="2395728"/>
            <a:ext cx="5257800" cy="365760"/>
          </a:xfrm>
          <a:prstGeom prst="rect">
            <a:avLst/>
          </a:prstGeom>
          <a:noFill/>
        </p:spPr>
        <p:txBody>
          <a:bodyPr wrap="square" lIns="0" tIns="0" rIns="0" bIns="0">
            <a:spAutoFit/>
          </a:bodyPr>
          <a:lstStyle/>
          <a:p>
            <a:r>
              <a:rPr sz="1400" b="1" i="0">
                <a:solidFill>
                  <a:srgbClr val="1B7F5C"/>
                </a:solidFill>
                <a:latin typeface="Helvetica Neue"/>
              </a:rPr>
              <a:t>STRENGTHS</a:t>
            </a:r>
          </a:p>
        </p:txBody>
      </p:sp>
      <p:sp>
        <p:nvSpPr>
          <p:cNvPr id="6" name="TextBox 5"/>
          <p:cNvSpPr txBox="1"/>
          <p:nvPr/>
        </p:nvSpPr>
        <p:spPr>
          <a:xfrm>
            <a:off x="658368" y="2816352"/>
            <a:ext cx="5257800" cy="2743200"/>
          </a:xfrm>
          <a:prstGeom prst="rect">
            <a:avLst/>
          </a:prstGeom>
          <a:noFill/>
        </p:spPr>
        <p:txBody>
          <a:bodyPr wrap="square" lIns="0" tIns="0" rIns="0" bIns="0">
            <a:spAutoFit/>
          </a:bodyPr>
          <a:lstStyle/>
          <a:p>
            <a:pPr>
              <a:spcAft>
                <a:spcPts val="600"/>
              </a:spcAft>
            </a:pPr>
            <a:r>
              <a:rPr sz="1500" b="1" i="0">
                <a:solidFill>
                  <a:srgbClr val="1B7F5C"/>
                </a:solidFill>
                <a:latin typeface="Helvetica Neue"/>
              </a:rPr>
              <a:t>•  </a:t>
            </a:r>
            <a:r>
              <a:rPr sz="1500" b="0" i="0">
                <a:solidFill>
                  <a:srgbClr val="1A1A1A"/>
                </a:solidFill>
                <a:latin typeface="Helvetica Neue"/>
              </a:rPr>
              <a:t>Self-tuning — the single parameter q is fitted by marginal likelihood, no sweep</a:t>
            </a:r>
          </a:p>
          <a:p>
            <a:pPr>
              <a:spcAft>
                <a:spcPts val="600"/>
              </a:spcAft>
            </a:pPr>
            <a:r>
              <a:rPr sz="1500" b="1" i="0">
                <a:solidFill>
                  <a:srgbClr val="1B7F5C"/>
                </a:solidFill>
                <a:latin typeface="Helvetica Neue"/>
              </a:rPr>
              <a:t>•  </a:t>
            </a:r>
            <a:r>
              <a:rPr sz="1500" b="0" i="0">
                <a:solidFill>
                  <a:srgbClr val="1A1A1A"/>
                </a:solidFill>
                <a:latin typeface="Helvetica Neue"/>
              </a:rPr>
              <a:t>Handles gaps, non-uniform sampling and multirate channels natively (NaN = missing)</a:t>
            </a:r>
          </a:p>
          <a:p>
            <a:pPr>
              <a:spcAft>
                <a:spcPts val="600"/>
              </a:spcAft>
            </a:pPr>
            <a:r>
              <a:rPr sz="1500" b="1" i="0">
                <a:solidFill>
                  <a:srgbClr val="1B7F5C"/>
                </a:solidFill>
                <a:latin typeface="Helvetica Neue"/>
              </a:rPr>
              <a:t>•  </a:t>
            </a:r>
            <a:r>
              <a:rPr sz="1500" b="0" i="0">
                <a:solidFill>
                  <a:srgbClr val="1A1A1A"/>
                </a:solidFill>
                <a:latin typeface="Helvetica Neue"/>
              </a:rPr>
              <a:t>Returns a posterior standard deviation — error bars, not just an estimate</a:t>
            </a:r>
          </a:p>
          <a:p>
            <a:pPr>
              <a:spcAft>
                <a:spcPts val="600"/>
              </a:spcAft>
            </a:pPr>
            <a:r>
              <a:rPr sz="1500" b="1" i="0">
                <a:solidFill>
                  <a:srgbClr val="1B7F5C"/>
                </a:solidFill>
                <a:latin typeface="Helvetica Neue"/>
              </a:rPr>
              <a:t>•  </a:t>
            </a:r>
            <a:r>
              <a:rPr sz="1500" b="0" i="0">
                <a:solidFill>
                  <a:srgbClr val="1A1A1A"/>
                </a:solidFill>
                <a:latin typeface="Helvetica Neue"/>
              </a:rPr>
              <a:t>Does differentiation, integration AND sensor fusion with one implementation</a:t>
            </a:r>
          </a:p>
          <a:p>
            <a:pPr>
              <a:spcAft>
                <a:spcPts val="600"/>
              </a:spcAft>
            </a:pPr>
            <a:r>
              <a:rPr sz="1500" b="1" i="0">
                <a:solidFill>
                  <a:srgbClr val="1B7F5C"/>
                </a:solidFill>
                <a:latin typeface="Helvetica Neue"/>
              </a:rPr>
              <a:t>•  </a:t>
            </a:r>
            <a:r>
              <a:rPr sz="1500" b="0" i="0">
                <a:solidFill>
                  <a:srgbClr val="1A1A1A"/>
                </a:solidFill>
                <a:latin typeface="Helvetica Neue"/>
              </a:rPr>
              <a:t>O(N), and equivalent to a Gaussian process without the O(N³)</a:t>
            </a:r>
          </a:p>
        </p:txBody>
      </p:sp>
      <p:sp>
        <p:nvSpPr>
          <p:cNvPr id="7" name="TextBox 6"/>
          <p:cNvSpPr txBox="1"/>
          <p:nvPr/>
        </p:nvSpPr>
        <p:spPr>
          <a:xfrm>
            <a:off x="6281928" y="2395728"/>
            <a:ext cx="5257800" cy="365760"/>
          </a:xfrm>
          <a:prstGeom prst="rect">
            <a:avLst/>
          </a:prstGeom>
          <a:noFill/>
        </p:spPr>
        <p:txBody>
          <a:bodyPr wrap="square" lIns="0" tIns="0" rIns="0" bIns="0">
            <a:spAutoFit/>
          </a:bodyPr>
          <a:lstStyle/>
          <a:p>
            <a:r>
              <a:rPr sz="1400" b="1" i="0">
                <a:solidFill>
                  <a:srgbClr val="C2453C"/>
                </a:solidFill>
                <a:latin typeface="Helvetica Neue"/>
              </a:rPr>
              <a:t>LIMITATIONS</a:t>
            </a:r>
          </a:p>
        </p:txBody>
      </p:sp>
      <p:sp>
        <p:nvSpPr>
          <p:cNvPr id="8" name="TextBox 7"/>
          <p:cNvSpPr txBox="1"/>
          <p:nvPr/>
        </p:nvSpPr>
        <p:spPr>
          <a:xfrm>
            <a:off x="6281928" y="2816352"/>
            <a:ext cx="5257800" cy="2743200"/>
          </a:xfrm>
          <a:prstGeom prst="rect">
            <a:avLst/>
          </a:prstGeom>
          <a:noFill/>
        </p:spPr>
        <p:txBody>
          <a:bodyPr wrap="square" lIns="0" tIns="0" rIns="0" bIns="0">
            <a:spAutoFit/>
          </a:bodyPr>
          <a:lstStyle/>
          <a:p>
            <a:pPr>
              <a:spcAft>
                <a:spcPts val="600"/>
              </a:spcAft>
            </a:pPr>
            <a:r>
              <a:rPr sz="1500" b="1" i="0">
                <a:solidFill>
                  <a:srgbClr val="C2453C"/>
                </a:solidFill>
                <a:latin typeface="Helvetica Neue"/>
              </a:rPr>
              <a:t>•  </a:t>
            </a:r>
            <a:r>
              <a:rPr sz="1500" b="0" i="0">
                <a:solidFill>
                  <a:srgbClr val="1A1A1A"/>
                </a:solidFill>
                <a:latin typeface="Helvetica Neue"/>
              </a:rPr>
              <a:t>Costs something against a perfectly tuned method on very clean data (up to 3.7x)</a:t>
            </a:r>
          </a:p>
          <a:p>
            <a:pPr>
              <a:spcAft>
                <a:spcPts val="600"/>
              </a:spcAft>
            </a:pPr>
            <a:r>
              <a:rPr sz="1500" b="1" i="0">
                <a:solidFill>
                  <a:srgbClr val="C2453C"/>
                </a:solidFill>
                <a:latin typeface="Helvetica Neue"/>
              </a:rPr>
              <a:t>•  </a:t>
            </a:r>
            <a:r>
              <a:rPr sz="1500" b="0" i="0">
                <a:solidFill>
                  <a:srgbClr val="1A1A1A"/>
                </a:solidFill>
                <a:latin typeface="Helvetica Neue"/>
              </a:rPr>
              <a:t>The prior is smoothness — it rounds corners just as the L2 penalties do</a:t>
            </a:r>
          </a:p>
          <a:p>
            <a:pPr>
              <a:spcAft>
                <a:spcPts val="600"/>
              </a:spcAft>
            </a:pPr>
            <a:r>
              <a:rPr sz="1500" b="1" i="0">
                <a:solidFill>
                  <a:srgbClr val="C2453C"/>
                </a:solidFill>
                <a:latin typeface="Helvetica Neue"/>
              </a:rPr>
              <a:t>•  </a:t>
            </a:r>
            <a:r>
              <a:rPr sz="1500" b="0" i="0">
                <a:solidFill>
                  <a:srgbClr val="1A1A1A"/>
                </a:solidFill>
                <a:latin typeface="Helvetica Neue"/>
              </a:rPr>
              <a:t>More code than a banded solve; the likelihood optimisation needs a sane bracket</a:t>
            </a:r>
          </a:p>
          <a:p>
            <a:pPr>
              <a:spcAft>
                <a:spcPts val="600"/>
              </a:spcAft>
            </a:pPr>
            <a:r>
              <a:rPr sz="1500" b="1" i="0">
                <a:solidFill>
                  <a:srgbClr val="C2453C"/>
                </a:solidFill>
                <a:latin typeface="Helvetica Neue"/>
              </a:rPr>
              <a:t>•  </a:t>
            </a:r>
            <a:r>
              <a:rPr sz="1500" b="0" i="0">
                <a:solidFill>
                  <a:srgbClr val="1A1A1A"/>
                </a:solidFill>
                <a:latin typeface="Helvetica Neue"/>
              </a:rPr>
              <a:t>Bias states are weakly identified over short records — a drift absorber, not a calibration</a:t>
            </a:r>
          </a:p>
        </p:txBody>
      </p:sp>
      <p:sp>
        <p:nvSpPr>
          <p:cNvPr id="9" name="Rounded Rectangle 8"/>
          <p:cNvSpPr/>
          <p:nvPr/>
        </p:nvSpPr>
        <p:spPr>
          <a:xfrm>
            <a:off x="658368" y="5742432"/>
            <a:ext cx="10881360" cy="749808"/>
          </a:xfrm>
          <a:prstGeom prst="round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wrap="square" lIns="219456" tIns="91440" rtlCol="0" anchor="ctr"/>
          <a:lstStyle/>
          <a:p>
            <a:pPr algn="ctr"/>
            <a:r>
              <a:rPr sz="1300" b="1" i="0">
                <a:solidFill>
                  <a:srgbClr val="1B7F5C"/>
                </a:solidFill>
                <a:latin typeface="Helvetica Neue"/>
              </a:rPr>
              <a:t>USE IT WHEN   </a:t>
            </a:r>
            <a:r>
              <a:rPr sz="1600" b="0" i="0">
                <a:solidFill>
                  <a:srgbClr val="1A1A1A"/>
                </a:solidFill>
                <a:latin typeface="Helvetica Neue"/>
              </a:rPr>
              <a:t>You want one tool that covers every case, or you have two sensors, or you need uncertainty.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What does self-tuning actually cost?</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_selftune.png"/>
          <p:cNvPicPr>
            <a:picLocks noChangeAspect="1"/>
          </p:cNvPicPr>
          <p:nvPr/>
        </p:nvPicPr>
        <p:blipFill>
          <a:blip r:embed="rId3"/>
          <a:stretch>
            <a:fillRect/>
          </a:stretch>
        </p:blipFill>
        <p:spPr>
          <a:xfrm>
            <a:off x="763651" y="1371600"/>
            <a:ext cx="10664393" cy="4590288"/>
          </a:xfrm>
          <a:prstGeom prst="rect">
            <a:avLst/>
          </a:prstGeom>
        </p:spPr>
      </p:pic>
      <p:sp>
        <p:nvSpPr>
          <p:cNvPr id="5" name="TextBox 4"/>
          <p:cNvSpPr txBox="1"/>
          <p:nvPr/>
        </p:nvSpPr>
        <p:spPr>
          <a:xfrm>
            <a:off x="786384" y="6089904"/>
            <a:ext cx="10607040" cy="548640"/>
          </a:xfrm>
          <a:prstGeom prst="rect">
            <a:avLst/>
          </a:prstGeom>
          <a:noFill/>
        </p:spPr>
        <p:txBody>
          <a:bodyPr wrap="square" lIns="0" tIns="0" rIns="0" bIns="0">
            <a:spAutoFit/>
          </a:bodyPr>
          <a:lstStyle/>
          <a:p>
            <a:pPr algn="ctr"/>
            <a:r>
              <a:rPr sz="1300" b="0" i="1">
                <a:solidFill>
                  <a:srgbClr val="6B7280"/>
                </a:solidFill>
                <a:latin typeface="Helvetica Neue"/>
              </a:rPr>
              <a:t>Ratio of the self-tuned error to the best error achieved by ANY method in this study with its knob tuned against ground truth.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It tells you how much to trust it</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_uncertainty.png"/>
          <p:cNvPicPr>
            <a:picLocks noChangeAspect="1"/>
          </p:cNvPicPr>
          <p:nvPr/>
        </p:nvPicPr>
        <p:blipFill>
          <a:blip r:embed="rId3"/>
          <a:stretch>
            <a:fillRect/>
          </a:stretch>
        </p:blipFill>
        <p:spPr>
          <a:xfrm>
            <a:off x="763651" y="1371600"/>
            <a:ext cx="10664393" cy="4590288"/>
          </a:xfrm>
          <a:prstGeom prst="rect">
            <a:avLst/>
          </a:prstGeom>
        </p:spPr>
      </p:pic>
      <p:sp>
        <p:nvSpPr>
          <p:cNvPr id="5" name="TextBox 4"/>
          <p:cNvSpPr txBox="1"/>
          <p:nvPr/>
        </p:nvSpPr>
        <p:spPr>
          <a:xfrm>
            <a:off x="786384" y="6089904"/>
            <a:ext cx="10607040" cy="548640"/>
          </a:xfrm>
          <a:prstGeom prst="rect">
            <a:avLst/>
          </a:prstGeom>
          <a:noFill/>
        </p:spPr>
        <p:txBody>
          <a:bodyPr wrap="square" lIns="0" tIns="0" rIns="0" bIns="0">
            <a:spAutoFit/>
          </a:bodyPr>
          <a:lstStyle/>
          <a:p>
            <a:pPr algn="ctr"/>
            <a:r>
              <a:rPr sz="1300" b="0" i="1">
                <a:solidFill>
                  <a:srgbClr val="6B7280"/>
                </a:solidFill>
                <a:latin typeface="Helvetica Neue"/>
              </a:rPr>
              <a:t>Acceleration from a noisy position record with its ±2σ posterior band. No other method in this comparison produces one.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Integration has an extra problem: the constants</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0"/>
            <a:ext cx="11064240" cy="411480"/>
          </a:xfrm>
          <a:prstGeom prst="rect">
            <a:avLst/>
          </a:prstGeom>
          <a:noFill/>
        </p:spPr>
        <p:txBody>
          <a:bodyPr wrap="square" lIns="0" tIns="0" rIns="0" bIns="0">
            <a:spAutoFit/>
          </a:bodyPr>
          <a:lstStyle/>
          <a:p>
            <a:r>
              <a:rPr sz="1600" b="0" i="1">
                <a:solidFill>
                  <a:srgbClr val="6B7280"/>
                </a:solidFill>
                <a:latin typeface="Helvetica Neue"/>
              </a:rPr>
              <a:t>Two integration constants are unobservable — every method makes an assumption, so make yours explicit</a:t>
            </a:r>
          </a:p>
        </p:txBody>
      </p:sp>
      <p:sp>
        <p:nvSpPr>
          <p:cNvPr id="5" name="TextBox 4"/>
          <p:cNvSpPr txBox="1"/>
          <p:nvPr/>
        </p:nvSpPr>
        <p:spPr>
          <a:xfrm>
            <a:off x="658368" y="1691640"/>
            <a:ext cx="10881360" cy="4709160"/>
          </a:xfrm>
          <a:prstGeom prst="rect">
            <a:avLst/>
          </a:prstGeom>
          <a:noFill/>
        </p:spPr>
        <p:txBody>
          <a:bodyPr wrap="square" lIns="0" tIns="0" rIns="0" bIns="0">
            <a:spAutoFit/>
          </a:bodyPr>
          <a:lstStyle/>
          <a:p>
            <a:pPr>
              <a:spcAft>
                <a:spcPts val="1100"/>
              </a:spcAft>
            </a:pPr>
            <a:r>
              <a:rPr sz="1800" b="1" i="0">
                <a:solidFill>
                  <a:srgbClr val="2F6F9F"/>
                </a:solidFill>
                <a:latin typeface="Helvetica Neue"/>
              </a:rPr>
              <a:t>—  </a:t>
            </a:r>
            <a:r>
              <a:rPr sz="1800" b="0" i="0">
                <a:solidFill>
                  <a:srgbClr val="1A1A1A"/>
                </a:solidFill>
                <a:latin typeface="Helvetica Neue"/>
              </a:rPr>
              <a:t>Acceleration determines displacement only up to  x₀ + v₀t.  Those two constants are not in the data.</a:t>
            </a:r>
          </a:p>
          <a:p>
            <a:pPr>
              <a:spcAft>
                <a:spcPts val="1100"/>
              </a:spcAft>
            </a:pPr>
            <a:r>
              <a:rPr sz="1800" b="1" i="0">
                <a:solidFill>
                  <a:srgbClr val="2F6F9F"/>
                </a:solidFill>
                <a:latin typeface="Helvetica Neue"/>
              </a:rPr>
              <a:t>—  </a:t>
            </a:r>
            <a:r>
              <a:rPr sz="1800" b="0" i="0">
                <a:solidFill>
                  <a:srgbClr val="1A1A1A"/>
                </a:solidFill>
                <a:latin typeface="Helvetica Neue"/>
              </a:rPr>
              <a:t>A DC offset of 0.5% integrates twice into a parabola that swamps the signal within seconds.</a:t>
            </a:r>
          </a:p>
          <a:p>
            <a:pPr>
              <a:spcAft>
                <a:spcPts val="1100"/>
              </a:spcAft>
            </a:pPr>
            <a:r>
              <a:rPr sz="1800" b="1" i="0">
                <a:solidFill>
                  <a:srgbClr val="2F6F9F"/>
                </a:solidFill>
                <a:latin typeface="Helvetica Neue"/>
              </a:rPr>
              <a:t>—  </a:t>
            </a:r>
            <a:r>
              <a:rPr sz="1800" b="0" i="0">
                <a:solidFill>
                  <a:srgbClr val="1A1A1A"/>
                </a:solidFill>
                <a:latin typeface="Helvetica Neue"/>
              </a:rPr>
              <a:t>Every working method therefore imposes a high-pass — the question is whether it admits to it.</a:t>
            </a:r>
          </a:p>
          <a:p>
            <a:pPr lvl="1">
              <a:spcBef>
                <a:spcPts val="200"/>
              </a:spcBef>
              <a:spcAft>
                <a:spcPts val="600"/>
              </a:spcAft>
            </a:pPr>
            <a:r>
              <a:rPr sz="1500" b="0" i="0">
                <a:solidFill>
                  <a:srgbClr val="6B7280"/>
                </a:solidFill>
                <a:latin typeface="Helvetica Neue"/>
              </a:rPr>
              <a:t>      Detrend + high-pass filter: fast, but the corner is chosen by eye and distorts the low modes.</a:t>
            </a:r>
          </a:p>
          <a:p>
            <a:pPr lvl="1">
              <a:spcBef>
                <a:spcPts val="200"/>
              </a:spcBef>
              <a:spcAft>
                <a:spcPts val="600"/>
              </a:spcAft>
            </a:pPr>
            <a:r>
              <a:rPr sz="1500" b="0" i="0">
                <a:solidFill>
                  <a:srgbClr val="6B7280"/>
                </a:solidFill>
                <a:latin typeface="Helvetica Neue"/>
              </a:rPr>
              <a:t>      Tikhonov: the corner appears explicitly as λ = (2πfᶜ)²ⁿ. One banded solve.</a:t>
            </a:r>
          </a:p>
          <a:p>
            <a:pPr lvl="1">
              <a:spcBef>
                <a:spcPts val="200"/>
              </a:spcBef>
              <a:spcAft>
                <a:spcPts val="600"/>
              </a:spcAft>
            </a:pPr>
            <a:r>
              <a:rPr sz="1500" b="0" i="0">
                <a:solidFill>
                  <a:srgbClr val="6B7280"/>
                </a:solidFill>
                <a:latin typeface="Helvetica Neue"/>
              </a:rPr>
              <a:t>      State-space with a bias state: the corner becomes a prior on the unobservable directions.</a:t>
            </a:r>
          </a:p>
          <a:p>
            <a:pPr>
              <a:spcAft>
                <a:spcPts val="1100"/>
              </a:spcAft>
            </a:pPr>
            <a:r>
              <a:rPr sz="1800" b="1" i="0">
                <a:solidFill>
                  <a:srgbClr val="2F6F9F"/>
                </a:solidFill>
                <a:latin typeface="Helvetica Neue"/>
              </a:rPr>
              <a:t>—  </a:t>
            </a:r>
            <a:r>
              <a:rPr sz="1800" b="0" i="0">
                <a:solidFill>
                  <a:srgbClr val="1A1A1A"/>
                </a:solidFill>
                <a:latin typeface="Helvetica Neue"/>
              </a:rPr>
              <a:t>Choose the corner below your lowest mode of interest and above the drift band — and say what you chose.</a:t>
            </a:r>
          </a:p>
          <a:p>
            <a:pPr>
              <a:spcAft>
                <a:spcPts val="1100"/>
              </a:spcAft>
            </a:pPr>
            <a:r>
              <a:rPr sz="1800" b="1" i="0">
                <a:solidFill>
                  <a:srgbClr val="2F6F9F"/>
                </a:solidFill>
                <a:latin typeface="Helvetica Neue"/>
              </a:rPr>
              <a:t>—  </a:t>
            </a:r>
            <a:r>
              <a:rPr sz="1800" b="0" i="0">
                <a:solidFill>
                  <a:srgbClr val="1A1A1A"/>
                </a:solidFill>
                <a:latin typeface="Helvetica Neue"/>
              </a:rPr>
              <a:t>If you also have a displacement channel, you do not need the corner at all. That is the next slide.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Integration done three ways</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_integration.png"/>
          <p:cNvPicPr>
            <a:picLocks noChangeAspect="1"/>
          </p:cNvPicPr>
          <p:nvPr/>
        </p:nvPicPr>
        <p:blipFill>
          <a:blip r:embed="rId3"/>
          <a:stretch>
            <a:fillRect/>
          </a:stretch>
        </p:blipFill>
        <p:spPr>
          <a:xfrm>
            <a:off x="763651" y="1371600"/>
            <a:ext cx="10664393" cy="4590288"/>
          </a:xfrm>
          <a:prstGeom prst="rect">
            <a:avLst/>
          </a:prstGeom>
        </p:spPr>
      </p:pic>
      <p:sp>
        <p:nvSpPr>
          <p:cNvPr id="5" name="TextBox 4"/>
          <p:cNvSpPr txBox="1"/>
          <p:nvPr/>
        </p:nvSpPr>
        <p:spPr>
          <a:xfrm>
            <a:off x="786384" y="6089904"/>
            <a:ext cx="10607040" cy="548640"/>
          </a:xfrm>
          <a:prstGeom prst="rect">
            <a:avLst/>
          </a:prstGeom>
          <a:noFill/>
        </p:spPr>
        <p:txBody>
          <a:bodyPr wrap="square" lIns="0" tIns="0" rIns="0" bIns="0">
            <a:spAutoFit/>
          </a:bodyPr>
          <a:lstStyle/>
          <a:p>
            <a:pPr algn="ctr"/>
            <a:r>
              <a:rPr sz="1300" b="0" i="1">
                <a:solidFill>
                  <a:srgbClr val="6B7280"/>
                </a:solidFill>
                <a:latin typeface="Helvetica Neue"/>
              </a:rPr>
              <a:t>Displacement recovered from an accelerometer with 1% noise, 0.5% drift and a 0.5% offset. Regularised methods overlay the truth; the plain trapezoid needs its own axis.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If you have both sensors, use both at once</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_fusion.png"/>
          <p:cNvPicPr>
            <a:picLocks noChangeAspect="1"/>
          </p:cNvPicPr>
          <p:nvPr/>
        </p:nvPicPr>
        <p:blipFill>
          <a:blip r:embed="rId3"/>
          <a:stretch>
            <a:fillRect/>
          </a:stretch>
        </p:blipFill>
        <p:spPr>
          <a:xfrm>
            <a:off x="763651" y="1371600"/>
            <a:ext cx="10664393" cy="4590288"/>
          </a:xfrm>
          <a:prstGeom prst="rect">
            <a:avLst/>
          </a:prstGeom>
        </p:spPr>
      </p:pic>
      <p:sp>
        <p:nvSpPr>
          <p:cNvPr id="5" name="TextBox 4"/>
          <p:cNvSpPr txBox="1"/>
          <p:nvPr/>
        </p:nvSpPr>
        <p:spPr>
          <a:xfrm>
            <a:off x="786384" y="6089904"/>
            <a:ext cx="10607040" cy="548640"/>
          </a:xfrm>
          <a:prstGeom prst="rect">
            <a:avLst/>
          </a:prstGeom>
          <a:noFill/>
        </p:spPr>
        <p:txBody>
          <a:bodyPr wrap="square" lIns="0" tIns="0" rIns="0" bIns="0">
            <a:spAutoFit/>
          </a:bodyPr>
          <a:lstStyle/>
          <a:p>
            <a:pPr algn="ctr"/>
            <a:r>
              <a:rPr sz="1300" b="0" i="1">
                <a:solidFill>
                  <a:srgbClr val="6B7280"/>
                </a:solidFill>
                <a:latin typeface="Helvetica Neue"/>
              </a:rPr>
              <a:t>One state-space smoother, 200 Hz displacement at 3% noise fused with 2 kHz acceleration at 1% noise plus drift.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The comparison on one slide</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0"/>
            <a:ext cx="11064240" cy="411480"/>
          </a:xfrm>
          <a:prstGeom prst="rect">
            <a:avLst/>
          </a:prstGeom>
          <a:noFill/>
        </p:spPr>
        <p:txBody>
          <a:bodyPr wrap="square" lIns="0" tIns="0" rIns="0" bIns="0">
            <a:spAutoFit/>
          </a:bodyPr>
          <a:lstStyle/>
          <a:p>
            <a:r>
              <a:rPr sz="1600" b="0" i="1">
                <a:solidFill>
                  <a:srgbClr val="6B7280"/>
                </a:solidFill>
                <a:latin typeface="Helvetica Neue"/>
              </a:rPr>
              <a:t>Knobs = free parameters you must choose; the state-space smoother fits its one parameter itself</a:t>
            </a:r>
          </a:p>
        </p:txBody>
      </p:sp>
      <p:graphicFrame>
        <p:nvGraphicFramePr>
          <p:cNvPr id="5" name="Table 4"/>
          <p:cNvGraphicFramePr>
            <a:graphicFrameLocks noGrp="1"/>
          </p:cNvGraphicFramePr>
          <p:nvPr/>
        </p:nvGraphicFramePr>
        <p:xfrm>
          <a:off x="658368" y="1783080"/>
          <a:ext cx="10881360" cy="3072384"/>
        </p:xfrm>
        <a:graphic>
          <a:graphicData uri="http://schemas.openxmlformats.org/drawingml/2006/table">
            <a:tbl>
              <a:tblPr firstRow="1" bandRow="1">
                <a:tableStyleId>{5C22544A-7EE6-4342-B048-85BDC9FD1C3A}</a:tableStyleId>
              </a:tblPr>
              <a:tblGrid>
                <a:gridCol w="2570400">
                  <a:extLst>
                    <a:ext uri="{9D8B030D-6E8A-4147-A177-3AD203B41FA5}">
                      <a16:colId xmlns:a16="http://schemas.microsoft.com/office/drawing/2014/main" val="20000"/>
                    </a:ext>
                  </a:extLst>
                </a:gridCol>
                <a:gridCol w="2056320">
                  <a:extLst>
                    <a:ext uri="{9D8B030D-6E8A-4147-A177-3AD203B41FA5}">
                      <a16:colId xmlns:a16="http://schemas.microsoft.com/office/drawing/2014/main" val="20001"/>
                    </a:ext>
                  </a:extLst>
                </a:gridCol>
                <a:gridCol w="856800">
                  <a:extLst>
                    <a:ext uri="{9D8B030D-6E8A-4147-A177-3AD203B41FA5}">
                      <a16:colId xmlns:a16="http://schemas.microsoft.com/office/drawing/2014/main" val="20002"/>
                    </a:ext>
                  </a:extLst>
                </a:gridCol>
                <a:gridCol w="856800">
                  <a:extLst>
                    <a:ext uri="{9D8B030D-6E8A-4147-A177-3AD203B41FA5}">
                      <a16:colId xmlns:a16="http://schemas.microsoft.com/office/drawing/2014/main" val="20003"/>
                    </a:ext>
                  </a:extLst>
                </a:gridCol>
                <a:gridCol w="771120">
                  <a:extLst>
                    <a:ext uri="{9D8B030D-6E8A-4147-A177-3AD203B41FA5}">
                      <a16:colId xmlns:a16="http://schemas.microsoft.com/office/drawing/2014/main" val="20004"/>
                    </a:ext>
                  </a:extLst>
                </a:gridCol>
                <a:gridCol w="1028160">
                  <a:extLst>
                    <a:ext uri="{9D8B030D-6E8A-4147-A177-3AD203B41FA5}">
                      <a16:colId xmlns:a16="http://schemas.microsoft.com/office/drawing/2014/main" val="20005"/>
                    </a:ext>
                  </a:extLst>
                </a:gridCol>
                <a:gridCol w="2741760">
                  <a:extLst>
                    <a:ext uri="{9D8B030D-6E8A-4147-A177-3AD203B41FA5}">
                      <a16:colId xmlns:a16="http://schemas.microsoft.com/office/drawing/2014/main" val="20006"/>
                    </a:ext>
                  </a:extLst>
                </a:gridCol>
              </a:tblGrid>
              <a:tr h="384048">
                <a:tc>
                  <a:txBody>
                    <a:bodyPr/>
                    <a:lstStyle/>
                    <a:p>
                      <a:r>
                        <a:rPr sz="1200" b="1" i="0">
                          <a:solidFill>
                            <a:srgbClr val="FFFFFF"/>
                          </a:solidFill>
                          <a:latin typeface="Helvetica Neue"/>
                        </a:rPr>
                        <a:t>Method</a:t>
                      </a:r>
                    </a:p>
                  </a:txBody>
                  <a:tcPr>
                    <a:solidFill>
                      <a:srgbClr val="2F6F9F"/>
                    </a:solidFill>
                  </a:tcPr>
                </a:tc>
                <a:tc>
                  <a:txBody>
                    <a:bodyPr/>
                    <a:lstStyle/>
                    <a:p>
                      <a:r>
                        <a:rPr sz="1200" b="1" i="0">
                          <a:solidFill>
                            <a:srgbClr val="FFFFFF"/>
                          </a:solidFill>
                          <a:latin typeface="Helvetica Neue"/>
                        </a:rPr>
                        <a:t>Prior</a:t>
                      </a:r>
                    </a:p>
                  </a:txBody>
                  <a:tcPr>
                    <a:solidFill>
                      <a:srgbClr val="2F6F9F"/>
                    </a:solidFill>
                  </a:tcPr>
                </a:tc>
                <a:tc>
                  <a:txBody>
                    <a:bodyPr/>
                    <a:lstStyle/>
                    <a:p>
                      <a:r>
                        <a:rPr sz="1200" b="1" i="0">
                          <a:solidFill>
                            <a:srgbClr val="FFFFFF"/>
                          </a:solidFill>
                          <a:latin typeface="Helvetica Neue"/>
                        </a:rPr>
                        <a:t>Knobs</a:t>
                      </a:r>
                    </a:p>
                  </a:txBody>
                  <a:tcPr>
                    <a:solidFill>
                      <a:srgbClr val="2F6F9F"/>
                    </a:solidFill>
                  </a:tcPr>
                </a:tc>
                <a:tc>
                  <a:txBody>
                    <a:bodyPr/>
                    <a:lstStyle/>
                    <a:p>
                      <a:r>
                        <a:rPr sz="1200" b="1" i="0">
                          <a:solidFill>
                            <a:srgbClr val="FFFFFF"/>
                          </a:solidFill>
                          <a:latin typeface="Helvetica Neue"/>
                        </a:rPr>
                        <a:t>Ends</a:t>
                      </a:r>
                    </a:p>
                  </a:txBody>
                  <a:tcPr>
                    <a:solidFill>
                      <a:srgbClr val="2F6F9F"/>
                    </a:solidFill>
                  </a:tcPr>
                </a:tc>
                <a:tc>
                  <a:txBody>
                    <a:bodyPr/>
                    <a:lstStyle/>
                    <a:p>
                      <a:r>
                        <a:rPr sz="1200" b="1" i="0">
                          <a:solidFill>
                            <a:srgbClr val="FFFFFF"/>
                          </a:solidFill>
                          <a:latin typeface="Helvetica Neue"/>
                        </a:rPr>
                        <a:t>Gaps</a:t>
                      </a:r>
                    </a:p>
                  </a:txBody>
                  <a:tcPr>
                    <a:solidFill>
                      <a:srgbClr val="2F6F9F"/>
                    </a:solidFill>
                  </a:tcPr>
                </a:tc>
                <a:tc>
                  <a:txBody>
                    <a:bodyPr/>
                    <a:lstStyle/>
                    <a:p>
                      <a:r>
                        <a:rPr sz="1200" b="1" i="0">
                          <a:solidFill>
                            <a:srgbClr val="FFFFFF"/>
                          </a:solidFill>
                          <a:latin typeface="Helvetica Neue"/>
                        </a:rPr>
                        <a:t>Error bars</a:t>
                      </a:r>
                    </a:p>
                  </a:txBody>
                  <a:tcPr>
                    <a:solidFill>
                      <a:srgbClr val="2F6F9F"/>
                    </a:solidFill>
                  </a:tcPr>
                </a:tc>
                <a:tc>
                  <a:txBody>
                    <a:bodyPr/>
                    <a:lstStyle/>
                    <a:p>
                      <a:r>
                        <a:rPr sz="1200" b="1" i="0">
                          <a:solidFill>
                            <a:srgbClr val="FFFFFF"/>
                          </a:solidFill>
                          <a:latin typeface="Helvetica Neue"/>
                        </a:rPr>
                        <a:t>Best at</a:t>
                      </a:r>
                    </a:p>
                  </a:txBody>
                  <a:tcPr>
                    <a:solidFill>
                      <a:srgbClr val="2F6F9F"/>
                    </a:solidFill>
                  </a:tcPr>
                </a:tc>
                <a:extLst>
                  <a:ext uri="{0D108BD9-81ED-4DB2-BD59-A6C34878D82A}">
                    <a16:rowId xmlns:a16="http://schemas.microsoft.com/office/drawing/2014/main" val="10000"/>
                  </a:ext>
                </a:extLst>
              </a:tr>
              <a:tr h="384048">
                <a:tc>
                  <a:txBody>
                    <a:bodyPr/>
                    <a:lstStyle/>
                    <a:p>
                      <a:r>
                        <a:rPr sz="1300" b="1" i="0">
                          <a:solidFill>
                            <a:srgbClr val="1A1A1A"/>
                          </a:solidFill>
                          <a:latin typeface="Helvetica Neue"/>
                        </a:rPr>
                        <a:t>Spectral (FFT)</a:t>
                      </a:r>
                    </a:p>
                  </a:txBody>
                  <a:tcPr marT="36576" marB="36576">
                    <a:solidFill>
                      <a:srgbClr val="FFFFFF"/>
                    </a:solidFill>
                  </a:tcPr>
                </a:tc>
                <a:tc>
                  <a:txBody>
                    <a:bodyPr/>
                    <a:lstStyle/>
                    <a:p>
                      <a:r>
                        <a:rPr sz="1300" b="0" i="0">
                          <a:solidFill>
                            <a:srgbClr val="1A1A1A"/>
                          </a:solidFill>
                          <a:latin typeface="Helvetica Neue"/>
                        </a:rPr>
                        <a:t>bandlimited</a:t>
                      </a:r>
                    </a:p>
                  </a:txBody>
                  <a:tcPr marT="36576" marB="36576">
                    <a:solidFill>
                      <a:srgbClr val="FFFFFF"/>
                    </a:solidFill>
                  </a:tcPr>
                </a:tc>
                <a:tc>
                  <a:txBody>
                    <a:bodyPr/>
                    <a:lstStyle/>
                    <a:p>
                      <a:r>
                        <a:rPr sz="1300" b="0" i="0">
                          <a:solidFill>
                            <a:srgbClr val="1A1A1A"/>
                          </a:solidFill>
                          <a:latin typeface="Helvetica Neue"/>
                        </a:rPr>
                        <a:t>1</a:t>
                      </a:r>
                    </a:p>
                  </a:txBody>
                  <a:tcPr marT="36576" marB="36576">
                    <a:solidFill>
                      <a:srgbClr val="FFFFFF"/>
                    </a:solidFill>
                  </a:tcPr>
                </a:tc>
                <a:tc>
                  <a:txBody>
                    <a:bodyPr/>
                    <a:lstStyle/>
                    <a:p>
                      <a:r>
                        <a:rPr sz="1300" b="0" i="0">
                          <a:solidFill>
                            <a:srgbClr val="1A1A1A"/>
                          </a:solidFill>
                          <a:latin typeface="Helvetica Neue"/>
                        </a:rPr>
                        <a:t>poor</a:t>
                      </a:r>
                    </a:p>
                  </a:txBody>
                  <a:tcPr marT="36576" marB="36576">
                    <a:solidFill>
                      <a:srgbClr val="FFFFFF"/>
                    </a:solidFill>
                  </a:tcPr>
                </a:tc>
                <a:tc>
                  <a:txBody>
                    <a:bodyPr/>
                    <a:lstStyle/>
                    <a:p>
                      <a:r>
                        <a:rPr sz="1300" b="0" i="0">
                          <a:solidFill>
                            <a:srgbClr val="1A1A1A"/>
                          </a:solidFill>
                          <a:latin typeface="Helvetica Neue"/>
                        </a:rPr>
                        <a:t>no</a:t>
                      </a:r>
                    </a:p>
                  </a:txBody>
                  <a:tcPr marT="36576" marB="36576">
                    <a:solidFill>
                      <a:srgbClr val="FFFFFF"/>
                    </a:solidFill>
                  </a:tcPr>
                </a:tc>
                <a:tc>
                  <a:txBody>
                    <a:bodyPr/>
                    <a:lstStyle/>
                    <a:p>
                      <a:r>
                        <a:rPr sz="1300" b="0" i="0">
                          <a:solidFill>
                            <a:srgbClr val="1A1A1A"/>
                          </a:solidFill>
                          <a:latin typeface="Helvetica Neue"/>
                        </a:rPr>
                        <a:t>no</a:t>
                      </a:r>
                    </a:p>
                  </a:txBody>
                  <a:tcPr marT="36576" marB="36576">
                    <a:solidFill>
                      <a:srgbClr val="FFFFFF"/>
                    </a:solidFill>
                  </a:tcPr>
                </a:tc>
                <a:tc>
                  <a:txBody>
                    <a:bodyPr/>
                    <a:lstStyle/>
                    <a:p>
                      <a:r>
                        <a:rPr sz="1300" b="0" i="0">
                          <a:solidFill>
                            <a:srgbClr val="1A1A1A"/>
                          </a:solidFill>
                          <a:latin typeface="Helvetica Neue"/>
                        </a:rPr>
                        <a:t>long uniform records</a:t>
                      </a:r>
                    </a:p>
                  </a:txBody>
                  <a:tcPr marT="36576" marB="36576">
                    <a:solidFill>
                      <a:srgbClr val="FFFFFF"/>
                    </a:solidFill>
                  </a:tcPr>
                </a:tc>
                <a:extLst>
                  <a:ext uri="{0D108BD9-81ED-4DB2-BD59-A6C34878D82A}">
                    <a16:rowId xmlns:a16="http://schemas.microsoft.com/office/drawing/2014/main" val="10001"/>
                  </a:ext>
                </a:extLst>
              </a:tr>
              <a:tr h="384048">
                <a:tc>
                  <a:txBody>
                    <a:bodyPr/>
                    <a:lstStyle/>
                    <a:p>
                      <a:r>
                        <a:rPr sz="1300" b="1" i="0">
                          <a:solidFill>
                            <a:srgbClr val="1A1A1A"/>
                          </a:solidFill>
                          <a:latin typeface="Helvetica Neue"/>
                        </a:rPr>
                        <a:t>Savitzky–Golay</a:t>
                      </a:r>
                    </a:p>
                  </a:txBody>
                  <a:tcPr marT="36576" marB="36576">
                    <a:solidFill>
                      <a:srgbClr val="F4F6F8"/>
                    </a:solidFill>
                  </a:tcPr>
                </a:tc>
                <a:tc>
                  <a:txBody>
                    <a:bodyPr/>
                    <a:lstStyle/>
                    <a:p>
                      <a:r>
                        <a:rPr sz="1300" b="0" i="0">
                          <a:solidFill>
                            <a:srgbClr val="1A1A1A"/>
                          </a:solidFill>
                          <a:latin typeface="Helvetica Neue"/>
                        </a:rPr>
                        <a:t>local polynomial</a:t>
                      </a:r>
                    </a:p>
                  </a:txBody>
                  <a:tcPr marT="36576" marB="36576">
                    <a:solidFill>
                      <a:srgbClr val="F4F6F8"/>
                    </a:solidFill>
                  </a:tcPr>
                </a:tc>
                <a:tc>
                  <a:txBody>
                    <a:bodyPr/>
                    <a:lstStyle/>
                    <a:p>
                      <a:r>
                        <a:rPr sz="1300" b="0" i="0">
                          <a:solidFill>
                            <a:srgbClr val="1A1A1A"/>
                          </a:solidFill>
                          <a:latin typeface="Helvetica Neue"/>
                        </a:rPr>
                        <a:t>2</a:t>
                      </a:r>
                    </a:p>
                  </a:txBody>
                  <a:tcPr marT="36576" marB="36576">
                    <a:solidFill>
                      <a:srgbClr val="F4F6F8"/>
                    </a:solidFill>
                  </a:tcPr>
                </a:tc>
                <a:tc>
                  <a:txBody>
                    <a:bodyPr/>
                    <a:lstStyle/>
                    <a:p>
                      <a:r>
                        <a:rPr sz="1300" b="0" i="0">
                          <a:solidFill>
                            <a:srgbClr val="1A1A1A"/>
                          </a:solidFill>
                          <a:latin typeface="Helvetica Neue"/>
                        </a:rPr>
                        <a:t>fair</a:t>
                      </a:r>
                    </a:p>
                  </a:txBody>
                  <a:tcPr marT="36576" marB="36576">
                    <a:solidFill>
                      <a:srgbClr val="F4F6F8"/>
                    </a:solidFill>
                  </a:tcPr>
                </a:tc>
                <a:tc>
                  <a:txBody>
                    <a:bodyPr/>
                    <a:lstStyle/>
                    <a:p>
                      <a:r>
                        <a:rPr sz="1300" b="0" i="0">
                          <a:solidFill>
                            <a:srgbClr val="1A1A1A"/>
                          </a:solidFill>
                          <a:latin typeface="Helvetica Neue"/>
                        </a:rPr>
                        <a:t>no</a:t>
                      </a:r>
                    </a:p>
                  </a:txBody>
                  <a:tcPr marT="36576" marB="36576">
                    <a:solidFill>
                      <a:srgbClr val="F4F6F8"/>
                    </a:solidFill>
                  </a:tcPr>
                </a:tc>
                <a:tc>
                  <a:txBody>
                    <a:bodyPr/>
                    <a:lstStyle/>
                    <a:p>
                      <a:r>
                        <a:rPr sz="1300" b="0" i="0">
                          <a:solidFill>
                            <a:srgbClr val="1A1A1A"/>
                          </a:solidFill>
                          <a:latin typeface="Helvetica Neue"/>
                        </a:rPr>
                        <a:t>no</a:t>
                      </a:r>
                    </a:p>
                  </a:txBody>
                  <a:tcPr marT="36576" marB="36576">
                    <a:solidFill>
                      <a:srgbClr val="F4F6F8"/>
                    </a:solidFill>
                  </a:tcPr>
                </a:tc>
                <a:tc>
                  <a:txBody>
                    <a:bodyPr/>
                    <a:lstStyle/>
                    <a:p>
                      <a:r>
                        <a:rPr sz="1300" b="0" i="0">
                          <a:solidFill>
                            <a:srgbClr val="1A1A1A"/>
                          </a:solidFill>
                          <a:latin typeface="Helvetica Neue"/>
                        </a:rPr>
                        <a:t>quick first derivatives</a:t>
                      </a:r>
                    </a:p>
                  </a:txBody>
                  <a:tcPr marT="36576" marB="36576">
                    <a:solidFill>
                      <a:srgbClr val="F4F6F8"/>
                    </a:solidFill>
                  </a:tcPr>
                </a:tc>
                <a:extLst>
                  <a:ext uri="{0D108BD9-81ED-4DB2-BD59-A6C34878D82A}">
                    <a16:rowId xmlns:a16="http://schemas.microsoft.com/office/drawing/2014/main" val="10002"/>
                  </a:ext>
                </a:extLst>
              </a:tr>
              <a:tr h="384048">
                <a:tc>
                  <a:txBody>
                    <a:bodyPr/>
                    <a:lstStyle/>
                    <a:p>
                      <a:r>
                        <a:rPr sz="1300" b="1" i="0">
                          <a:solidFill>
                            <a:srgbClr val="1A1A1A"/>
                          </a:solidFill>
                          <a:latin typeface="Helvetica Neue"/>
                        </a:rPr>
                        <a:t>Whittaker / Tikhonov</a:t>
                      </a:r>
                    </a:p>
                  </a:txBody>
                  <a:tcPr marT="36576" marB="36576">
                    <a:solidFill>
                      <a:srgbClr val="FFFFFF"/>
                    </a:solidFill>
                  </a:tcPr>
                </a:tc>
                <a:tc>
                  <a:txBody>
                    <a:bodyPr/>
                    <a:lstStyle/>
                    <a:p>
                      <a:r>
                        <a:rPr sz="1300" b="0" i="0">
                          <a:solidFill>
                            <a:srgbClr val="1A1A1A"/>
                          </a:solidFill>
                          <a:latin typeface="Helvetica Neue"/>
                        </a:rPr>
                        <a:t>small p-th deriv.</a:t>
                      </a:r>
                    </a:p>
                  </a:txBody>
                  <a:tcPr marT="36576" marB="36576">
                    <a:solidFill>
                      <a:srgbClr val="FFFFFF"/>
                    </a:solidFill>
                  </a:tcPr>
                </a:tc>
                <a:tc>
                  <a:txBody>
                    <a:bodyPr/>
                    <a:lstStyle/>
                    <a:p>
                      <a:r>
                        <a:rPr sz="1300" b="0" i="0">
                          <a:solidFill>
                            <a:srgbClr val="1A1A1A"/>
                          </a:solidFill>
                          <a:latin typeface="Helvetica Neue"/>
                        </a:rPr>
                        <a:t>1</a:t>
                      </a:r>
                    </a:p>
                  </a:txBody>
                  <a:tcPr marT="36576" marB="36576">
                    <a:solidFill>
                      <a:srgbClr val="FFFFFF"/>
                    </a:solidFill>
                  </a:tcPr>
                </a:tc>
                <a:tc>
                  <a:txBody>
                    <a:bodyPr/>
                    <a:lstStyle/>
                    <a:p>
                      <a:r>
                        <a:rPr sz="1300" b="0" i="0">
                          <a:solidFill>
                            <a:srgbClr val="1A1A1A"/>
                          </a:solidFill>
                          <a:latin typeface="Helvetica Neue"/>
                        </a:rPr>
                        <a:t>good</a:t>
                      </a:r>
                    </a:p>
                  </a:txBody>
                  <a:tcPr marT="36576" marB="36576">
                    <a:solidFill>
                      <a:srgbClr val="FFFFFF"/>
                    </a:solidFill>
                  </a:tcPr>
                </a:tc>
                <a:tc>
                  <a:txBody>
                    <a:bodyPr/>
                    <a:lstStyle/>
                    <a:p>
                      <a:r>
                        <a:rPr sz="1300" b="0" i="0">
                          <a:solidFill>
                            <a:srgbClr val="1A1A1A"/>
                          </a:solidFill>
                          <a:latin typeface="Helvetica Neue"/>
                        </a:rPr>
                        <a:t>no</a:t>
                      </a:r>
                    </a:p>
                  </a:txBody>
                  <a:tcPr marT="36576" marB="36576">
                    <a:solidFill>
                      <a:srgbClr val="FFFFFF"/>
                    </a:solidFill>
                  </a:tcPr>
                </a:tc>
                <a:tc>
                  <a:txBody>
                    <a:bodyPr/>
                    <a:lstStyle/>
                    <a:p>
                      <a:r>
                        <a:rPr sz="1300" b="0" i="0">
                          <a:solidFill>
                            <a:srgbClr val="1A1A1A"/>
                          </a:solidFill>
                          <a:latin typeface="Helvetica Neue"/>
                        </a:rPr>
                        <a:t>no</a:t>
                      </a:r>
                    </a:p>
                  </a:txBody>
                  <a:tcPr marT="36576" marB="36576">
                    <a:solidFill>
                      <a:srgbClr val="FFFFFF"/>
                    </a:solidFill>
                  </a:tcPr>
                </a:tc>
                <a:tc>
                  <a:txBody>
                    <a:bodyPr/>
                    <a:lstStyle/>
                    <a:p>
                      <a:r>
                        <a:rPr sz="1300" b="0" i="0">
                          <a:solidFill>
                            <a:srgbClr val="1A1A1A"/>
                          </a:solidFill>
                          <a:latin typeface="Helvetica Neue"/>
                        </a:rPr>
                        <a:t>smooth data, both directions</a:t>
                      </a:r>
                    </a:p>
                  </a:txBody>
                  <a:tcPr marT="36576" marB="36576">
                    <a:solidFill>
                      <a:srgbClr val="FFFFFF"/>
                    </a:solidFill>
                  </a:tcPr>
                </a:tc>
                <a:extLst>
                  <a:ext uri="{0D108BD9-81ED-4DB2-BD59-A6C34878D82A}">
                    <a16:rowId xmlns:a16="http://schemas.microsoft.com/office/drawing/2014/main" val="10003"/>
                  </a:ext>
                </a:extLst>
              </a:tr>
              <a:tr h="384048">
                <a:tc>
                  <a:txBody>
                    <a:bodyPr/>
                    <a:lstStyle/>
                    <a:p>
                      <a:r>
                        <a:rPr sz="1300" b="1" i="0">
                          <a:solidFill>
                            <a:srgbClr val="1A1A1A"/>
                          </a:solidFill>
                          <a:latin typeface="Helvetica Neue"/>
                        </a:rPr>
                        <a:t>Smoothing spline</a:t>
                      </a:r>
                    </a:p>
                  </a:txBody>
                  <a:tcPr marT="36576" marB="36576">
                    <a:solidFill>
                      <a:srgbClr val="F4F6F8"/>
                    </a:solidFill>
                  </a:tcPr>
                </a:tc>
                <a:tc>
                  <a:txBody>
                    <a:bodyPr/>
                    <a:lstStyle/>
                    <a:p>
                      <a:r>
                        <a:rPr sz="1300" b="0" i="0">
                          <a:solidFill>
                            <a:srgbClr val="1A1A1A"/>
                          </a:solidFill>
                          <a:latin typeface="Helvetica Neue"/>
                        </a:rPr>
                        <a:t>small p-th deriv.</a:t>
                      </a:r>
                    </a:p>
                  </a:txBody>
                  <a:tcPr marT="36576" marB="36576">
                    <a:solidFill>
                      <a:srgbClr val="F4F6F8"/>
                    </a:solidFill>
                  </a:tcPr>
                </a:tc>
                <a:tc>
                  <a:txBody>
                    <a:bodyPr/>
                    <a:lstStyle/>
                    <a:p>
                      <a:r>
                        <a:rPr sz="1300" b="0" i="0">
                          <a:solidFill>
                            <a:srgbClr val="1A1A1A"/>
                          </a:solidFill>
                          <a:latin typeface="Helvetica Neue"/>
                        </a:rPr>
                        <a:t>1</a:t>
                      </a:r>
                    </a:p>
                  </a:txBody>
                  <a:tcPr marT="36576" marB="36576">
                    <a:solidFill>
                      <a:srgbClr val="F4F6F8"/>
                    </a:solidFill>
                  </a:tcPr>
                </a:tc>
                <a:tc>
                  <a:txBody>
                    <a:bodyPr/>
                    <a:lstStyle/>
                    <a:p>
                      <a:r>
                        <a:rPr sz="1300" b="0" i="0">
                          <a:solidFill>
                            <a:srgbClr val="1A1A1A"/>
                          </a:solidFill>
                          <a:latin typeface="Helvetica Neue"/>
                        </a:rPr>
                        <a:t>good</a:t>
                      </a:r>
                    </a:p>
                  </a:txBody>
                  <a:tcPr marT="36576" marB="36576">
                    <a:solidFill>
                      <a:srgbClr val="F4F6F8"/>
                    </a:solidFill>
                  </a:tcPr>
                </a:tc>
                <a:tc>
                  <a:txBody>
                    <a:bodyPr/>
                    <a:lstStyle/>
                    <a:p>
                      <a:r>
                        <a:rPr sz="1300" b="0" i="0">
                          <a:solidFill>
                            <a:srgbClr val="1A1A1A"/>
                          </a:solidFill>
                          <a:latin typeface="Helvetica Neue"/>
                        </a:rPr>
                        <a:t>yes</a:t>
                      </a:r>
                    </a:p>
                  </a:txBody>
                  <a:tcPr marT="36576" marB="36576">
                    <a:solidFill>
                      <a:srgbClr val="F4F6F8"/>
                    </a:solidFill>
                  </a:tcPr>
                </a:tc>
                <a:tc>
                  <a:txBody>
                    <a:bodyPr/>
                    <a:lstStyle/>
                    <a:p>
                      <a:r>
                        <a:rPr sz="1300" b="0" i="0">
                          <a:solidFill>
                            <a:srgbClr val="1A1A1A"/>
                          </a:solidFill>
                          <a:latin typeface="Helvetica Neue"/>
                        </a:rPr>
                        <a:t>no</a:t>
                      </a:r>
                    </a:p>
                  </a:txBody>
                  <a:tcPr marT="36576" marB="36576">
                    <a:solidFill>
                      <a:srgbClr val="F4F6F8"/>
                    </a:solidFill>
                  </a:tcPr>
                </a:tc>
                <a:tc>
                  <a:txBody>
                    <a:bodyPr/>
                    <a:lstStyle/>
                    <a:p>
                      <a:r>
                        <a:rPr sz="1300" b="0" i="0">
                          <a:solidFill>
                            <a:srgbClr val="1A1A1A"/>
                          </a:solidFill>
                          <a:latin typeface="Helvetica Neue"/>
                        </a:rPr>
                        <a:t>non-uniform sampling</a:t>
                      </a:r>
                    </a:p>
                  </a:txBody>
                  <a:tcPr marT="36576" marB="36576">
                    <a:solidFill>
                      <a:srgbClr val="F4F6F8"/>
                    </a:solidFill>
                  </a:tcPr>
                </a:tc>
                <a:extLst>
                  <a:ext uri="{0D108BD9-81ED-4DB2-BD59-A6C34878D82A}">
                    <a16:rowId xmlns:a16="http://schemas.microsoft.com/office/drawing/2014/main" val="10004"/>
                  </a:ext>
                </a:extLst>
              </a:tr>
              <a:tr h="384048">
                <a:tc>
                  <a:txBody>
                    <a:bodyPr/>
                    <a:lstStyle/>
                    <a:p>
                      <a:r>
                        <a:rPr sz="1300" b="1" i="0">
                          <a:solidFill>
                            <a:srgbClr val="1A1A1A"/>
                          </a:solidFill>
                          <a:latin typeface="Helvetica Neue"/>
                        </a:rPr>
                        <a:t>Total variation</a:t>
                      </a:r>
                    </a:p>
                  </a:txBody>
                  <a:tcPr marT="36576" marB="36576">
                    <a:solidFill>
                      <a:srgbClr val="FFFFFF"/>
                    </a:solidFill>
                  </a:tcPr>
                </a:tc>
                <a:tc>
                  <a:txBody>
                    <a:bodyPr/>
                    <a:lstStyle/>
                    <a:p>
                      <a:r>
                        <a:rPr sz="1300" b="0" i="0">
                          <a:solidFill>
                            <a:srgbClr val="1A1A1A"/>
                          </a:solidFill>
                          <a:latin typeface="Helvetica Neue"/>
                        </a:rPr>
                        <a:t>piecewise-const.</a:t>
                      </a:r>
                    </a:p>
                  </a:txBody>
                  <a:tcPr marT="36576" marB="36576">
                    <a:solidFill>
                      <a:srgbClr val="FFFFFF"/>
                    </a:solidFill>
                  </a:tcPr>
                </a:tc>
                <a:tc>
                  <a:txBody>
                    <a:bodyPr/>
                    <a:lstStyle/>
                    <a:p>
                      <a:r>
                        <a:rPr sz="1300" b="0" i="0">
                          <a:solidFill>
                            <a:srgbClr val="1A1A1A"/>
                          </a:solidFill>
                          <a:latin typeface="Helvetica Neue"/>
                        </a:rPr>
                        <a:t>1</a:t>
                      </a:r>
                    </a:p>
                  </a:txBody>
                  <a:tcPr marT="36576" marB="36576">
                    <a:solidFill>
                      <a:srgbClr val="FFFFFF"/>
                    </a:solidFill>
                  </a:tcPr>
                </a:tc>
                <a:tc>
                  <a:txBody>
                    <a:bodyPr/>
                    <a:lstStyle/>
                    <a:p>
                      <a:r>
                        <a:rPr sz="1300" b="0" i="0">
                          <a:solidFill>
                            <a:srgbClr val="1A1A1A"/>
                          </a:solidFill>
                          <a:latin typeface="Helvetica Neue"/>
                        </a:rPr>
                        <a:t>good</a:t>
                      </a:r>
                    </a:p>
                  </a:txBody>
                  <a:tcPr marT="36576" marB="36576">
                    <a:solidFill>
                      <a:srgbClr val="FFFFFF"/>
                    </a:solidFill>
                  </a:tcPr>
                </a:tc>
                <a:tc>
                  <a:txBody>
                    <a:bodyPr/>
                    <a:lstStyle/>
                    <a:p>
                      <a:r>
                        <a:rPr sz="1300" b="0" i="0">
                          <a:solidFill>
                            <a:srgbClr val="1A1A1A"/>
                          </a:solidFill>
                          <a:latin typeface="Helvetica Neue"/>
                        </a:rPr>
                        <a:t>no</a:t>
                      </a:r>
                    </a:p>
                  </a:txBody>
                  <a:tcPr marT="36576" marB="36576">
                    <a:solidFill>
                      <a:srgbClr val="FFFFFF"/>
                    </a:solidFill>
                  </a:tcPr>
                </a:tc>
                <a:tc>
                  <a:txBody>
                    <a:bodyPr/>
                    <a:lstStyle/>
                    <a:p>
                      <a:r>
                        <a:rPr sz="1300" b="0" i="0">
                          <a:solidFill>
                            <a:srgbClr val="1A1A1A"/>
                          </a:solidFill>
                          <a:latin typeface="Helvetica Neue"/>
                        </a:rPr>
                        <a:t>no</a:t>
                      </a:r>
                    </a:p>
                  </a:txBody>
                  <a:tcPr marT="36576" marB="36576">
                    <a:solidFill>
                      <a:srgbClr val="FFFFFF"/>
                    </a:solidFill>
                  </a:tcPr>
                </a:tc>
                <a:tc>
                  <a:txBody>
                    <a:bodyPr/>
                    <a:lstStyle/>
                    <a:p>
                      <a:r>
                        <a:rPr sz="1300" b="0" i="0">
                          <a:solidFill>
                            <a:srgbClr val="1A1A1A"/>
                          </a:solidFill>
                          <a:latin typeface="Helvetica Neue"/>
                        </a:rPr>
                        <a:t>impacts, stick–slip</a:t>
                      </a:r>
                    </a:p>
                  </a:txBody>
                  <a:tcPr marT="36576" marB="36576">
                    <a:solidFill>
                      <a:srgbClr val="FFFFFF"/>
                    </a:solidFill>
                  </a:tcPr>
                </a:tc>
                <a:extLst>
                  <a:ext uri="{0D108BD9-81ED-4DB2-BD59-A6C34878D82A}">
                    <a16:rowId xmlns:a16="http://schemas.microsoft.com/office/drawing/2014/main" val="10005"/>
                  </a:ext>
                </a:extLst>
              </a:tr>
              <a:tr h="384048">
                <a:tc>
                  <a:txBody>
                    <a:bodyPr/>
                    <a:lstStyle/>
                    <a:p>
                      <a:r>
                        <a:rPr sz="1300" b="1" i="0">
                          <a:solidFill>
                            <a:srgbClr val="1A1A1A"/>
                          </a:solidFill>
                          <a:latin typeface="Helvetica Neue"/>
                        </a:rPr>
                        <a:t>State-space smoother</a:t>
                      </a:r>
                    </a:p>
                  </a:txBody>
                  <a:tcPr marT="36576" marB="36576">
                    <a:solidFill>
                      <a:srgbClr val="F4F6F8"/>
                    </a:solidFill>
                  </a:tcPr>
                </a:tc>
                <a:tc>
                  <a:txBody>
                    <a:bodyPr/>
                    <a:lstStyle/>
                    <a:p>
                      <a:r>
                        <a:rPr sz="1300" b="0" i="0">
                          <a:solidFill>
                            <a:srgbClr val="1A1A1A"/>
                          </a:solidFill>
                          <a:latin typeface="Helvetica Neue"/>
                        </a:rPr>
                        <a:t>integrated Wiener</a:t>
                      </a:r>
                    </a:p>
                  </a:txBody>
                  <a:tcPr marT="36576" marB="36576">
                    <a:solidFill>
                      <a:srgbClr val="F4F6F8"/>
                    </a:solidFill>
                  </a:tcPr>
                </a:tc>
                <a:tc>
                  <a:txBody>
                    <a:bodyPr/>
                    <a:lstStyle/>
                    <a:p>
                      <a:r>
                        <a:rPr sz="1300" b="0" i="0">
                          <a:solidFill>
                            <a:srgbClr val="1A1A1A"/>
                          </a:solidFill>
                          <a:latin typeface="Helvetica Neue"/>
                        </a:rPr>
                        <a:t>0</a:t>
                      </a:r>
                    </a:p>
                  </a:txBody>
                  <a:tcPr marT="36576" marB="36576">
                    <a:solidFill>
                      <a:srgbClr val="F4F6F8"/>
                    </a:solidFill>
                  </a:tcPr>
                </a:tc>
                <a:tc>
                  <a:txBody>
                    <a:bodyPr/>
                    <a:lstStyle/>
                    <a:p>
                      <a:r>
                        <a:rPr sz="1300" b="0" i="0">
                          <a:solidFill>
                            <a:srgbClr val="1A1A1A"/>
                          </a:solidFill>
                          <a:latin typeface="Helvetica Neue"/>
                        </a:rPr>
                        <a:t>good</a:t>
                      </a:r>
                    </a:p>
                  </a:txBody>
                  <a:tcPr marT="36576" marB="36576">
                    <a:solidFill>
                      <a:srgbClr val="F4F6F8"/>
                    </a:solidFill>
                  </a:tcPr>
                </a:tc>
                <a:tc>
                  <a:txBody>
                    <a:bodyPr/>
                    <a:lstStyle/>
                    <a:p>
                      <a:r>
                        <a:rPr sz="1300" b="0" i="0">
                          <a:solidFill>
                            <a:srgbClr val="1A1A1A"/>
                          </a:solidFill>
                          <a:latin typeface="Helvetica Neue"/>
                        </a:rPr>
                        <a:t>yes</a:t>
                      </a:r>
                    </a:p>
                  </a:txBody>
                  <a:tcPr marT="36576" marB="36576">
                    <a:solidFill>
                      <a:srgbClr val="F4F6F8"/>
                    </a:solidFill>
                  </a:tcPr>
                </a:tc>
                <a:tc>
                  <a:txBody>
                    <a:bodyPr/>
                    <a:lstStyle/>
                    <a:p>
                      <a:r>
                        <a:rPr sz="1300" b="0" i="0">
                          <a:solidFill>
                            <a:srgbClr val="1A1A1A"/>
                          </a:solidFill>
                          <a:latin typeface="Helvetica Neue"/>
                        </a:rPr>
                        <a:t>yes</a:t>
                      </a:r>
                    </a:p>
                  </a:txBody>
                  <a:tcPr marT="36576" marB="36576">
                    <a:solidFill>
                      <a:srgbClr val="F4F6F8"/>
                    </a:solidFill>
                  </a:tcPr>
                </a:tc>
                <a:tc>
                  <a:txBody>
                    <a:bodyPr/>
                    <a:lstStyle/>
                    <a:p>
                      <a:r>
                        <a:rPr sz="1300" b="0" i="0">
                          <a:solidFill>
                            <a:srgbClr val="1A1A1A"/>
                          </a:solidFill>
                          <a:latin typeface="Helvetica Neue"/>
                        </a:rPr>
                        <a:t>everything else, and fusion</a:t>
                      </a:r>
                    </a:p>
                  </a:txBody>
                  <a:tcPr marT="36576" marB="36576">
                    <a:solidFill>
                      <a:srgbClr val="F4F6F8"/>
                    </a:solidFill>
                  </a:tcPr>
                </a:tc>
                <a:extLst>
                  <a:ext uri="{0D108BD9-81ED-4DB2-BD59-A6C34878D82A}">
                    <a16:rowId xmlns:a16="http://schemas.microsoft.com/office/drawing/2014/main" val="10006"/>
                  </a:ext>
                </a:extLst>
              </a:tr>
              <a:tr h="384048">
                <a:tc>
                  <a:txBody>
                    <a:bodyPr/>
                    <a:lstStyle/>
                    <a:p>
                      <a:r>
                        <a:rPr sz="1300" b="1" i="0">
                          <a:solidFill>
                            <a:srgbClr val="1A1A1A"/>
                          </a:solidFill>
                          <a:latin typeface="Helvetica Neue"/>
                        </a:rPr>
                        <a:t>Levant sliding mode</a:t>
                      </a:r>
                    </a:p>
                  </a:txBody>
                  <a:tcPr marT="36576" marB="36576">
                    <a:solidFill>
                      <a:srgbClr val="FFFFFF"/>
                    </a:solidFill>
                  </a:tcPr>
                </a:tc>
                <a:tc>
                  <a:txBody>
                    <a:bodyPr/>
                    <a:lstStyle/>
                    <a:p>
                      <a:r>
                        <a:rPr sz="1300" b="0" i="0">
                          <a:solidFill>
                            <a:srgbClr val="1A1A1A"/>
                          </a:solidFill>
                          <a:latin typeface="Helvetica Neue"/>
                        </a:rPr>
                        <a:t>bounded deriv.</a:t>
                      </a:r>
                    </a:p>
                  </a:txBody>
                  <a:tcPr marT="36576" marB="36576">
                    <a:solidFill>
                      <a:srgbClr val="FFFFFF"/>
                    </a:solidFill>
                  </a:tcPr>
                </a:tc>
                <a:tc>
                  <a:txBody>
                    <a:bodyPr/>
                    <a:lstStyle/>
                    <a:p>
                      <a:r>
                        <a:rPr sz="1300" b="0" i="0">
                          <a:solidFill>
                            <a:srgbClr val="1A1A1A"/>
                          </a:solidFill>
                          <a:latin typeface="Helvetica Neue"/>
                        </a:rPr>
                        <a:t>2</a:t>
                      </a:r>
                    </a:p>
                  </a:txBody>
                  <a:tcPr marT="36576" marB="36576">
                    <a:solidFill>
                      <a:srgbClr val="FFFFFF"/>
                    </a:solidFill>
                  </a:tcPr>
                </a:tc>
                <a:tc>
                  <a:txBody>
                    <a:bodyPr/>
                    <a:lstStyle/>
                    <a:p>
                      <a:r>
                        <a:rPr sz="1300" b="0" i="0">
                          <a:solidFill>
                            <a:srgbClr val="1A1A1A"/>
                          </a:solidFill>
                          <a:latin typeface="Helvetica Neue"/>
                        </a:rPr>
                        <a:t>n/a</a:t>
                      </a:r>
                    </a:p>
                  </a:txBody>
                  <a:tcPr marT="36576" marB="36576">
                    <a:solidFill>
                      <a:srgbClr val="FFFFFF"/>
                    </a:solidFill>
                  </a:tcPr>
                </a:tc>
                <a:tc>
                  <a:txBody>
                    <a:bodyPr/>
                    <a:lstStyle/>
                    <a:p>
                      <a:r>
                        <a:rPr sz="1300" b="0" i="0">
                          <a:solidFill>
                            <a:srgbClr val="1A1A1A"/>
                          </a:solidFill>
                          <a:latin typeface="Helvetica Neue"/>
                        </a:rPr>
                        <a:t>no</a:t>
                      </a:r>
                    </a:p>
                  </a:txBody>
                  <a:tcPr marT="36576" marB="36576">
                    <a:solidFill>
                      <a:srgbClr val="FFFFFF"/>
                    </a:solidFill>
                  </a:tcPr>
                </a:tc>
                <a:tc>
                  <a:txBody>
                    <a:bodyPr/>
                    <a:lstStyle/>
                    <a:p>
                      <a:r>
                        <a:rPr sz="1300" b="0" i="0">
                          <a:solidFill>
                            <a:srgbClr val="1A1A1A"/>
                          </a:solidFill>
                          <a:latin typeface="Helvetica Neue"/>
                        </a:rPr>
                        <a:t>no</a:t>
                      </a:r>
                    </a:p>
                  </a:txBody>
                  <a:tcPr marT="36576" marB="36576">
                    <a:solidFill>
                      <a:srgbClr val="FFFFFF"/>
                    </a:solidFill>
                  </a:tcPr>
                </a:tc>
                <a:tc>
                  <a:txBody>
                    <a:bodyPr/>
                    <a:lstStyle/>
                    <a:p>
                      <a:r>
                        <a:rPr sz="1300" b="0" i="0">
                          <a:solidFill>
                            <a:srgbClr val="1A1A1A"/>
                          </a:solidFill>
                          <a:latin typeface="Helvetica Neue"/>
                        </a:rPr>
                        <a:t>online / control loops</a:t>
                      </a:r>
                    </a:p>
                  </a:txBody>
                  <a:tcPr marT="36576" marB="36576">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What to actually do</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0"/>
            <a:ext cx="11064240" cy="411480"/>
          </a:xfrm>
          <a:prstGeom prst="rect">
            <a:avLst/>
          </a:prstGeom>
          <a:noFill/>
        </p:spPr>
        <p:txBody>
          <a:bodyPr wrap="square" lIns="0" tIns="0" rIns="0" bIns="0">
            <a:spAutoFit/>
          </a:bodyPr>
          <a:lstStyle/>
          <a:p>
            <a:r>
              <a:rPr sz="1600" b="0" i="1">
                <a:solidFill>
                  <a:srgbClr val="6B7280"/>
                </a:solidFill>
                <a:latin typeface="Helvetica Neue"/>
              </a:rPr>
              <a:t>A decision list, in the order the questions actually arise</a:t>
            </a:r>
          </a:p>
        </p:txBody>
      </p:sp>
      <p:sp>
        <p:nvSpPr>
          <p:cNvPr id="5" name="TextBox 4"/>
          <p:cNvSpPr txBox="1"/>
          <p:nvPr/>
        </p:nvSpPr>
        <p:spPr>
          <a:xfrm>
            <a:off x="658368" y="1691640"/>
            <a:ext cx="10881360" cy="4709160"/>
          </a:xfrm>
          <a:prstGeom prst="rect">
            <a:avLst/>
          </a:prstGeom>
          <a:noFill/>
        </p:spPr>
        <p:txBody>
          <a:bodyPr wrap="square" lIns="0" tIns="0" rIns="0" bIns="0">
            <a:spAutoFit/>
          </a:bodyPr>
          <a:lstStyle/>
          <a:p>
            <a:pPr>
              <a:spcAft>
                <a:spcPts val="1100"/>
              </a:spcAft>
            </a:pPr>
            <a:r>
              <a:rPr sz="1800" b="1" i="0">
                <a:solidFill>
                  <a:srgbClr val="2F6F9F"/>
                </a:solidFill>
                <a:latin typeface="Helvetica Neue"/>
              </a:rPr>
              <a:t>—  </a:t>
            </a:r>
            <a:r>
              <a:rPr sz="1800" b="0" i="0">
                <a:solidFill>
                  <a:srgbClr val="1A1A1A"/>
                </a:solidFill>
                <a:latin typeface="Helvetica Neue"/>
              </a:rPr>
              <a:t>Smooth data, one sensor, want it simple  →  Whittaker–Henderson, cutoff from physics.</a:t>
            </a:r>
          </a:p>
          <a:p>
            <a:pPr>
              <a:spcAft>
                <a:spcPts val="1100"/>
              </a:spcAft>
            </a:pPr>
            <a:r>
              <a:rPr sz="1800" b="1" i="0">
                <a:solidFill>
                  <a:srgbClr val="2F6F9F"/>
                </a:solidFill>
                <a:latin typeface="Helvetica Neue"/>
              </a:rPr>
              <a:t>—  </a:t>
            </a:r>
            <a:r>
              <a:rPr sz="1800" b="0" i="0">
                <a:solidFill>
                  <a:srgbClr val="1A1A1A"/>
                </a:solidFill>
                <a:latin typeface="Helvetica Neue"/>
              </a:rPr>
              <a:t>Smooth data, want no knob or need uncertainty  →  state-space smoother, nstate = 4 (5 if very clean).</a:t>
            </a:r>
          </a:p>
          <a:p>
            <a:pPr>
              <a:spcAft>
                <a:spcPts val="1100"/>
              </a:spcAft>
            </a:pPr>
            <a:r>
              <a:rPr sz="1800" b="1" i="0">
                <a:solidFill>
                  <a:srgbClr val="2F6F9F"/>
                </a:solidFill>
                <a:latin typeface="Helvetica Neue"/>
              </a:rPr>
              <a:t>—  </a:t>
            </a:r>
            <a:r>
              <a:rPr sz="1800" b="0" i="0">
                <a:solidFill>
                  <a:srgbClr val="1A1A1A"/>
                </a:solidFill>
                <a:latin typeface="Helvetica Neue"/>
              </a:rPr>
              <a:t>Two sensors  →  always fuse them in one smoother. Never process them separately and reconcile after.</a:t>
            </a:r>
          </a:p>
          <a:p>
            <a:pPr>
              <a:spcAft>
                <a:spcPts val="1100"/>
              </a:spcAft>
            </a:pPr>
            <a:r>
              <a:rPr sz="1800" b="1" i="0">
                <a:solidFill>
                  <a:srgbClr val="2F6F9F"/>
                </a:solidFill>
                <a:latin typeface="Helvetica Neue"/>
              </a:rPr>
              <a:t>—  </a:t>
            </a:r>
            <a:r>
              <a:rPr sz="1800" b="0" i="0">
                <a:solidFill>
                  <a:srgbClr val="1A1A1A"/>
                </a:solidFill>
                <a:latin typeface="Helvetica Neue"/>
              </a:rPr>
              <a:t>Impacts, backlash, stick–slip  →  total variation, and check that the solver converged.</a:t>
            </a:r>
          </a:p>
          <a:p>
            <a:pPr>
              <a:spcAft>
                <a:spcPts val="1100"/>
              </a:spcAft>
            </a:pPr>
            <a:r>
              <a:rPr sz="1800" b="1" i="0">
                <a:solidFill>
                  <a:srgbClr val="2F6F9F"/>
                </a:solidFill>
                <a:latin typeface="Helvetica Neue"/>
              </a:rPr>
              <a:t>—  </a:t>
            </a:r>
            <a:r>
              <a:rPr sz="1800" b="0" i="0">
                <a:solidFill>
                  <a:srgbClr val="1A1A1A"/>
                </a:solidFill>
                <a:latin typeface="Helvetica Neue"/>
              </a:rPr>
              <a:t>Integrating acceleration alone  →  Tikhonov or a bias-state smoother; report the high-pass corner.</a:t>
            </a:r>
          </a:p>
          <a:p>
            <a:pPr>
              <a:spcAft>
                <a:spcPts val="1100"/>
              </a:spcAft>
            </a:pPr>
            <a:r>
              <a:rPr sz="1800" b="1" i="0">
                <a:solidFill>
                  <a:srgbClr val="2F6F9F"/>
                </a:solidFill>
                <a:latin typeface="Helvetica Neue"/>
              </a:rPr>
              <a:t>—  </a:t>
            </a:r>
            <a:r>
              <a:rPr sz="1800" b="0" i="0">
                <a:solidFill>
                  <a:srgbClr val="1A1A1A"/>
                </a:solidFill>
                <a:latin typeface="Helvetica Neue"/>
              </a:rPr>
              <a:t>Online or in a control loop  →  Levant's differentiator; everything else here is offline and zero-phase.</a:t>
            </a:r>
          </a:p>
          <a:p>
            <a:pPr>
              <a:spcAft>
                <a:spcPts val="1100"/>
              </a:spcAft>
            </a:pPr>
            <a:r>
              <a:rPr sz="1800" b="1" i="0">
                <a:solidFill>
                  <a:srgbClr val="2F6F9F"/>
                </a:solidFill>
                <a:latin typeface="Helvetica Neue"/>
              </a:rPr>
              <a:t>—  </a:t>
            </a:r>
            <a:r>
              <a:rPr sz="1800" b="0" i="0">
                <a:solidFill>
                  <a:srgbClr val="1A1A1A"/>
                </a:solidFill>
                <a:latin typeface="Helvetica Neue"/>
              </a:rPr>
              <a:t>Never: a bare finite difference, or a bare cumulative trapezoid.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Validating on a record with no ground truth</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0"/>
            <a:ext cx="11064240" cy="411480"/>
          </a:xfrm>
          <a:prstGeom prst="rect">
            <a:avLst/>
          </a:prstGeom>
          <a:noFill/>
        </p:spPr>
        <p:txBody>
          <a:bodyPr wrap="square" lIns="0" tIns="0" rIns="0" bIns="0">
            <a:spAutoFit/>
          </a:bodyPr>
          <a:lstStyle/>
          <a:p>
            <a:r>
              <a:rPr sz="1600" b="0" i="1">
                <a:solidFill>
                  <a:srgbClr val="6B7280"/>
                </a:solidFill>
                <a:latin typeface="Helvetica Neue"/>
              </a:rPr>
              <a:t>Four checks that cost minutes and one habit that costs nothing</a:t>
            </a:r>
          </a:p>
        </p:txBody>
      </p:sp>
      <p:sp>
        <p:nvSpPr>
          <p:cNvPr id="5" name="TextBox 4"/>
          <p:cNvSpPr txBox="1"/>
          <p:nvPr/>
        </p:nvSpPr>
        <p:spPr>
          <a:xfrm>
            <a:off x="658368" y="1691640"/>
            <a:ext cx="10881360" cy="4709160"/>
          </a:xfrm>
          <a:prstGeom prst="rect">
            <a:avLst/>
          </a:prstGeom>
          <a:noFill/>
        </p:spPr>
        <p:txBody>
          <a:bodyPr wrap="square" lIns="0" tIns="0" rIns="0" bIns="0">
            <a:spAutoFit/>
          </a:bodyPr>
          <a:lstStyle/>
          <a:p>
            <a:pPr>
              <a:spcAft>
                <a:spcPts val="1100"/>
              </a:spcAft>
            </a:pPr>
            <a:r>
              <a:rPr sz="1800" b="1" i="0">
                <a:solidFill>
                  <a:srgbClr val="2F6F9F"/>
                </a:solidFill>
                <a:latin typeface="Helvetica Neue"/>
              </a:rPr>
              <a:t>—  </a:t>
            </a:r>
            <a:r>
              <a:rPr sz="1800" b="0" i="0">
                <a:solidFill>
                  <a:srgbClr val="1A1A1A"/>
                </a:solidFill>
                <a:latin typeface="Helvetica Neue"/>
              </a:rPr>
              <a:t>Everything shown here was measured against an exact solution. On your data you have none — so:</a:t>
            </a:r>
          </a:p>
          <a:p>
            <a:pPr>
              <a:spcAft>
                <a:spcPts val="1100"/>
              </a:spcAft>
            </a:pPr>
            <a:r>
              <a:rPr sz="1800" b="1" i="0">
                <a:solidFill>
                  <a:srgbClr val="2F6F9F"/>
                </a:solidFill>
                <a:latin typeface="Helvetica Neue"/>
              </a:rPr>
              <a:t>—  </a:t>
            </a:r>
            <a:r>
              <a:rPr sz="1800" b="0" i="0">
                <a:solidFill>
                  <a:srgbClr val="1A1A1A"/>
                </a:solidFill>
                <a:latin typeface="Helvetica Neue"/>
              </a:rPr>
              <a:t>Cross-check. Differentiate the estimated displacement twice; compare with the measured acceleration in the band you trust.</a:t>
            </a:r>
          </a:p>
          <a:p>
            <a:pPr>
              <a:spcAft>
                <a:spcPts val="1100"/>
              </a:spcAft>
            </a:pPr>
            <a:r>
              <a:rPr sz="1800" b="1" i="0">
                <a:solidFill>
                  <a:srgbClr val="2F6F9F"/>
                </a:solidFill>
                <a:latin typeface="Helvetica Neue"/>
              </a:rPr>
              <a:t>—  </a:t>
            </a:r>
            <a:r>
              <a:rPr sz="1800" b="0" i="0">
                <a:solidFill>
                  <a:srgbClr val="1A1A1A"/>
                </a:solidFill>
                <a:latin typeface="Helvetica Neue"/>
              </a:rPr>
              <a:t>Read the posterior band. If the feature you are interpreting is narrower than ±2σ, it is not there.</a:t>
            </a:r>
          </a:p>
          <a:p>
            <a:pPr>
              <a:spcAft>
                <a:spcPts val="1100"/>
              </a:spcAft>
            </a:pPr>
            <a:r>
              <a:rPr sz="1800" b="1" i="0">
                <a:solidFill>
                  <a:srgbClr val="2F6F9F"/>
                </a:solidFill>
                <a:latin typeface="Helvetica Neue"/>
              </a:rPr>
              <a:t>—  </a:t>
            </a:r>
            <a:r>
              <a:rPr sz="1800" b="0" i="0">
                <a:solidFill>
                  <a:srgbClr val="1A1A1A"/>
                </a:solidFill>
                <a:latin typeface="Helvetica Neue"/>
              </a:rPr>
              <a:t>Move the knob. Change the cutoff by a factor of two either way; if the answer moves more than the band, report that.</a:t>
            </a:r>
          </a:p>
          <a:p>
            <a:pPr>
              <a:spcAft>
                <a:spcPts val="1100"/>
              </a:spcAft>
            </a:pPr>
            <a:r>
              <a:rPr sz="1800" b="1" i="0">
                <a:solidFill>
                  <a:srgbClr val="2F6F9F"/>
                </a:solidFill>
                <a:latin typeface="Helvetica Neue"/>
              </a:rPr>
              <a:t>—  </a:t>
            </a:r>
            <a:r>
              <a:rPr sz="1800" b="0" i="0">
                <a:solidFill>
                  <a:srgbClr val="1A1A1A"/>
                </a:solidFill>
                <a:latin typeface="Helvetica Neue"/>
              </a:rPr>
              <a:t>Hold out a channel. With two sensors, fit on one and predict the other — the honest test.</a:t>
            </a:r>
          </a:p>
          <a:p>
            <a:pPr>
              <a:spcAft>
                <a:spcPts val="1100"/>
              </a:spcAft>
            </a:pPr>
            <a:r>
              <a:rPr sz="1800" b="1" i="0">
                <a:solidFill>
                  <a:srgbClr val="2F6F9F"/>
                </a:solidFill>
                <a:latin typeface="Helvetica Neue"/>
              </a:rPr>
              <a:t>—  </a:t>
            </a:r>
            <a:r>
              <a:rPr sz="1800" b="0" i="0">
                <a:solidFill>
                  <a:srgbClr val="1A1A1A"/>
                </a:solidFill>
                <a:latin typeface="Helvetica Neue"/>
              </a:rPr>
              <a:t>State your choices. Method, cutoff or high-pass corner, and solver convergence, alongside the sampling rate.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Summary</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691640"/>
            <a:ext cx="10881360" cy="4709160"/>
          </a:xfrm>
          <a:prstGeom prst="rect">
            <a:avLst/>
          </a:prstGeom>
          <a:noFill/>
        </p:spPr>
        <p:txBody>
          <a:bodyPr wrap="square" lIns="0" tIns="0" rIns="0" bIns="0">
            <a:spAutoFit/>
          </a:bodyPr>
          <a:lstStyle/>
          <a:p>
            <a:pPr>
              <a:spcAft>
                <a:spcPts val="1100"/>
              </a:spcAft>
            </a:pPr>
            <a:r>
              <a:rPr sz="1900" b="1" i="0">
                <a:solidFill>
                  <a:srgbClr val="2F6F9F"/>
                </a:solidFill>
                <a:latin typeface="Helvetica Neue"/>
              </a:rPr>
              <a:t>—  </a:t>
            </a:r>
            <a:r>
              <a:rPr sz="1900" b="0" i="0">
                <a:solidFill>
                  <a:srgbClr val="1A1A1A"/>
                </a:solidFill>
                <a:latin typeface="Helvetica Neue"/>
              </a:rPr>
              <a:t>Differentiating displacement and integrating acceleration are one ill-posed problem, not two.</a:t>
            </a:r>
          </a:p>
          <a:p>
            <a:pPr>
              <a:spcAft>
                <a:spcPts val="1100"/>
              </a:spcAft>
            </a:pPr>
            <a:r>
              <a:rPr sz="1900" b="1" i="0">
                <a:solidFill>
                  <a:srgbClr val="2F6F9F"/>
                </a:solidFill>
                <a:latin typeface="Helvetica Neue"/>
              </a:rPr>
              <a:t>—  </a:t>
            </a:r>
            <a:r>
              <a:rPr sz="1900" b="0" i="0">
                <a:solidFill>
                  <a:srgbClr val="1A1A1A"/>
                </a:solidFill>
                <a:latin typeface="Helvetica Neue"/>
              </a:rPr>
              <a:t>Noise amplification is a property of the operator. Every method you can choose adds a prior instead.</a:t>
            </a:r>
          </a:p>
          <a:p>
            <a:pPr>
              <a:spcAft>
                <a:spcPts val="1100"/>
              </a:spcAft>
            </a:pPr>
            <a:r>
              <a:rPr sz="1900" b="1" i="0">
                <a:solidFill>
                  <a:srgbClr val="2F6F9F"/>
                </a:solidFill>
                <a:latin typeface="Helvetica Neue"/>
              </a:rPr>
              <a:t>—  </a:t>
            </a:r>
            <a:r>
              <a:rPr sz="1900" b="0" i="0">
                <a:solidFill>
                  <a:srgbClr val="1A1A1A"/>
                </a:solidFill>
                <a:latin typeface="Helvetica Neue"/>
              </a:rPr>
              <a:t>So the real question is never 'which filter' — it is 'what do I believe about this signal?'</a:t>
            </a:r>
          </a:p>
          <a:p>
            <a:pPr>
              <a:spcAft>
                <a:spcPts val="1100"/>
              </a:spcAft>
            </a:pPr>
            <a:r>
              <a:rPr sz="1900" b="1" i="0">
                <a:solidFill>
                  <a:srgbClr val="2F6F9F"/>
                </a:solidFill>
                <a:latin typeface="Helvetica Neue"/>
              </a:rPr>
              <a:t>—  </a:t>
            </a:r>
            <a:r>
              <a:rPr sz="1900" b="0" i="0">
                <a:solidFill>
                  <a:srgbClr val="1A1A1A"/>
                </a:solidFill>
                <a:latin typeface="Helvetica Neue"/>
              </a:rPr>
              <a:t>For smooth vibration data: a quadratic penalty, tuned from a cutoff in hertz.</a:t>
            </a:r>
          </a:p>
          <a:p>
            <a:pPr>
              <a:spcAft>
                <a:spcPts val="1100"/>
              </a:spcAft>
            </a:pPr>
            <a:r>
              <a:rPr sz="1900" b="1" i="0">
                <a:solidFill>
                  <a:srgbClr val="2F6F9F"/>
                </a:solidFill>
                <a:latin typeface="Helvetica Neue"/>
              </a:rPr>
              <a:t>—  </a:t>
            </a:r>
            <a:r>
              <a:rPr sz="1900" b="0" i="0">
                <a:solidFill>
                  <a:srgbClr val="1A1A1A"/>
                </a:solidFill>
                <a:latin typeface="Helvetica Neue"/>
              </a:rPr>
              <a:t>For a genuine corner: an L1 penalty, with the solver's convergence checked.</a:t>
            </a:r>
          </a:p>
          <a:p>
            <a:pPr>
              <a:spcAft>
                <a:spcPts val="1100"/>
              </a:spcAft>
            </a:pPr>
            <a:r>
              <a:rPr sz="1900" b="1" i="0">
                <a:solidFill>
                  <a:srgbClr val="2F6F9F"/>
                </a:solidFill>
                <a:latin typeface="Helvetica Neue"/>
              </a:rPr>
              <a:t>—  </a:t>
            </a:r>
            <a:r>
              <a:rPr sz="1900" b="0" i="0">
                <a:solidFill>
                  <a:srgbClr val="1A1A1A"/>
                </a:solidFill>
                <a:latin typeface="Helvetica Neue"/>
              </a:rPr>
              <a:t>For anything else — gaps, two sensors, no time to tune, or a need for error bars: the state-space smoother.</a:t>
            </a:r>
          </a:p>
          <a:p>
            <a:pPr>
              <a:spcAft>
                <a:spcPts val="1100"/>
              </a:spcAft>
            </a:pPr>
            <a:r>
              <a:rPr sz="1900" b="1" i="0">
                <a:solidFill>
                  <a:srgbClr val="2F6F9F"/>
                </a:solidFill>
                <a:latin typeface="Helvetica Neue"/>
              </a:rPr>
              <a:t>—  </a:t>
            </a:r>
            <a:r>
              <a:rPr sz="1900" b="0" i="0">
                <a:solidFill>
                  <a:srgbClr val="1A1A1A"/>
                </a:solidFill>
                <a:latin typeface="Helvetica Neue"/>
              </a:rPr>
              <a:t>And if you have displacement and acceleration, fuse them. It is strictly better and it removes a knob.</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31520"/>
          </a:xfrm>
          <a:prstGeom prst="rect">
            <a:avLst/>
          </a:prstGeom>
          <a:noFill/>
        </p:spPr>
        <p:txBody>
          <a:bodyPr wrap="square" lIns="0" tIns="0" rIns="0" bIns="0">
            <a:spAutoFit/>
          </a:bodyPr>
          <a:lstStyle/>
          <a:p>
            <a:r>
              <a:rPr sz="3000" b="1" i="0">
                <a:solidFill>
                  <a:srgbClr val="1A1A1A"/>
                </a:solidFill>
                <a:latin typeface="Helvetica Neue"/>
              </a:rPr>
              <a:t>Implementation and references</a:t>
            </a:r>
          </a:p>
        </p:txBody>
      </p:sp>
      <p:sp>
        <p:nvSpPr>
          <p:cNvPr id="3" name="Rectangle 2"/>
          <p:cNvSpPr/>
          <p:nvPr/>
        </p:nvSpPr>
        <p:spPr>
          <a:xfrm>
            <a:off x="566928" y="1078992"/>
            <a:ext cx="11064240" cy="32004"/>
          </a:xfrm>
          <a:prstGeom prst="rect">
            <a:avLst/>
          </a:prstGeom>
          <a:solidFill>
            <a:srgbClr val="2F6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691640"/>
            <a:ext cx="10881360" cy="4709160"/>
          </a:xfrm>
          <a:prstGeom prst="rect">
            <a:avLst/>
          </a:prstGeom>
          <a:noFill/>
        </p:spPr>
        <p:txBody>
          <a:bodyPr wrap="square" lIns="0" tIns="0" rIns="0" bIns="0">
            <a:spAutoFit/>
          </a:bodyPr>
          <a:lstStyle/>
          <a:p>
            <a:pPr>
              <a:spcAft>
                <a:spcPts val="1100"/>
              </a:spcAft>
            </a:pPr>
            <a:r>
              <a:rPr sz="1700" b="1" i="0">
                <a:solidFill>
                  <a:srgbClr val="2F6F9F"/>
                </a:solidFill>
                <a:latin typeface="Helvetica Neue"/>
              </a:rPr>
              <a:t>—  </a:t>
            </a:r>
            <a:r>
              <a:rPr sz="1700" b="0" i="0">
                <a:solidFill>
                  <a:srgbClr val="1A1A1A"/>
                </a:solidFill>
                <a:latin typeface="Helvetica Neue"/>
              </a:rPr>
              <a:t>Python and base-MATLAB implementations of every method here, with identical function names.</a:t>
            </a:r>
          </a:p>
          <a:p>
            <a:pPr lvl="1">
              <a:spcBef>
                <a:spcPts val="200"/>
              </a:spcBef>
              <a:spcAft>
                <a:spcPts val="600"/>
              </a:spcAft>
            </a:pPr>
            <a:r>
              <a:rPr sz="1400" b="0" i="0">
                <a:solidFill>
                  <a:srgbClr val="6B7280"/>
                </a:solidFill>
                <a:latin typeface="Helvetica Neue"/>
              </a:rPr>
              <a:t>      kin_diff_whittaker, kin_diff_spectral, kin_diff_savgol, kin_diff_tvreg</a:t>
            </a:r>
          </a:p>
          <a:p>
            <a:pPr lvl="1">
              <a:spcBef>
                <a:spcPts val="200"/>
              </a:spcBef>
              <a:spcAft>
                <a:spcPts val="600"/>
              </a:spcAft>
            </a:pPr>
            <a:r>
              <a:rPr sz="1400" b="0" i="0">
                <a:solidFill>
                  <a:srgbClr val="6B7280"/>
                </a:solidFill>
                <a:latin typeface="Helvetica Neue"/>
              </a:rPr>
              <a:t>      kin_int_tikhonov, kin_int_spectral, kin_noise_var</a:t>
            </a:r>
          </a:p>
          <a:p>
            <a:pPr lvl="1">
              <a:spcBef>
                <a:spcPts val="200"/>
              </a:spcBef>
              <a:spcAft>
                <a:spcPts val="600"/>
              </a:spcAft>
            </a:pPr>
            <a:r>
              <a:rPr sz="1400" b="0" i="0">
                <a:solidFill>
                  <a:srgbClr val="6B7280"/>
                </a:solidFill>
                <a:latin typeface="Helvetica Neue"/>
              </a:rPr>
              <a:t>      kin_smooth — differentiation, integration and fusion in one self-tuning routine</a:t>
            </a:r>
          </a:p>
          <a:p>
            <a:pPr>
              <a:spcAft>
                <a:spcPts val="1100"/>
              </a:spcAft>
            </a:pPr>
            <a:r>
              <a:rPr sz="1700" b="1" i="0">
                <a:solidFill>
                  <a:srgbClr val="2F6F9F"/>
                </a:solidFill>
                <a:latin typeface="Helvetica Neue"/>
              </a:rPr>
              <a:t>—  </a:t>
            </a:r>
            <a:r>
              <a:rPr sz="1700" b="0" i="0">
                <a:solidFill>
                  <a:srgbClr val="1A1A1A"/>
                </a:solidFill>
                <a:latin typeface="Helvetica Neue"/>
              </a:rPr>
              <a:t>Cross-validated between the two languages: 12 of 12 checks pass, agreement 1e-16 to 1e-5.</a:t>
            </a:r>
          </a:p>
          <a:p>
            <a:pPr>
              <a:spcAft>
                <a:spcPts val="1100"/>
              </a:spcAft>
            </a:pPr>
            <a:r>
              <a:rPr sz="1700" b="1" i="0">
                <a:solidFill>
                  <a:srgbClr val="2F6F9F"/>
                </a:solidFill>
                <a:latin typeface="Helvetica Neue"/>
              </a:rPr>
              <a:t>—  </a:t>
            </a:r>
            <a:r>
              <a:rPr sz="1700" b="0" i="0">
                <a:solidFill>
                  <a:srgbClr val="1A1A1A"/>
                </a:solidFill>
                <a:latin typeface="Helvetica Neue"/>
              </a:rPr>
              <a:t>Key references:</a:t>
            </a:r>
          </a:p>
          <a:p>
            <a:pPr lvl="1">
              <a:spcBef>
                <a:spcPts val="200"/>
              </a:spcBef>
              <a:spcAft>
                <a:spcPts val="600"/>
              </a:spcAft>
            </a:pPr>
            <a:r>
              <a:rPr sz="1400" b="0" i="0">
                <a:solidFill>
                  <a:srgbClr val="6B7280"/>
                </a:solidFill>
                <a:latin typeface="Helvetica Neue"/>
              </a:rPr>
              <a:t>      Chartrand (2011), Numerical differentiation of noisy, nonsmooth data — ISRN Appl. Math.</a:t>
            </a:r>
          </a:p>
          <a:p>
            <a:pPr lvl="1">
              <a:spcBef>
                <a:spcPts val="200"/>
              </a:spcBef>
              <a:spcAft>
                <a:spcPts val="600"/>
              </a:spcAft>
            </a:pPr>
            <a:r>
              <a:rPr sz="1400" b="0" i="0">
                <a:solidFill>
                  <a:srgbClr val="6B7280"/>
                </a:solidFill>
                <a:latin typeface="Helvetica Neue"/>
              </a:rPr>
              <a:t>      Eilers (2003), A perfect smoother — Anal. Chem. 75:3631 (Whittaker–Henderson)</a:t>
            </a:r>
          </a:p>
          <a:p>
            <a:pPr lvl="1">
              <a:spcBef>
                <a:spcPts val="200"/>
              </a:spcBef>
              <a:spcAft>
                <a:spcPts val="600"/>
              </a:spcAft>
            </a:pPr>
            <a:r>
              <a:rPr sz="1400" b="0" i="0">
                <a:solidFill>
                  <a:srgbClr val="6B7280"/>
                </a:solidFill>
                <a:latin typeface="Helvetica Neue"/>
              </a:rPr>
              <a:t>      Särkkä &amp; Solin, Applied Stochastic Differential Equations, CUP 2019 (state-space / GP equivalence)</a:t>
            </a:r>
          </a:p>
          <a:p>
            <a:pPr lvl="1">
              <a:spcBef>
                <a:spcPts val="200"/>
              </a:spcBef>
              <a:spcAft>
                <a:spcPts val="600"/>
              </a:spcAft>
            </a:pPr>
            <a:r>
              <a:rPr sz="1400" b="0" i="0">
                <a:solidFill>
                  <a:srgbClr val="6B7280"/>
                </a:solidFill>
                <a:latin typeface="Helvetica Neue"/>
              </a:rPr>
              <a:t>      Schafer (2011), What is a Savitzky–Golay filter? — IEEE Signal Process. Mag. 28(4):111</a:t>
            </a:r>
          </a:p>
          <a:p>
            <a:pPr lvl="1">
              <a:spcBef>
                <a:spcPts val="200"/>
              </a:spcBef>
              <a:spcAft>
                <a:spcPts val="600"/>
              </a:spcAft>
            </a:pPr>
            <a:r>
              <a:rPr sz="1400" b="0" i="0">
                <a:solidFill>
                  <a:srgbClr val="6B7280"/>
                </a:solidFill>
                <a:latin typeface="Helvetica Neue"/>
              </a:rPr>
              <a:t>      Kim, Koh, Boyd &amp; Gorinevsky (2009), l1 trend filtering — SIAM Review 51(2):339</a:t>
            </a:r>
          </a:p>
          <a:p>
            <a:pPr lvl="1">
              <a:spcBef>
                <a:spcPts val="200"/>
              </a:spcBef>
              <a:spcAft>
                <a:spcPts val="600"/>
              </a:spcAft>
            </a:pPr>
            <a:r>
              <a:rPr sz="1400" b="0" i="0">
                <a:solidFill>
                  <a:srgbClr val="6B7280"/>
                </a:solidFill>
                <a:latin typeface="Helvetica Neue"/>
              </a:rPr>
              <a:t>      Levant (1998), Robust exact differentiation via sliding mode technique — Automatica 34:379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4930</Words>
  <Application>Microsoft Macintosh PowerPoint</Application>
  <PresentationFormat>Widescreen</PresentationFormat>
  <Paragraphs>303</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The University of Rhode Island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Differentiation and Integration</dc:title>
  <dc:subject>Nonlinear Time Series</dc:subject>
  <dc:creator>David Chelidze</dc:creator>
  <cp:keywords/>
  <dc:description/>
  <cp:lastModifiedBy>David Chelidze</cp:lastModifiedBy>
  <cp:revision>2</cp:revision>
  <dcterms:created xsi:type="dcterms:W3CDTF">2013-01-27T09:14:16Z</dcterms:created>
  <dcterms:modified xsi:type="dcterms:W3CDTF">2026-09-26T08:05:07Z</dcterms:modified>
  <cp:category/>
</cp:coreProperties>
</file>